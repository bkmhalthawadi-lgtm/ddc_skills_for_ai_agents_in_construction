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73152"/>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28032"/>
            <a:ext cx="12188952" cy="202996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515600" cy="914400"/>
          </a:xfrm>
          <a:prstGeom prst="rect">
            <a:avLst/>
          </a:prstGeom>
          <a:noFill/>
        </p:spPr>
        <p:txBody>
          <a:bodyPr wrap="square">
            <a:spAutoFit/>
          </a:bodyPr>
          <a:lstStyle/>
          <a:p>
            <a:pPr algn="ctr"/>
            <a:r>
              <a:rPr sz="3600" b="1" i="0">
                <a:solidFill>
                  <a:srgbClr val="FFFFFF"/>
                </a:solidFill>
              </a:rPr>
              <a:t>RFI EXECUTIVE SUMMARY REPORT</a:t>
            </a:r>
          </a:p>
        </p:txBody>
      </p:sp>
      <p:sp>
        <p:nvSpPr>
          <p:cNvPr id="6" name="TextBox 5"/>
          <p:cNvSpPr txBox="1"/>
          <p:nvPr/>
        </p:nvSpPr>
        <p:spPr>
          <a:xfrm>
            <a:off x="731520" y="2240280"/>
            <a:ext cx="10515600" cy="548640"/>
          </a:xfrm>
          <a:prstGeom prst="rect">
            <a:avLst/>
          </a:prstGeom>
          <a:noFill/>
        </p:spPr>
        <p:txBody>
          <a:bodyPr wrap="square">
            <a:spAutoFit/>
          </a:bodyPr>
          <a:lstStyle/>
          <a:p>
            <a:pPr algn="ctr"/>
            <a:r>
              <a:rPr sz="1500" b="0" i="0">
                <a:solidFill>
                  <a:srgbClr val="AED6F1"/>
                </a:solidFill>
              </a:rPr>
              <a:t>Civil &amp; MEP Discipline — Impact Analysis, Improvement Recommendations &amp; Structured Tables</a:t>
            </a:r>
          </a:p>
        </p:txBody>
      </p:sp>
      <p:sp>
        <p:nvSpPr>
          <p:cNvPr id="7" name="Rectangle 6"/>
          <p:cNvSpPr/>
          <p:nvPr/>
        </p:nvSpPr>
        <p:spPr>
          <a:xfrm>
            <a:off x="4114800" y="3017520"/>
            <a:ext cx="3959352" cy="4572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383280"/>
            <a:ext cx="10515600" cy="347472"/>
          </a:xfrm>
          <a:prstGeom prst="rect">
            <a:avLst/>
          </a:prstGeom>
          <a:noFill/>
        </p:spPr>
        <p:txBody>
          <a:bodyPr wrap="square">
            <a:spAutoFit/>
          </a:bodyPr>
          <a:lstStyle/>
          <a:p>
            <a:pPr algn="ctr"/>
            <a:r>
              <a:rPr sz="1300" b="0" i="0">
                <a:solidFill>
                  <a:srgbClr val="D5DBDB"/>
                </a:solidFill>
              </a:rPr>
              <a:t>Project Reference: P159</a:t>
            </a:r>
          </a:p>
        </p:txBody>
      </p:sp>
      <p:sp>
        <p:nvSpPr>
          <p:cNvPr id="9" name="TextBox 8"/>
          <p:cNvSpPr txBox="1"/>
          <p:nvPr/>
        </p:nvSpPr>
        <p:spPr>
          <a:xfrm>
            <a:off x="731520" y="3730752"/>
            <a:ext cx="10515600" cy="347472"/>
          </a:xfrm>
          <a:prstGeom prst="rect">
            <a:avLst/>
          </a:prstGeom>
          <a:noFill/>
        </p:spPr>
        <p:txBody>
          <a:bodyPr wrap="square">
            <a:spAutoFit/>
          </a:bodyPr>
          <a:lstStyle/>
          <a:p>
            <a:pPr algn="ctr"/>
            <a:r>
              <a:rPr sz="1300" b="0" i="0">
                <a:solidFill>
                  <a:srgbClr val="D5DBDB"/>
                </a:solidFill>
              </a:rPr>
              <a:t>Report Date: 20 June 2026</a:t>
            </a:r>
          </a:p>
        </p:txBody>
      </p:sp>
      <p:sp>
        <p:nvSpPr>
          <p:cNvPr id="10" name="TextBox 9"/>
          <p:cNvSpPr txBox="1"/>
          <p:nvPr/>
        </p:nvSpPr>
        <p:spPr>
          <a:xfrm>
            <a:off x="731520" y="4078224"/>
            <a:ext cx="10515600" cy="347472"/>
          </a:xfrm>
          <a:prstGeom prst="rect">
            <a:avLst/>
          </a:prstGeom>
          <a:noFill/>
        </p:spPr>
        <p:txBody>
          <a:bodyPr wrap="square">
            <a:spAutoFit/>
          </a:bodyPr>
          <a:lstStyle/>
          <a:p>
            <a:pPr algn="ctr"/>
            <a:r>
              <a:rPr sz="1300" b="0" i="0">
                <a:solidFill>
                  <a:srgbClr val="D5DBDB"/>
                </a:solidFill>
              </a:rPr>
              <a:t>Total RFIs Analysed: 27  |  Floors: B1 – 12F</a:t>
            </a:r>
          </a:p>
        </p:txBody>
      </p:sp>
      <p:sp>
        <p:nvSpPr>
          <p:cNvPr id="11" name="TextBox 10"/>
          <p:cNvSpPr txBox="1"/>
          <p:nvPr/>
        </p:nvSpPr>
        <p:spPr>
          <a:xfrm>
            <a:off x="731520" y="5029200"/>
            <a:ext cx="10515600" cy="347472"/>
          </a:xfrm>
          <a:prstGeom prst="rect">
            <a:avLst/>
          </a:prstGeom>
          <a:noFill/>
        </p:spPr>
        <p:txBody>
          <a:bodyPr wrap="square">
            <a:spAutoFit/>
          </a:bodyPr>
          <a:lstStyle/>
          <a:p>
            <a:pPr algn="ctr"/>
            <a:r>
              <a:rPr sz="1100" b="0" i="0">
                <a:solidFill>
                  <a:srgbClr val="D5DBDB"/>
                </a:solidFill>
              </a:rPr>
              <a:t>CONFIDENTIAL  |  Prepared: AI-Assisted Construction PM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Overview — RFI Dashboard</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Project P159 | 27 RFIs across B1–12F</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88720"/>
            <a:ext cx="2560320" cy="1188720"/>
          </a:xfrm>
          <a:prstGeom prst="rect">
            <a:avLst/>
          </a:prstGeom>
          <a:solidFill>
            <a:srgbClr val="0D2B55"/>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280160"/>
            <a:ext cx="2377439" cy="274320"/>
          </a:xfrm>
          <a:prstGeom prst="rect">
            <a:avLst/>
          </a:prstGeom>
          <a:noFill/>
        </p:spPr>
        <p:txBody>
          <a:bodyPr wrap="square">
            <a:spAutoFit/>
          </a:bodyPr>
          <a:lstStyle/>
          <a:p>
            <a:pPr algn="l"/>
            <a:r>
              <a:rPr sz="900" b="1" i="0">
                <a:solidFill>
                  <a:srgbClr val="FFFFFF"/>
                </a:solidFill>
              </a:rPr>
              <a:t>TOTAL RFIs</a:t>
            </a:r>
          </a:p>
        </p:txBody>
      </p:sp>
      <p:sp>
        <p:nvSpPr>
          <p:cNvPr id="11" name="TextBox 10"/>
          <p:cNvSpPr txBox="1"/>
          <p:nvPr/>
        </p:nvSpPr>
        <p:spPr>
          <a:xfrm>
            <a:off x="384048" y="1536192"/>
            <a:ext cx="2377439" cy="502920"/>
          </a:xfrm>
          <a:prstGeom prst="rect">
            <a:avLst/>
          </a:prstGeom>
          <a:noFill/>
        </p:spPr>
        <p:txBody>
          <a:bodyPr wrap="square">
            <a:spAutoFit/>
          </a:bodyPr>
          <a:lstStyle/>
          <a:p>
            <a:pPr algn="ctr"/>
            <a:r>
              <a:rPr sz="2600" b="1" i="0">
                <a:solidFill>
                  <a:srgbClr val="FFFFFF"/>
                </a:solidFill>
              </a:rPr>
              <a:t>27</a:t>
            </a:r>
          </a:p>
        </p:txBody>
      </p:sp>
      <p:sp>
        <p:nvSpPr>
          <p:cNvPr id="12" name="TextBox 11"/>
          <p:cNvSpPr txBox="1"/>
          <p:nvPr/>
        </p:nvSpPr>
        <p:spPr>
          <a:xfrm>
            <a:off x="384048" y="1993392"/>
            <a:ext cx="2377439" cy="201168"/>
          </a:xfrm>
          <a:prstGeom prst="rect">
            <a:avLst/>
          </a:prstGeom>
          <a:noFill/>
        </p:spPr>
        <p:txBody>
          <a:bodyPr wrap="square">
            <a:spAutoFit/>
          </a:bodyPr>
          <a:lstStyle/>
          <a:p>
            <a:pPr algn="ctr"/>
            <a:r>
              <a:rPr sz="800" b="0" i="0">
                <a:solidFill>
                  <a:srgbClr val="D5DBDB"/>
                </a:solidFill>
              </a:rPr>
              <a:t>entries analysed</a:t>
            </a:r>
          </a:p>
        </p:txBody>
      </p:sp>
      <p:sp>
        <p:nvSpPr>
          <p:cNvPr id="13" name="Rectangle 12"/>
          <p:cNvSpPr/>
          <p:nvPr/>
        </p:nvSpPr>
        <p:spPr>
          <a:xfrm>
            <a:off x="3017520" y="1188720"/>
            <a:ext cx="2560320" cy="1188720"/>
          </a:xfrm>
          <a:prstGeom prst="rect">
            <a:avLst/>
          </a:prstGeom>
          <a:solidFill>
            <a:srgbClr val="E84C3C"/>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27248" y="1280160"/>
            <a:ext cx="2377439" cy="274320"/>
          </a:xfrm>
          <a:prstGeom prst="rect">
            <a:avLst/>
          </a:prstGeom>
          <a:noFill/>
        </p:spPr>
        <p:txBody>
          <a:bodyPr wrap="square">
            <a:spAutoFit/>
          </a:bodyPr>
          <a:lstStyle/>
          <a:p>
            <a:pPr algn="l"/>
            <a:r>
              <a:rPr sz="900" b="1" i="0">
                <a:solidFill>
                  <a:srgbClr val="FFFFFF"/>
                </a:solidFill>
              </a:rPr>
              <a:t>CRITICAL (Open)</a:t>
            </a:r>
          </a:p>
        </p:txBody>
      </p:sp>
      <p:sp>
        <p:nvSpPr>
          <p:cNvPr id="15" name="TextBox 14"/>
          <p:cNvSpPr txBox="1"/>
          <p:nvPr/>
        </p:nvSpPr>
        <p:spPr>
          <a:xfrm>
            <a:off x="3127248" y="1536192"/>
            <a:ext cx="2377439" cy="502920"/>
          </a:xfrm>
          <a:prstGeom prst="rect">
            <a:avLst/>
          </a:prstGeom>
          <a:noFill/>
        </p:spPr>
        <p:txBody>
          <a:bodyPr wrap="square">
            <a:spAutoFit/>
          </a:bodyPr>
          <a:lstStyle/>
          <a:p>
            <a:pPr algn="ctr"/>
            <a:r>
              <a:rPr sz="2600" b="1" i="0">
                <a:solidFill>
                  <a:srgbClr val="FFFFFF"/>
                </a:solidFill>
              </a:rPr>
              <a:t>2</a:t>
            </a:r>
          </a:p>
        </p:txBody>
      </p:sp>
      <p:sp>
        <p:nvSpPr>
          <p:cNvPr id="16" name="TextBox 15"/>
          <p:cNvSpPr txBox="1"/>
          <p:nvPr/>
        </p:nvSpPr>
        <p:spPr>
          <a:xfrm>
            <a:off x="3127248" y="1993392"/>
            <a:ext cx="2377439" cy="201168"/>
          </a:xfrm>
          <a:prstGeom prst="rect">
            <a:avLst/>
          </a:prstGeom>
          <a:noFill/>
        </p:spPr>
        <p:txBody>
          <a:bodyPr wrap="square">
            <a:spAutoFit/>
          </a:bodyPr>
          <a:lstStyle/>
          <a:p>
            <a:pPr algn="ctr"/>
            <a:r>
              <a:rPr sz="800" b="0" i="0">
                <a:solidFill>
                  <a:srgbClr val="D5DBDB"/>
                </a:solidFill>
              </a:rPr>
              <a:t>unresolved / blocked</a:t>
            </a:r>
          </a:p>
        </p:txBody>
      </p:sp>
      <p:sp>
        <p:nvSpPr>
          <p:cNvPr id="17" name="Rectangle 16"/>
          <p:cNvSpPr/>
          <p:nvPr/>
        </p:nvSpPr>
        <p:spPr>
          <a:xfrm>
            <a:off x="5760720" y="1188720"/>
            <a:ext cx="2560320" cy="1188720"/>
          </a:xfrm>
          <a:prstGeom prst="rect">
            <a:avLst/>
          </a:prstGeom>
          <a:solidFill>
            <a:srgbClr val="F39C12"/>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70448" y="1280160"/>
            <a:ext cx="2377439" cy="274320"/>
          </a:xfrm>
          <a:prstGeom prst="rect">
            <a:avLst/>
          </a:prstGeom>
          <a:noFill/>
        </p:spPr>
        <p:txBody>
          <a:bodyPr wrap="square">
            <a:spAutoFit/>
          </a:bodyPr>
          <a:lstStyle/>
          <a:p>
            <a:pPr algn="l"/>
            <a:r>
              <a:rPr sz="900" b="1" i="0">
                <a:solidFill>
                  <a:srgbClr val="FFFFFF"/>
                </a:solidFill>
              </a:rPr>
              <a:t>REJECTED</a:t>
            </a:r>
          </a:p>
        </p:txBody>
      </p:sp>
      <p:sp>
        <p:nvSpPr>
          <p:cNvPr id="19" name="TextBox 18"/>
          <p:cNvSpPr txBox="1"/>
          <p:nvPr/>
        </p:nvSpPr>
        <p:spPr>
          <a:xfrm>
            <a:off x="5870448" y="1536192"/>
            <a:ext cx="2377439" cy="502920"/>
          </a:xfrm>
          <a:prstGeom prst="rect">
            <a:avLst/>
          </a:prstGeom>
          <a:noFill/>
        </p:spPr>
        <p:txBody>
          <a:bodyPr wrap="square">
            <a:spAutoFit/>
          </a:bodyPr>
          <a:lstStyle/>
          <a:p>
            <a:pPr algn="ctr"/>
            <a:r>
              <a:rPr sz="2600" b="1" i="0">
                <a:solidFill>
                  <a:srgbClr val="FFFFFF"/>
                </a:solidFill>
              </a:rPr>
              <a:t>3+</a:t>
            </a:r>
          </a:p>
        </p:txBody>
      </p:sp>
      <p:sp>
        <p:nvSpPr>
          <p:cNvPr id="20" name="TextBox 19"/>
          <p:cNvSpPr txBox="1"/>
          <p:nvPr/>
        </p:nvSpPr>
        <p:spPr>
          <a:xfrm>
            <a:off x="5870448" y="1993392"/>
            <a:ext cx="2377439" cy="201168"/>
          </a:xfrm>
          <a:prstGeom prst="rect">
            <a:avLst/>
          </a:prstGeom>
          <a:noFill/>
        </p:spPr>
        <p:txBody>
          <a:bodyPr wrap="square">
            <a:spAutoFit/>
          </a:bodyPr>
          <a:lstStyle/>
          <a:p>
            <a:pPr algn="ctr"/>
            <a:r>
              <a:rPr sz="800" b="0" i="0">
                <a:solidFill>
                  <a:srgbClr val="D5DBDB"/>
                </a:solidFill>
              </a:rPr>
              <a:t>requiring re-submission</a:t>
            </a:r>
          </a:p>
        </p:txBody>
      </p:sp>
      <p:sp>
        <p:nvSpPr>
          <p:cNvPr id="21" name="Rectangle 20"/>
          <p:cNvSpPr/>
          <p:nvPr/>
        </p:nvSpPr>
        <p:spPr>
          <a:xfrm>
            <a:off x="8503920" y="1188720"/>
            <a:ext cx="2560320" cy="1188720"/>
          </a:xfrm>
          <a:prstGeom prst="rect">
            <a:avLst/>
          </a:prstGeom>
          <a:solidFill>
            <a:srgbClr val="1B4F72"/>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13648" y="1280160"/>
            <a:ext cx="2377439" cy="274320"/>
          </a:xfrm>
          <a:prstGeom prst="rect">
            <a:avLst/>
          </a:prstGeom>
          <a:noFill/>
        </p:spPr>
        <p:txBody>
          <a:bodyPr wrap="square">
            <a:spAutoFit/>
          </a:bodyPr>
          <a:lstStyle/>
          <a:p>
            <a:pPr algn="l"/>
            <a:r>
              <a:rPr sz="900" b="1" i="0">
                <a:solidFill>
                  <a:srgbClr val="FFFFFF"/>
                </a:solidFill>
              </a:rPr>
              <a:t>FLOORS AFFECTED</a:t>
            </a:r>
          </a:p>
        </p:txBody>
      </p:sp>
      <p:sp>
        <p:nvSpPr>
          <p:cNvPr id="23" name="TextBox 22"/>
          <p:cNvSpPr txBox="1"/>
          <p:nvPr/>
        </p:nvSpPr>
        <p:spPr>
          <a:xfrm>
            <a:off x="8613648" y="1536192"/>
            <a:ext cx="2377439" cy="502920"/>
          </a:xfrm>
          <a:prstGeom prst="rect">
            <a:avLst/>
          </a:prstGeom>
          <a:noFill/>
        </p:spPr>
        <p:txBody>
          <a:bodyPr wrap="square">
            <a:spAutoFit/>
          </a:bodyPr>
          <a:lstStyle/>
          <a:p>
            <a:pPr algn="ctr"/>
            <a:r>
              <a:rPr sz="2600" b="1" i="0">
                <a:solidFill>
                  <a:srgbClr val="FFFFFF"/>
                </a:solidFill>
              </a:rPr>
              <a:t>14</a:t>
            </a:r>
          </a:p>
        </p:txBody>
      </p:sp>
      <p:sp>
        <p:nvSpPr>
          <p:cNvPr id="24" name="TextBox 23"/>
          <p:cNvSpPr txBox="1"/>
          <p:nvPr/>
        </p:nvSpPr>
        <p:spPr>
          <a:xfrm>
            <a:off x="8613648" y="1993392"/>
            <a:ext cx="2377439" cy="201168"/>
          </a:xfrm>
          <a:prstGeom prst="rect">
            <a:avLst/>
          </a:prstGeom>
          <a:noFill/>
        </p:spPr>
        <p:txBody>
          <a:bodyPr wrap="square">
            <a:spAutoFit/>
          </a:bodyPr>
          <a:lstStyle/>
          <a:p>
            <a:pPr algn="ctr"/>
            <a:r>
              <a:rPr sz="800" b="0" i="0">
                <a:solidFill>
                  <a:srgbClr val="D5DBDB"/>
                </a:solidFill>
              </a:rPr>
              <a:t>B1 through 12F</a:t>
            </a:r>
          </a:p>
        </p:txBody>
      </p:sp>
      <p:sp>
        <p:nvSpPr>
          <p:cNvPr id="25" name="Rectangle 24"/>
          <p:cNvSpPr/>
          <p:nvPr/>
        </p:nvSpPr>
        <p:spPr>
          <a:xfrm>
            <a:off x="274320" y="2606040"/>
            <a:ext cx="2560320" cy="1188720"/>
          </a:xfrm>
          <a:prstGeom prst="rect">
            <a:avLst/>
          </a:prstGeom>
          <a:solidFill>
            <a:srgbClr val="1B4F72"/>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2697480"/>
            <a:ext cx="2377439" cy="274320"/>
          </a:xfrm>
          <a:prstGeom prst="rect">
            <a:avLst/>
          </a:prstGeom>
          <a:noFill/>
        </p:spPr>
        <p:txBody>
          <a:bodyPr wrap="square">
            <a:spAutoFit/>
          </a:bodyPr>
          <a:lstStyle/>
          <a:p>
            <a:pPr algn="l"/>
            <a:r>
              <a:rPr sz="900" b="1" i="0">
                <a:solidFill>
                  <a:srgbClr val="FFFFFF"/>
                </a:solidFill>
              </a:rPr>
              <a:t>CIVIL RFIs</a:t>
            </a:r>
          </a:p>
        </p:txBody>
      </p:sp>
      <p:sp>
        <p:nvSpPr>
          <p:cNvPr id="27" name="TextBox 26"/>
          <p:cNvSpPr txBox="1"/>
          <p:nvPr/>
        </p:nvSpPr>
        <p:spPr>
          <a:xfrm>
            <a:off x="384048" y="2953512"/>
            <a:ext cx="2377439" cy="502920"/>
          </a:xfrm>
          <a:prstGeom prst="rect">
            <a:avLst/>
          </a:prstGeom>
          <a:noFill/>
        </p:spPr>
        <p:txBody>
          <a:bodyPr wrap="square">
            <a:spAutoFit/>
          </a:bodyPr>
          <a:lstStyle/>
          <a:p>
            <a:pPr algn="ctr"/>
            <a:r>
              <a:rPr sz="2600" b="1" i="0">
                <a:solidFill>
                  <a:srgbClr val="FFFFFF"/>
                </a:solidFill>
              </a:rPr>
              <a:t>10</a:t>
            </a:r>
          </a:p>
        </p:txBody>
      </p:sp>
      <p:sp>
        <p:nvSpPr>
          <p:cNvPr id="28" name="TextBox 27"/>
          <p:cNvSpPr txBox="1"/>
          <p:nvPr/>
        </p:nvSpPr>
        <p:spPr>
          <a:xfrm>
            <a:off x="384048" y="3410712"/>
            <a:ext cx="2377439" cy="201168"/>
          </a:xfrm>
          <a:prstGeom prst="rect">
            <a:avLst/>
          </a:prstGeom>
          <a:noFill/>
        </p:spPr>
        <p:txBody>
          <a:bodyPr wrap="square">
            <a:spAutoFit/>
          </a:bodyPr>
          <a:lstStyle/>
          <a:p>
            <a:pPr algn="ctr"/>
            <a:r>
              <a:rPr sz="800" b="0" i="0">
                <a:solidFill>
                  <a:srgbClr val="D5DBDB"/>
                </a:solidFill>
              </a:rPr>
              <a:t>structural clashes</a:t>
            </a:r>
          </a:p>
        </p:txBody>
      </p:sp>
      <p:sp>
        <p:nvSpPr>
          <p:cNvPr id="29" name="Rectangle 28"/>
          <p:cNvSpPr/>
          <p:nvPr/>
        </p:nvSpPr>
        <p:spPr>
          <a:xfrm>
            <a:off x="3017520" y="2606040"/>
            <a:ext cx="2560320" cy="1188720"/>
          </a:xfrm>
          <a:prstGeom prst="rect">
            <a:avLst/>
          </a:prstGeom>
          <a:solidFill>
            <a:srgbClr val="1B4F72"/>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27248" y="2697480"/>
            <a:ext cx="2377439" cy="274320"/>
          </a:xfrm>
          <a:prstGeom prst="rect">
            <a:avLst/>
          </a:prstGeom>
          <a:noFill/>
        </p:spPr>
        <p:txBody>
          <a:bodyPr wrap="square">
            <a:spAutoFit/>
          </a:bodyPr>
          <a:lstStyle/>
          <a:p>
            <a:pPr algn="l"/>
            <a:r>
              <a:rPr sz="900" b="1" i="0">
                <a:solidFill>
                  <a:srgbClr val="FFFFFF"/>
                </a:solidFill>
              </a:rPr>
              <a:t>MEP RFIs</a:t>
            </a:r>
          </a:p>
        </p:txBody>
      </p:sp>
      <p:sp>
        <p:nvSpPr>
          <p:cNvPr id="31" name="TextBox 30"/>
          <p:cNvSpPr txBox="1"/>
          <p:nvPr/>
        </p:nvSpPr>
        <p:spPr>
          <a:xfrm>
            <a:off x="3127248" y="2953512"/>
            <a:ext cx="2377439" cy="502920"/>
          </a:xfrm>
          <a:prstGeom prst="rect">
            <a:avLst/>
          </a:prstGeom>
          <a:noFill/>
        </p:spPr>
        <p:txBody>
          <a:bodyPr wrap="square">
            <a:spAutoFit/>
          </a:bodyPr>
          <a:lstStyle/>
          <a:p>
            <a:pPr algn="ctr"/>
            <a:r>
              <a:rPr sz="2600" b="1" i="0">
                <a:solidFill>
                  <a:srgbClr val="FFFFFF"/>
                </a:solidFill>
              </a:rPr>
              <a:t>15</a:t>
            </a:r>
          </a:p>
        </p:txBody>
      </p:sp>
      <p:sp>
        <p:nvSpPr>
          <p:cNvPr id="32" name="TextBox 31"/>
          <p:cNvSpPr txBox="1"/>
          <p:nvPr/>
        </p:nvSpPr>
        <p:spPr>
          <a:xfrm>
            <a:off x="3127248" y="3410712"/>
            <a:ext cx="2377439" cy="201168"/>
          </a:xfrm>
          <a:prstGeom prst="rect">
            <a:avLst/>
          </a:prstGeom>
          <a:noFill/>
        </p:spPr>
        <p:txBody>
          <a:bodyPr wrap="square">
            <a:spAutoFit/>
          </a:bodyPr>
          <a:lstStyle/>
          <a:p>
            <a:pPr algn="ctr"/>
            <a:r>
              <a:rPr sz="800" b="0" i="0">
                <a:solidFill>
                  <a:srgbClr val="D5DBDB"/>
                </a:solidFill>
              </a:rPr>
              <a:t>drainage / services</a:t>
            </a:r>
          </a:p>
        </p:txBody>
      </p:sp>
      <p:sp>
        <p:nvSpPr>
          <p:cNvPr id="33" name="Rectangle 32"/>
          <p:cNvSpPr/>
          <p:nvPr/>
        </p:nvSpPr>
        <p:spPr>
          <a:xfrm>
            <a:off x="5760720" y="2606040"/>
            <a:ext cx="2560320" cy="1188720"/>
          </a:xfrm>
          <a:prstGeom prst="rect">
            <a:avLst/>
          </a:prstGeom>
          <a:solidFill>
            <a:srgbClr val="F39C12"/>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70448" y="2697480"/>
            <a:ext cx="2377439" cy="274320"/>
          </a:xfrm>
          <a:prstGeom prst="rect">
            <a:avLst/>
          </a:prstGeom>
          <a:noFill/>
        </p:spPr>
        <p:txBody>
          <a:bodyPr wrap="square">
            <a:spAutoFit/>
          </a:bodyPr>
          <a:lstStyle/>
          <a:p>
            <a:pPr algn="l"/>
            <a:r>
              <a:rPr sz="900" b="1" i="0">
                <a:solidFill>
                  <a:srgbClr val="FFFFFF"/>
                </a:solidFill>
              </a:rPr>
              <a:t>ID COORD NEEDED</a:t>
            </a:r>
          </a:p>
        </p:txBody>
      </p:sp>
      <p:sp>
        <p:nvSpPr>
          <p:cNvPr id="35" name="TextBox 34"/>
          <p:cNvSpPr txBox="1"/>
          <p:nvPr/>
        </p:nvSpPr>
        <p:spPr>
          <a:xfrm>
            <a:off x="5870448" y="2953512"/>
            <a:ext cx="2377439" cy="502920"/>
          </a:xfrm>
          <a:prstGeom prst="rect">
            <a:avLst/>
          </a:prstGeom>
          <a:noFill/>
        </p:spPr>
        <p:txBody>
          <a:bodyPr wrap="square">
            <a:spAutoFit/>
          </a:bodyPr>
          <a:lstStyle/>
          <a:p>
            <a:pPr algn="ctr"/>
            <a:r>
              <a:rPr sz="2600" b="1" i="0">
                <a:solidFill>
                  <a:srgbClr val="FFFFFF"/>
                </a:solidFill>
              </a:rPr>
              <a:t>14</a:t>
            </a:r>
          </a:p>
        </p:txBody>
      </p:sp>
      <p:sp>
        <p:nvSpPr>
          <p:cNvPr id="36" name="TextBox 35"/>
          <p:cNvSpPr txBox="1"/>
          <p:nvPr/>
        </p:nvSpPr>
        <p:spPr>
          <a:xfrm>
            <a:off x="5870448" y="3410712"/>
            <a:ext cx="2377439" cy="201168"/>
          </a:xfrm>
          <a:prstGeom prst="rect">
            <a:avLst/>
          </a:prstGeom>
          <a:noFill/>
        </p:spPr>
        <p:txBody>
          <a:bodyPr wrap="square">
            <a:spAutoFit/>
          </a:bodyPr>
          <a:lstStyle/>
          <a:p>
            <a:pPr algn="ctr"/>
            <a:r>
              <a:rPr sz="800" b="0" i="0">
                <a:solidFill>
                  <a:srgbClr val="D5DBDB"/>
                </a:solidFill>
              </a:rPr>
              <a:t>RFIs require ID sign-off</a:t>
            </a:r>
          </a:p>
        </p:txBody>
      </p:sp>
      <p:sp>
        <p:nvSpPr>
          <p:cNvPr id="37" name="Rectangle 36"/>
          <p:cNvSpPr/>
          <p:nvPr/>
        </p:nvSpPr>
        <p:spPr>
          <a:xfrm>
            <a:off x="8503920" y="2606040"/>
            <a:ext cx="2560320" cy="1188720"/>
          </a:xfrm>
          <a:prstGeom prst="rect">
            <a:avLst/>
          </a:prstGeom>
          <a:solidFill>
            <a:srgbClr val="E84C3C"/>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13648" y="2697480"/>
            <a:ext cx="2377439" cy="274320"/>
          </a:xfrm>
          <a:prstGeom prst="rect">
            <a:avLst/>
          </a:prstGeom>
          <a:noFill/>
        </p:spPr>
        <p:txBody>
          <a:bodyPr wrap="square">
            <a:spAutoFit/>
          </a:bodyPr>
          <a:lstStyle/>
          <a:p>
            <a:pPr algn="l"/>
            <a:r>
              <a:rPr sz="900" b="1" i="0">
                <a:solidFill>
                  <a:srgbClr val="FFFFFF"/>
                </a:solidFill>
              </a:rPr>
              <a:t>MAX DELAY RISK</a:t>
            </a:r>
          </a:p>
        </p:txBody>
      </p:sp>
      <p:sp>
        <p:nvSpPr>
          <p:cNvPr id="39" name="TextBox 38"/>
          <p:cNvSpPr txBox="1"/>
          <p:nvPr/>
        </p:nvSpPr>
        <p:spPr>
          <a:xfrm>
            <a:off x="8613648" y="2953512"/>
            <a:ext cx="2377439" cy="502920"/>
          </a:xfrm>
          <a:prstGeom prst="rect">
            <a:avLst/>
          </a:prstGeom>
          <a:noFill/>
        </p:spPr>
        <p:txBody>
          <a:bodyPr wrap="square">
            <a:spAutoFit/>
          </a:bodyPr>
          <a:lstStyle/>
          <a:p>
            <a:pPr algn="ctr"/>
            <a:r>
              <a:rPr sz="2600" b="1" i="0">
                <a:solidFill>
                  <a:srgbClr val="FFFFFF"/>
                </a:solidFill>
              </a:rPr>
              <a:t>8wk</a:t>
            </a:r>
          </a:p>
        </p:txBody>
      </p:sp>
      <p:sp>
        <p:nvSpPr>
          <p:cNvPr id="40" name="TextBox 39"/>
          <p:cNvSpPr txBox="1"/>
          <p:nvPr/>
        </p:nvSpPr>
        <p:spPr>
          <a:xfrm>
            <a:off x="8613648" y="3410712"/>
            <a:ext cx="2377439" cy="201168"/>
          </a:xfrm>
          <a:prstGeom prst="rect">
            <a:avLst/>
          </a:prstGeom>
          <a:noFill/>
        </p:spPr>
        <p:txBody>
          <a:bodyPr wrap="square">
            <a:spAutoFit/>
          </a:bodyPr>
          <a:lstStyle/>
          <a:p>
            <a:pPr algn="ctr"/>
            <a:r>
              <a:rPr sz="800" b="0" i="0">
                <a:solidFill>
                  <a:srgbClr val="D5DBDB"/>
                </a:solidFill>
              </a:rPr>
              <a:t>drop panel package</a:t>
            </a:r>
          </a:p>
        </p:txBody>
      </p:sp>
      <p:sp>
        <p:nvSpPr>
          <p:cNvPr id="41" name="Rectangle 40"/>
          <p:cNvSpPr/>
          <p:nvPr/>
        </p:nvSpPr>
        <p:spPr>
          <a:xfrm>
            <a:off x="274320" y="3977639"/>
            <a:ext cx="11521440"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8" y="3995927"/>
            <a:ext cx="11338560" cy="219456"/>
          </a:xfrm>
          <a:prstGeom prst="rect">
            <a:avLst/>
          </a:prstGeom>
          <a:noFill/>
        </p:spPr>
        <p:txBody>
          <a:bodyPr wrap="square">
            <a:spAutoFit/>
          </a:bodyPr>
          <a:lstStyle/>
          <a:p>
            <a:pPr algn="l"/>
            <a:r>
              <a:rPr sz="1000" b="1" i="0">
                <a:solidFill>
                  <a:srgbClr val="FFFFFF"/>
                </a:solidFill>
              </a:rPr>
              <a:t>DOMINANT CLASH THEMES</a:t>
            </a:r>
          </a:p>
        </p:txBody>
      </p:sp>
      <p:sp>
        <p:nvSpPr>
          <p:cNvPr id="43" name="Rectangle 42"/>
          <p:cNvSpPr/>
          <p:nvPr/>
        </p:nvSpPr>
        <p:spPr>
          <a:xfrm>
            <a:off x="274320" y="4297680"/>
            <a:ext cx="2743200" cy="17373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4297680"/>
            <a:ext cx="2743200"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4315968"/>
            <a:ext cx="2560320" cy="237744"/>
          </a:xfrm>
          <a:prstGeom prst="rect">
            <a:avLst/>
          </a:prstGeom>
          <a:noFill/>
        </p:spPr>
        <p:txBody>
          <a:bodyPr wrap="square">
            <a:spAutoFit/>
          </a:bodyPr>
          <a:lstStyle/>
          <a:p>
            <a:pPr algn="l"/>
            <a:r>
              <a:rPr sz="900" b="1" i="0">
                <a:solidFill>
                  <a:srgbClr val="FFFFFF"/>
                </a:solidFill>
              </a:rPr>
              <a:t>Insufficient shaft sizes</a:t>
            </a:r>
          </a:p>
        </p:txBody>
      </p:sp>
      <p:sp>
        <p:nvSpPr>
          <p:cNvPr id="46" name="TextBox 45"/>
          <p:cNvSpPr txBox="1"/>
          <p:nvPr/>
        </p:nvSpPr>
        <p:spPr>
          <a:xfrm>
            <a:off x="365760" y="4608576"/>
            <a:ext cx="2560320" cy="1353312"/>
          </a:xfrm>
          <a:prstGeom prst="rect">
            <a:avLst/>
          </a:prstGeom>
          <a:noFill/>
        </p:spPr>
        <p:txBody>
          <a:bodyPr wrap="square">
            <a:spAutoFit/>
          </a:bodyPr>
          <a:lstStyle/>
          <a:p>
            <a:pPr algn="l"/>
            <a:r>
              <a:rPr sz="900" b="0" i="0">
                <a:solidFill>
                  <a:srgbClr val="2C3E50"/>
                </a:solidFill>
              </a:rPr>
              <a:t>MEP risers (drainage + chilled water) cannot fit in existing shaft openings across 7F–12F</a:t>
            </a:r>
          </a:p>
        </p:txBody>
      </p:sp>
      <p:sp>
        <p:nvSpPr>
          <p:cNvPr id="47" name="Rectangle 46"/>
          <p:cNvSpPr/>
          <p:nvPr/>
        </p:nvSpPr>
        <p:spPr>
          <a:xfrm>
            <a:off x="3154680" y="4297680"/>
            <a:ext cx="2743200" cy="17373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154680" y="4297680"/>
            <a:ext cx="2743200"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6120" y="4315968"/>
            <a:ext cx="2560320" cy="237744"/>
          </a:xfrm>
          <a:prstGeom prst="rect">
            <a:avLst/>
          </a:prstGeom>
          <a:noFill/>
        </p:spPr>
        <p:txBody>
          <a:bodyPr wrap="square">
            <a:spAutoFit/>
          </a:bodyPr>
          <a:lstStyle/>
          <a:p>
            <a:pPr algn="l"/>
            <a:r>
              <a:rPr sz="900" b="1" i="0">
                <a:solidFill>
                  <a:srgbClr val="FFFFFF"/>
                </a:solidFill>
              </a:rPr>
              <a:t>Unauthorised beam penetrations</a:t>
            </a:r>
          </a:p>
        </p:txBody>
      </p:sp>
      <p:sp>
        <p:nvSpPr>
          <p:cNvPr id="50" name="TextBox 49"/>
          <p:cNvSpPr txBox="1"/>
          <p:nvPr/>
        </p:nvSpPr>
        <p:spPr>
          <a:xfrm>
            <a:off x="3246120" y="4608576"/>
            <a:ext cx="2560320" cy="1353312"/>
          </a:xfrm>
          <a:prstGeom prst="rect">
            <a:avLst/>
          </a:prstGeom>
          <a:noFill/>
        </p:spPr>
        <p:txBody>
          <a:bodyPr wrap="square">
            <a:spAutoFit/>
          </a:bodyPr>
          <a:lstStyle/>
          <a:p>
            <a:pPr algn="l"/>
            <a:r>
              <a:rPr sz="900" b="0" i="0">
                <a:solidFill>
                  <a:srgbClr val="2C3E50"/>
                </a:solidFill>
              </a:rPr>
              <a:t>Pipes proposed through structural beams without sleeves — consultant rejections at 9F/10F</a:t>
            </a:r>
          </a:p>
        </p:txBody>
      </p:sp>
      <p:sp>
        <p:nvSpPr>
          <p:cNvPr id="51" name="Rectangle 50"/>
          <p:cNvSpPr/>
          <p:nvPr/>
        </p:nvSpPr>
        <p:spPr>
          <a:xfrm>
            <a:off x="6035040" y="4297680"/>
            <a:ext cx="2743200" cy="17373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35040" y="4297680"/>
            <a:ext cx="2743200"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26479" y="4315968"/>
            <a:ext cx="2560320" cy="237744"/>
          </a:xfrm>
          <a:prstGeom prst="rect">
            <a:avLst/>
          </a:prstGeom>
          <a:noFill/>
        </p:spPr>
        <p:txBody>
          <a:bodyPr wrap="square">
            <a:spAutoFit/>
          </a:bodyPr>
          <a:lstStyle/>
          <a:p>
            <a:pPr algn="l"/>
            <a:r>
              <a:rPr sz="900" b="1" i="0">
                <a:solidFill>
                  <a:srgbClr val="FFFFFF"/>
                </a:solidFill>
              </a:rPr>
              <a:t>Floor drain / drop panel clashes</a:t>
            </a:r>
          </a:p>
        </p:txBody>
      </p:sp>
      <p:sp>
        <p:nvSpPr>
          <p:cNvPr id="54" name="TextBox 53"/>
          <p:cNvSpPr txBox="1"/>
          <p:nvPr/>
        </p:nvSpPr>
        <p:spPr>
          <a:xfrm>
            <a:off x="6126479" y="4608576"/>
            <a:ext cx="2560320" cy="1353312"/>
          </a:xfrm>
          <a:prstGeom prst="rect">
            <a:avLst/>
          </a:prstGeom>
          <a:noFill/>
        </p:spPr>
        <p:txBody>
          <a:bodyPr wrap="square">
            <a:spAutoFit/>
          </a:bodyPr>
          <a:lstStyle/>
          <a:p>
            <a:pPr algn="l"/>
            <a:r>
              <a:rPr sz="900" b="0" i="0">
                <a:solidFill>
                  <a:srgbClr val="2C3E50"/>
                </a:solidFill>
              </a:rPr>
              <a:t>Floor traps located above structural drop panels — must be relocated before tiling</a:t>
            </a:r>
          </a:p>
        </p:txBody>
      </p:sp>
      <p:sp>
        <p:nvSpPr>
          <p:cNvPr id="55" name="Rectangle 54"/>
          <p:cNvSpPr/>
          <p:nvPr/>
        </p:nvSpPr>
        <p:spPr>
          <a:xfrm>
            <a:off x="8915400" y="4297680"/>
            <a:ext cx="2743200" cy="17373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915400" y="4297680"/>
            <a:ext cx="2743200"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06840" y="4315968"/>
            <a:ext cx="2560320" cy="237744"/>
          </a:xfrm>
          <a:prstGeom prst="rect">
            <a:avLst/>
          </a:prstGeom>
          <a:noFill/>
        </p:spPr>
        <p:txBody>
          <a:bodyPr wrap="square">
            <a:spAutoFit/>
          </a:bodyPr>
          <a:lstStyle/>
          <a:p>
            <a:pPr algn="l"/>
            <a:r>
              <a:rPr sz="900" b="1" i="0">
                <a:solidFill>
                  <a:srgbClr val="FFFFFF"/>
                </a:solidFill>
              </a:rPr>
              <a:t>Multi-trade coordination gap</a:t>
            </a:r>
          </a:p>
        </p:txBody>
      </p:sp>
      <p:sp>
        <p:nvSpPr>
          <p:cNvPr id="58" name="TextBox 57"/>
          <p:cNvSpPr txBox="1"/>
          <p:nvPr/>
        </p:nvSpPr>
        <p:spPr>
          <a:xfrm>
            <a:off x="9006840" y="4608576"/>
            <a:ext cx="2560320" cy="1353312"/>
          </a:xfrm>
          <a:prstGeom prst="rect">
            <a:avLst/>
          </a:prstGeom>
          <a:noFill/>
        </p:spPr>
        <p:txBody>
          <a:bodyPr wrap="square">
            <a:spAutoFit/>
          </a:bodyPr>
          <a:lstStyle/>
          <a:p>
            <a:pPr algn="l"/>
            <a:r>
              <a:rPr sz="900" b="0" i="0">
                <a:solidFill>
                  <a:srgbClr val="2C3E50"/>
                </a:solidFill>
              </a:rPr>
              <a:t>14 of 27 RFIs blocked pending ID sub-contractor sign-off — no dedicated coordinator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Critical RFI #1 — ARC_CRC_KA_042 + ARC_054</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7F / 8F (ARC_042)  &amp;  9F / 10F (ARC_054)  |  STATUS: DESIGN DISCUSSION ON-GOING</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97280"/>
            <a:ext cx="11640312" cy="384048"/>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33856"/>
            <a:ext cx="11338560" cy="320040"/>
          </a:xfrm>
          <a:prstGeom prst="rect">
            <a:avLst/>
          </a:prstGeom>
          <a:noFill/>
        </p:spPr>
        <p:txBody>
          <a:bodyPr wrap="square">
            <a:spAutoFit/>
          </a:bodyPr>
          <a:lstStyle/>
          <a:p>
            <a:pPr algn="ctr"/>
            <a:r>
              <a:rPr sz="1000" b="1" i="0">
                <a:solidFill>
                  <a:srgbClr val="FFFFFF"/>
                </a:solidFill>
              </a:rPr>
              <a:t>🔴  HIGHEST PRIORITY — FOUR FLOORS BLOCKED — DESIGN INSTRUCTION REQUIRED WITHIN 3 WORKING DAYS</a:t>
            </a:r>
          </a:p>
        </p:txBody>
      </p:sp>
      <p:sp>
        <p:nvSpPr>
          <p:cNvPr id="11" name="Rectangle 10"/>
          <p:cNvSpPr/>
          <p:nvPr/>
        </p:nvSpPr>
        <p:spPr>
          <a:xfrm>
            <a:off x="274320" y="1572768"/>
            <a:ext cx="5577840" cy="44805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89320" y="1572768"/>
            <a:ext cx="5925312" cy="44805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572768"/>
            <a:ext cx="5577840"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591056"/>
            <a:ext cx="5394960" cy="237744"/>
          </a:xfrm>
          <a:prstGeom prst="rect">
            <a:avLst/>
          </a:prstGeom>
          <a:noFill/>
        </p:spPr>
        <p:txBody>
          <a:bodyPr wrap="square">
            <a:spAutoFit/>
          </a:bodyPr>
          <a:lstStyle/>
          <a:p>
            <a:pPr algn="l"/>
            <a:r>
              <a:rPr sz="900" b="1" i="0">
                <a:solidFill>
                  <a:srgbClr val="FFFFFF"/>
                </a:solidFill>
              </a:rPr>
              <a:t>ISSUE DETAIL</a:t>
            </a:r>
          </a:p>
        </p:txBody>
      </p:sp>
      <p:sp>
        <p:nvSpPr>
          <p:cNvPr id="15" name="TextBox 14"/>
          <p:cNvSpPr txBox="1"/>
          <p:nvPr/>
        </p:nvSpPr>
        <p:spPr>
          <a:xfrm>
            <a:off x="411480" y="1920240"/>
            <a:ext cx="5303520" cy="201168"/>
          </a:xfrm>
          <a:prstGeom prst="rect">
            <a:avLst/>
          </a:prstGeom>
          <a:noFill/>
        </p:spPr>
        <p:txBody>
          <a:bodyPr wrap="square">
            <a:spAutoFit/>
          </a:bodyPr>
          <a:lstStyle/>
          <a:p>
            <a:pPr algn="l"/>
            <a:r>
              <a:rPr sz="900" b="1" i="0">
                <a:solidFill>
                  <a:srgbClr val="2C3E50"/>
                </a:solidFill>
              </a:rPr>
              <a:t>What is the problem?</a:t>
            </a:r>
          </a:p>
        </p:txBody>
      </p:sp>
      <p:sp>
        <p:nvSpPr>
          <p:cNvPr id="16" name="TextBox 15"/>
          <p:cNvSpPr txBox="1"/>
          <p:nvPr/>
        </p:nvSpPr>
        <p:spPr>
          <a:xfrm>
            <a:off x="411480" y="2112264"/>
            <a:ext cx="5303520" cy="201168"/>
          </a:xfrm>
          <a:prstGeom prst="rect">
            <a:avLst/>
          </a:prstGeom>
          <a:noFill/>
        </p:spPr>
        <p:txBody>
          <a:bodyPr wrap="square">
            <a:spAutoFit/>
          </a:bodyPr>
          <a:lstStyle/>
          <a:p>
            <a:pPr algn="l"/>
            <a:r>
              <a:rPr sz="900" b="0" i="0">
                <a:solidFill>
                  <a:srgbClr val="2C3E50"/>
                </a:solidFill>
              </a:rPr>
              <a:t>The existing MEP shaft at 7F/8F is undersized. It cannot simultaneously accommodate the DN160 soil/waste drainage riser AND the chilled water pipe riser.</a:t>
            </a:r>
          </a:p>
        </p:txBody>
      </p:sp>
      <p:sp>
        <p:nvSpPr>
          <p:cNvPr id="17" name="TextBox 16"/>
          <p:cNvSpPr txBox="1"/>
          <p:nvPr/>
        </p:nvSpPr>
        <p:spPr>
          <a:xfrm>
            <a:off x="411480" y="2304288"/>
            <a:ext cx="5303520" cy="201168"/>
          </a:xfrm>
          <a:prstGeom prst="rect">
            <a:avLst/>
          </a:prstGeom>
          <a:noFill/>
        </p:spPr>
        <p:txBody>
          <a:bodyPr wrap="square">
            <a:spAutoFit/>
          </a:bodyPr>
          <a:lstStyle/>
          <a:p>
            <a:pPr algn="l"/>
            <a:r>
              <a:rPr sz="900" b="0" i="0">
                <a:solidFill>
                  <a:srgbClr val="2C3E50"/>
                </a:solidFill>
              </a:rPr>
              <a:t/>
            </a:r>
          </a:p>
        </p:txBody>
      </p:sp>
      <p:sp>
        <p:nvSpPr>
          <p:cNvPr id="18" name="TextBox 17"/>
          <p:cNvSpPr txBox="1"/>
          <p:nvPr/>
        </p:nvSpPr>
        <p:spPr>
          <a:xfrm>
            <a:off x="411480" y="2496312"/>
            <a:ext cx="5303520" cy="201168"/>
          </a:xfrm>
          <a:prstGeom prst="rect">
            <a:avLst/>
          </a:prstGeom>
          <a:noFill/>
        </p:spPr>
        <p:txBody>
          <a:bodyPr wrap="square">
            <a:spAutoFit/>
          </a:bodyPr>
          <a:lstStyle/>
          <a:p>
            <a:pPr algn="l"/>
            <a:r>
              <a:rPr sz="900" b="1" i="0">
                <a:solidFill>
                  <a:srgbClr val="2C3E50"/>
                </a:solidFill>
              </a:rPr>
              <a:t>Structural Impact:</a:t>
            </a:r>
          </a:p>
        </p:txBody>
      </p:sp>
      <p:sp>
        <p:nvSpPr>
          <p:cNvPr id="19" name="TextBox 18"/>
          <p:cNvSpPr txBox="1"/>
          <p:nvPr/>
        </p:nvSpPr>
        <p:spPr>
          <a:xfrm>
            <a:off x="411480" y="2688336"/>
            <a:ext cx="5303520" cy="201168"/>
          </a:xfrm>
          <a:prstGeom prst="rect">
            <a:avLst/>
          </a:prstGeom>
          <a:noFill/>
        </p:spPr>
        <p:txBody>
          <a:bodyPr wrap="square">
            <a:spAutoFit/>
          </a:bodyPr>
          <a:lstStyle/>
          <a:p>
            <a:pPr algn="l"/>
            <a:r>
              <a:rPr sz="900" b="0" i="0">
                <a:solidFill>
                  <a:srgbClr val="2C3E50"/>
                </a:solidFill>
              </a:rPr>
              <a:t>Beam L7-B-08 must be physically shifted 500mm downward to clear the BTU meter. This affects:</a:t>
            </a:r>
          </a:p>
        </p:txBody>
      </p:sp>
      <p:sp>
        <p:nvSpPr>
          <p:cNvPr id="20" name="TextBox 19"/>
          <p:cNvSpPr txBox="1"/>
          <p:nvPr/>
        </p:nvSpPr>
        <p:spPr>
          <a:xfrm>
            <a:off x="411480" y="2880360"/>
            <a:ext cx="5303520" cy="201168"/>
          </a:xfrm>
          <a:prstGeom prst="rect">
            <a:avLst/>
          </a:prstGeom>
          <a:noFill/>
        </p:spPr>
        <p:txBody>
          <a:bodyPr wrap="square">
            <a:spAutoFit/>
          </a:bodyPr>
          <a:lstStyle/>
          <a:p>
            <a:pPr algn="l"/>
            <a:r>
              <a:rPr sz="900" b="0" i="0">
                <a:solidFill>
                  <a:srgbClr val="2C3E50"/>
                </a:solidFill>
              </a:rPr>
              <a:t>  •  Reinforcement schedule: 8LT16@100 + 2LT20@125 bars</a:t>
            </a:r>
          </a:p>
        </p:txBody>
      </p:sp>
      <p:sp>
        <p:nvSpPr>
          <p:cNvPr id="21" name="TextBox 20"/>
          <p:cNvSpPr txBox="1"/>
          <p:nvPr/>
        </p:nvSpPr>
        <p:spPr>
          <a:xfrm>
            <a:off x="411480" y="3072384"/>
            <a:ext cx="5303520" cy="201168"/>
          </a:xfrm>
          <a:prstGeom prst="rect">
            <a:avLst/>
          </a:prstGeom>
          <a:noFill/>
        </p:spPr>
        <p:txBody>
          <a:bodyPr wrap="square">
            <a:spAutoFit/>
          </a:bodyPr>
          <a:lstStyle/>
          <a:p>
            <a:pPr algn="l"/>
            <a:r>
              <a:rPr sz="900" b="0" i="0">
                <a:solidFill>
                  <a:srgbClr val="2C3E50"/>
                </a:solidFill>
              </a:rPr>
              <a:t>  •  Post-tensioned slab drawings (DM submission)</a:t>
            </a:r>
          </a:p>
        </p:txBody>
      </p:sp>
      <p:sp>
        <p:nvSpPr>
          <p:cNvPr id="22" name="TextBox 21"/>
          <p:cNvSpPr txBox="1"/>
          <p:nvPr/>
        </p:nvSpPr>
        <p:spPr>
          <a:xfrm>
            <a:off x="411480" y="3264408"/>
            <a:ext cx="5303520" cy="201168"/>
          </a:xfrm>
          <a:prstGeom prst="rect">
            <a:avLst/>
          </a:prstGeom>
          <a:noFill/>
        </p:spPr>
        <p:txBody>
          <a:bodyPr wrap="square">
            <a:spAutoFit/>
          </a:bodyPr>
          <a:lstStyle/>
          <a:p>
            <a:pPr algn="l"/>
            <a:r>
              <a:rPr sz="900" b="0" i="0">
                <a:solidFill>
                  <a:srgbClr val="2C3E50"/>
                </a:solidFill>
              </a:rPr>
              <a:t>  •  Interior design ceiling heights in occupied zones</a:t>
            </a:r>
          </a:p>
        </p:txBody>
      </p:sp>
      <p:sp>
        <p:nvSpPr>
          <p:cNvPr id="23" name="TextBox 22"/>
          <p:cNvSpPr txBox="1"/>
          <p:nvPr/>
        </p:nvSpPr>
        <p:spPr>
          <a:xfrm>
            <a:off x="411480" y="3456432"/>
            <a:ext cx="5303520" cy="201168"/>
          </a:xfrm>
          <a:prstGeom prst="rect">
            <a:avLst/>
          </a:prstGeom>
          <a:noFill/>
        </p:spPr>
        <p:txBody>
          <a:bodyPr wrap="square">
            <a:spAutoFit/>
          </a:bodyPr>
          <a:lstStyle/>
          <a:p>
            <a:pPr algn="l"/>
            <a:r>
              <a:rPr sz="900" b="0" i="0">
                <a:solidFill>
                  <a:srgbClr val="2C3E50"/>
                </a:solidFill>
              </a:rPr>
              <a:t/>
            </a:r>
          </a:p>
        </p:txBody>
      </p:sp>
      <p:sp>
        <p:nvSpPr>
          <p:cNvPr id="24" name="TextBox 23"/>
          <p:cNvSpPr txBox="1"/>
          <p:nvPr/>
        </p:nvSpPr>
        <p:spPr>
          <a:xfrm>
            <a:off x="411480" y="3648456"/>
            <a:ext cx="5303520" cy="201168"/>
          </a:xfrm>
          <a:prstGeom prst="rect">
            <a:avLst/>
          </a:prstGeom>
          <a:noFill/>
        </p:spPr>
        <p:txBody>
          <a:bodyPr wrap="square">
            <a:spAutoFit/>
          </a:bodyPr>
          <a:lstStyle/>
          <a:p>
            <a:pPr algn="l"/>
            <a:r>
              <a:rPr sz="900" b="1" i="0">
                <a:solidFill>
                  <a:srgbClr val="2C3E50"/>
                </a:solidFill>
              </a:rPr>
              <a:t>Proposed Solution:</a:t>
            </a:r>
          </a:p>
        </p:txBody>
      </p:sp>
      <p:sp>
        <p:nvSpPr>
          <p:cNvPr id="25" name="TextBox 24"/>
          <p:cNvSpPr txBox="1"/>
          <p:nvPr/>
        </p:nvSpPr>
        <p:spPr>
          <a:xfrm>
            <a:off x="411480" y="3840480"/>
            <a:ext cx="5303520" cy="201168"/>
          </a:xfrm>
          <a:prstGeom prst="rect">
            <a:avLst/>
          </a:prstGeom>
          <a:noFill/>
        </p:spPr>
        <p:txBody>
          <a:bodyPr wrap="square">
            <a:spAutoFit/>
          </a:bodyPr>
          <a:lstStyle/>
          <a:p>
            <a:pPr algn="l"/>
            <a:r>
              <a:rPr sz="900" b="0" i="0">
                <a:solidFill>
                  <a:srgbClr val="2C3E50"/>
                </a:solidFill>
              </a:rPr>
              <a:t>Enlarge shaft to 1,200 × 450mm clear internal dimension.</a:t>
            </a:r>
          </a:p>
        </p:txBody>
      </p:sp>
      <p:sp>
        <p:nvSpPr>
          <p:cNvPr id="26" name="TextBox 25"/>
          <p:cNvSpPr txBox="1"/>
          <p:nvPr/>
        </p:nvSpPr>
        <p:spPr>
          <a:xfrm>
            <a:off x="411480" y="4032504"/>
            <a:ext cx="5303520" cy="201168"/>
          </a:xfrm>
          <a:prstGeom prst="rect">
            <a:avLst/>
          </a:prstGeom>
          <a:noFill/>
        </p:spPr>
        <p:txBody>
          <a:bodyPr wrap="square">
            <a:spAutoFit/>
          </a:bodyPr>
          <a:lstStyle/>
          <a:p>
            <a:pPr algn="l"/>
            <a:r>
              <a:rPr sz="900" b="0" i="0">
                <a:solidFill>
                  <a:srgbClr val="2C3E50"/>
                </a:solidFill>
              </a:rPr>
              <a:t/>
            </a:r>
          </a:p>
        </p:txBody>
      </p:sp>
      <p:sp>
        <p:nvSpPr>
          <p:cNvPr id="27" name="TextBox 26"/>
          <p:cNvSpPr txBox="1"/>
          <p:nvPr/>
        </p:nvSpPr>
        <p:spPr>
          <a:xfrm>
            <a:off x="411480" y="4224528"/>
            <a:ext cx="5303520" cy="201168"/>
          </a:xfrm>
          <a:prstGeom prst="rect">
            <a:avLst/>
          </a:prstGeom>
          <a:noFill/>
        </p:spPr>
        <p:txBody>
          <a:bodyPr wrap="square">
            <a:spAutoFit/>
          </a:bodyPr>
          <a:lstStyle/>
          <a:p>
            <a:pPr algn="l"/>
            <a:r>
              <a:rPr sz="900" b="1" i="0">
                <a:solidFill>
                  <a:srgbClr val="2C3E50"/>
                </a:solidFill>
              </a:rPr>
              <a:t>Linked RFI:</a:t>
            </a:r>
          </a:p>
        </p:txBody>
      </p:sp>
      <p:sp>
        <p:nvSpPr>
          <p:cNvPr id="28" name="TextBox 27"/>
          <p:cNvSpPr txBox="1"/>
          <p:nvPr/>
        </p:nvSpPr>
        <p:spPr>
          <a:xfrm>
            <a:off x="411480" y="4416552"/>
            <a:ext cx="5303520" cy="201168"/>
          </a:xfrm>
          <a:prstGeom prst="rect">
            <a:avLst/>
          </a:prstGeom>
          <a:noFill/>
        </p:spPr>
        <p:txBody>
          <a:bodyPr wrap="square">
            <a:spAutoFit/>
          </a:bodyPr>
          <a:lstStyle/>
          <a:p>
            <a:pPr algn="l"/>
            <a:r>
              <a:rPr sz="900" b="0" i="0">
                <a:solidFill>
                  <a:srgbClr val="2C3E50"/>
                </a:solidFill>
              </a:rPr>
              <a:t>ARC_054 (9F/10F) carries identical open status — same resolution required.</a:t>
            </a:r>
          </a:p>
        </p:txBody>
      </p:sp>
      <p:sp>
        <p:nvSpPr>
          <p:cNvPr id="29" name="Rectangle 28"/>
          <p:cNvSpPr/>
          <p:nvPr/>
        </p:nvSpPr>
        <p:spPr>
          <a:xfrm>
            <a:off x="5989320" y="1572768"/>
            <a:ext cx="592531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0" y="1591056"/>
            <a:ext cx="5742432" cy="237744"/>
          </a:xfrm>
          <a:prstGeom prst="rect">
            <a:avLst/>
          </a:prstGeom>
          <a:noFill/>
        </p:spPr>
        <p:txBody>
          <a:bodyPr wrap="square">
            <a:spAutoFit/>
          </a:bodyPr>
          <a:lstStyle/>
          <a:p>
            <a:pPr algn="l"/>
            <a:r>
              <a:rPr sz="900" b="1" i="0">
                <a:solidFill>
                  <a:srgbClr val="FFFFFF"/>
                </a:solidFill>
              </a:rPr>
              <a:t>RISK &amp; REQUIRED ACTION</a:t>
            </a:r>
          </a:p>
        </p:txBody>
      </p:sp>
      <p:sp>
        <p:nvSpPr>
          <p:cNvPr id="31" name="Rectangle 30"/>
          <p:cNvSpPr/>
          <p:nvPr/>
        </p:nvSpPr>
        <p:spPr>
          <a:xfrm>
            <a:off x="6035040" y="1920240"/>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44768" y="1956816"/>
            <a:ext cx="2286000" cy="237744"/>
          </a:xfrm>
          <a:prstGeom prst="rect">
            <a:avLst/>
          </a:prstGeom>
          <a:noFill/>
        </p:spPr>
        <p:txBody>
          <a:bodyPr wrap="square">
            <a:spAutoFit/>
          </a:bodyPr>
          <a:lstStyle/>
          <a:p>
            <a:pPr algn="l"/>
            <a:r>
              <a:rPr sz="900" b="1" i="0">
                <a:solidFill>
                  <a:srgbClr val="2C3E50"/>
                </a:solidFill>
              </a:rPr>
              <a:t>Schedule Risk</a:t>
            </a:r>
          </a:p>
        </p:txBody>
      </p:sp>
      <p:sp>
        <p:nvSpPr>
          <p:cNvPr id="33" name="TextBox 32"/>
          <p:cNvSpPr txBox="1"/>
          <p:nvPr/>
        </p:nvSpPr>
        <p:spPr>
          <a:xfrm>
            <a:off x="8503920" y="1956816"/>
            <a:ext cx="3246120" cy="237744"/>
          </a:xfrm>
          <a:prstGeom prst="rect">
            <a:avLst/>
          </a:prstGeom>
          <a:noFill/>
        </p:spPr>
        <p:txBody>
          <a:bodyPr wrap="square">
            <a:spAutoFit/>
          </a:bodyPr>
          <a:lstStyle/>
          <a:p>
            <a:pPr algn="l"/>
            <a:r>
              <a:rPr sz="900" b="1" i="0">
                <a:solidFill>
                  <a:srgbClr val="E84C3C"/>
                </a:solidFill>
              </a:rPr>
              <a:t>HIGH</a:t>
            </a:r>
          </a:p>
        </p:txBody>
      </p:sp>
      <p:sp>
        <p:nvSpPr>
          <p:cNvPr id="34" name="Rectangle 33"/>
          <p:cNvSpPr/>
          <p:nvPr/>
        </p:nvSpPr>
        <p:spPr>
          <a:xfrm>
            <a:off x="6035040" y="2267712"/>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2304288"/>
            <a:ext cx="2286000" cy="237744"/>
          </a:xfrm>
          <a:prstGeom prst="rect">
            <a:avLst/>
          </a:prstGeom>
          <a:noFill/>
        </p:spPr>
        <p:txBody>
          <a:bodyPr wrap="square">
            <a:spAutoFit/>
          </a:bodyPr>
          <a:lstStyle/>
          <a:p>
            <a:pPr algn="l"/>
            <a:r>
              <a:rPr sz="900" b="1" i="0">
                <a:solidFill>
                  <a:srgbClr val="2C3E50"/>
                </a:solidFill>
              </a:rPr>
              <a:t>Cost Risk</a:t>
            </a:r>
          </a:p>
        </p:txBody>
      </p:sp>
      <p:sp>
        <p:nvSpPr>
          <p:cNvPr id="36" name="TextBox 35"/>
          <p:cNvSpPr txBox="1"/>
          <p:nvPr/>
        </p:nvSpPr>
        <p:spPr>
          <a:xfrm>
            <a:off x="8503920" y="2304288"/>
            <a:ext cx="3246120" cy="237744"/>
          </a:xfrm>
          <a:prstGeom prst="rect">
            <a:avLst/>
          </a:prstGeom>
          <a:noFill/>
        </p:spPr>
        <p:txBody>
          <a:bodyPr wrap="square">
            <a:spAutoFit/>
          </a:bodyPr>
          <a:lstStyle/>
          <a:p>
            <a:pPr algn="l"/>
            <a:r>
              <a:rPr sz="900" b="1" i="0">
                <a:solidFill>
                  <a:srgbClr val="E84C3C"/>
                </a:solidFill>
              </a:rPr>
              <a:t>HIGH</a:t>
            </a:r>
          </a:p>
        </p:txBody>
      </p:sp>
      <p:sp>
        <p:nvSpPr>
          <p:cNvPr id="37" name="Rectangle 36"/>
          <p:cNvSpPr/>
          <p:nvPr/>
        </p:nvSpPr>
        <p:spPr>
          <a:xfrm>
            <a:off x="6035040" y="2615184"/>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2651760"/>
            <a:ext cx="2286000" cy="237744"/>
          </a:xfrm>
          <a:prstGeom prst="rect">
            <a:avLst/>
          </a:prstGeom>
          <a:noFill/>
        </p:spPr>
        <p:txBody>
          <a:bodyPr wrap="square">
            <a:spAutoFit/>
          </a:bodyPr>
          <a:lstStyle/>
          <a:p>
            <a:pPr algn="l"/>
            <a:r>
              <a:rPr sz="900" b="1" i="0">
                <a:solidFill>
                  <a:srgbClr val="2C3E50"/>
                </a:solidFill>
              </a:rPr>
              <a:t>Floors Blocked</a:t>
            </a:r>
          </a:p>
        </p:txBody>
      </p:sp>
      <p:sp>
        <p:nvSpPr>
          <p:cNvPr id="39" name="TextBox 38"/>
          <p:cNvSpPr txBox="1"/>
          <p:nvPr/>
        </p:nvSpPr>
        <p:spPr>
          <a:xfrm>
            <a:off x="8503920" y="2651760"/>
            <a:ext cx="3246120" cy="237744"/>
          </a:xfrm>
          <a:prstGeom prst="rect">
            <a:avLst/>
          </a:prstGeom>
          <a:noFill/>
        </p:spPr>
        <p:txBody>
          <a:bodyPr wrap="square">
            <a:spAutoFit/>
          </a:bodyPr>
          <a:lstStyle/>
          <a:p>
            <a:pPr algn="l"/>
            <a:r>
              <a:rPr sz="900" b="1" i="0">
                <a:solidFill>
                  <a:srgbClr val="F39C12"/>
                </a:solidFill>
              </a:rPr>
              <a:t>4 floors (7F, 8F, 9F, 10F)</a:t>
            </a:r>
          </a:p>
        </p:txBody>
      </p:sp>
      <p:sp>
        <p:nvSpPr>
          <p:cNvPr id="40" name="Rectangle 39"/>
          <p:cNvSpPr/>
          <p:nvPr/>
        </p:nvSpPr>
        <p:spPr>
          <a:xfrm>
            <a:off x="6035040" y="2962656"/>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44768" y="2999232"/>
            <a:ext cx="2286000" cy="237744"/>
          </a:xfrm>
          <a:prstGeom prst="rect">
            <a:avLst/>
          </a:prstGeom>
          <a:noFill/>
        </p:spPr>
        <p:txBody>
          <a:bodyPr wrap="square">
            <a:spAutoFit/>
          </a:bodyPr>
          <a:lstStyle/>
          <a:p>
            <a:pPr algn="l"/>
            <a:r>
              <a:rPr sz="900" b="1" i="0">
                <a:solidFill>
                  <a:srgbClr val="2C3E50"/>
                </a:solidFill>
              </a:rPr>
              <a:t>Delay Estimate</a:t>
            </a:r>
          </a:p>
        </p:txBody>
      </p:sp>
      <p:sp>
        <p:nvSpPr>
          <p:cNvPr id="42" name="TextBox 41"/>
          <p:cNvSpPr txBox="1"/>
          <p:nvPr/>
        </p:nvSpPr>
        <p:spPr>
          <a:xfrm>
            <a:off x="8503920" y="2999232"/>
            <a:ext cx="3246120" cy="237744"/>
          </a:xfrm>
          <a:prstGeom prst="rect">
            <a:avLst/>
          </a:prstGeom>
          <a:noFill/>
        </p:spPr>
        <p:txBody>
          <a:bodyPr wrap="square">
            <a:spAutoFit/>
          </a:bodyPr>
          <a:lstStyle/>
          <a:p>
            <a:pPr algn="l"/>
            <a:r>
              <a:rPr sz="900" b="1" i="0">
                <a:solidFill>
                  <a:srgbClr val="F39C12"/>
                </a:solidFill>
              </a:rPr>
              <a:t>3 – 6 weeks</a:t>
            </a:r>
          </a:p>
        </p:txBody>
      </p:sp>
      <p:sp>
        <p:nvSpPr>
          <p:cNvPr id="43" name="Rectangle 42"/>
          <p:cNvSpPr/>
          <p:nvPr/>
        </p:nvSpPr>
        <p:spPr>
          <a:xfrm>
            <a:off x="5989320" y="3401568"/>
            <a:ext cx="5925312"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80760" y="3438144"/>
            <a:ext cx="5742432" cy="201168"/>
          </a:xfrm>
          <a:prstGeom prst="rect">
            <a:avLst/>
          </a:prstGeom>
          <a:noFill/>
        </p:spPr>
        <p:txBody>
          <a:bodyPr wrap="square">
            <a:spAutoFit/>
          </a:bodyPr>
          <a:lstStyle/>
          <a:p>
            <a:pPr algn="l"/>
            <a:r>
              <a:rPr sz="900" b="1" i="0">
                <a:solidFill>
                  <a:srgbClr val="FFFFFF"/>
                </a:solidFill>
              </a:rPr>
              <a:t>ACTIONS REQUIRED</a:t>
            </a:r>
          </a:p>
        </p:txBody>
      </p:sp>
      <p:sp>
        <p:nvSpPr>
          <p:cNvPr id="45" name="TextBox 44"/>
          <p:cNvSpPr txBox="1"/>
          <p:nvPr/>
        </p:nvSpPr>
        <p:spPr>
          <a:xfrm>
            <a:off x="6080760" y="3712463"/>
            <a:ext cx="5669280" cy="237744"/>
          </a:xfrm>
          <a:prstGeom prst="rect">
            <a:avLst/>
          </a:prstGeom>
          <a:noFill/>
        </p:spPr>
        <p:txBody>
          <a:bodyPr wrap="square">
            <a:spAutoFit/>
          </a:bodyPr>
          <a:lstStyle/>
          <a:p>
            <a:pPr algn="l"/>
            <a:r>
              <a:rPr sz="900" b="0" i="0">
                <a:solidFill>
                  <a:srgbClr val="2C3E50"/>
                </a:solidFill>
              </a:rPr>
              <a:t>1.  Escalate to Design Consultant — issue a formal RFI close-out within 3 working days.</a:t>
            </a:r>
          </a:p>
        </p:txBody>
      </p:sp>
      <p:sp>
        <p:nvSpPr>
          <p:cNvPr id="46" name="TextBox 45"/>
          <p:cNvSpPr txBox="1"/>
          <p:nvPr/>
        </p:nvSpPr>
        <p:spPr>
          <a:xfrm>
            <a:off x="6080760" y="3986783"/>
            <a:ext cx="5669280" cy="237744"/>
          </a:xfrm>
          <a:prstGeom prst="rect">
            <a:avLst/>
          </a:prstGeom>
          <a:noFill/>
        </p:spPr>
        <p:txBody>
          <a:bodyPr wrap="square">
            <a:spAutoFit/>
          </a:bodyPr>
          <a:lstStyle/>
          <a:p>
            <a:pPr algn="l"/>
            <a:r>
              <a:rPr sz="900" b="0" i="0">
                <a:solidFill>
                  <a:srgbClr val="2C3E50"/>
                </a:solidFill>
              </a:rPr>
              <a:t>2.  Obtain written structural engineer instruction confirming beam shift is acceptable.</a:t>
            </a:r>
          </a:p>
        </p:txBody>
      </p:sp>
      <p:sp>
        <p:nvSpPr>
          <p:cNvPr id="47" name="TextBox 46"/>
          <p:cNvSpPr txBox="1"/>
          <p:nvPr/>
        </p:nvSpPr>
        <p:spPr>
          <a:xfrm>
            <a:off x="6080760" y="4261103"/>
            <a:ext cx="5669280" cy="237744"/>
          </a:xfrm>
          <a:prstGeom prst="rect">
            <a:avLst/>
          </a:prstGeom>
          <a:noFill/>
        </p:spPr>
        <p:txBody>
          <a:bodyPr wrap="square">
            <a:spAutoFit/>
          </a:bodyPr>
          <a:lstStyle/>
          <a:p>
            <a:pPr algn="l"/>
            <a:r>
              <a:rPr sz="900" b="0" i="0">
                <a:solidFill>
                  <a:srgbClr val="2C3E50"/>
                </a:solidFill>
              </a:rPr>
              <a:t>3.  Revise PT drawings to reflect new beam position and shaft dimensions.</a:t>
            </a:r>
          </a:p>
        </p:txBody>
      </p:sp>
      <p:sp>
        <p:nvSpPr>
          <p:cNvPr id="48" name="TextBox 47"/>
          <p:cNvSpPr txBox="1"/>
          <p:nvPr/>
        </p:nvSpPr>
        <p:spPr>
          <a:xfrm>
            <a:off x="6080760" y="4535423"/>
            <a:ext cx="5669280" cy="237744"/>
          </a:xfrm>
          <a:prstGeom prst="rect">
            <a:avLst/>
          </a:prstGeom>
          <a:noFill/>
        </p:spPr>
        <p:txBody>
          <a:bodyPr wrap="square">
            <a:spAutoFit/>
          </a:bodyPr>
          <a:lstStyle/>
          <a:p>
            <a:pPr algn="l"/>
            <a:r>
              <a:rPr sz="900" b="0" i="0">
                <a:solidFill>
                  <a:srgbClr val="2C3E50"/>
                </a:solidFill>
              </a:rPr>
              <a:t>4.  Update DM submission package before next scheduled authority review.</a:t>
            </a:r>
          </a:p>
        </p:txBody>
      </p:sp>
      <p:sp>
        <p:nvSpPr>
          <p:cNvPr id="49" name="TextBox 48"/>
          <p:cNvSpPr txBox="1"/>
          <p:nvPr/>
        </p:nvSpPr>
        <p:spPr>
          <a:xfrm>
            <a:off x="6080760" y="4809743"/>
            <a:ext cx="5669280" cy="237744"/>
          </a:xfrm>
          <a:prstGeom prst="rect">
            <a:avLst/>
          </a:prstGeom>
          <a:noFill/>
        </p:spPr>
        <p:txBody>
          <a:bodyPr wrap="square">
            <a:spAutoFit/>
          </a:bodyPr>
          <a:lstStyle/>
          <a:p>
            <a:pPr algn="l"/>
            <a:r>
              <a:rPr sz="900" b="0" i="0">
                <a:solidFill>
                  <a:srgbClr val="2C3E50"/>
                </a:solidFill>
              </a:rPr>
              <a:t>5.  Simultaneously close ARC_054 (9F/10F) with the same instruction.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Critical RFI #2 — ARC_CRC_KA_056</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Floors 9F &amp; 10F  |  STATUS: ❌ FORMALLY REJECTED — RE-SUBMISSION REQUIRED</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97280"/>
            <a:ext cx="11640312"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33856"/>
            <a:ext cx="11338560" cy="320040"/>
          </a:xfrm>
          <a:prstGeom prst="rect">
            <a:avLst/>
          </a:prstGeom>
          <a:noFill/>
        </p:spPr>
        <p:txBody>
          <a:bodyPr wrap="square">
            <a:spAutoFit/>
          </a:bodyPr>
          <a:lstStyle/>
          <a:p>
            <a:pPr algn="ctr"/>
            <a:r>
              <a:rPr sz="1000" b="1" i="0">
                <a:solidFill>
                  <a:srgbClr val="FFFFFF"/>
                </a:solidFill>
              </a:rPr>
              <a:t>🔴  CONSULTANT REJECTION — BOTH POINTS NOT ACCEPTED — REVISED PROPOSAL REQUIRED WITHIN 7 DAYS</a:t>
            </a:r>
          </a:p>
        </p:txBody>
      </p:sp>
      <p:sp>
        <p:nvSpPr>
          <p:cNvPr id="11" name="Rectangle 10"/>
          <p:cNvSpPr/>
          <p:nvPr/>
        </p:nvSpPr>
        <p:spPr>
          <a:xfrm>
            <a:off x="274320" y="1572768"/>
            <a:ext cx="5577840" cy="44805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89320" y="1572768"/>
            <a:ext cx="5925312" cy="44805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572768"/>
            <a:ext cx="5577840"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591056"/>
            <a:ext cx="5394960" cy="237744"/>
          </a:xfrm>
          <a:prstGeom prst="rect">
            <a:avLst/>
          </a:prstGeom>
          <a:noFill/>
        </p:spPr>
        <p:txBody>
          <a:bodyPr wrap="square">
            <a:spAutoFit/>
          </a:bodyPr>
          <a:lstStyle/>
          <a:p>
            <a:pPr algn="l"/>
            <a:r>
              <a:rPr sz="900" b="1" i="0">
                <a:solidFill>
                  <a:srgbClr val="FFFFFF"/>
                </a:solidFill>
              </a:rPr>
              <a:t>CONSULTANT REJECTION DETAIL</a:t>
            </a:r>
          </a:p>
        </p:txBody>
      </p:sp>
      <p:sp>
        <p:nvSpPr>
          <p:cNvPr id="15" name="TextBox 14"/>
          <p:cNvSpPr txBox="1"/>
          <p:nvPr/>
        </p:nvSpPr>
        <p:spPr>
          <a:xfrm>
            <a:off x="411480" y="1920240"/>
            <a:ext cx="5303520" cy="201168"/>
          </a:xfrm>
          <a:prstGeom prst="rect">
            <a:avLst/>
          </a:prstGeom>
          <a:noFill/>
        </p:spPr>
        <p:txBody>
          <a:bodyPr wrap="square">
            <a:spAutoFit/>
          </a:bodyPr>
          <a:lstStyle/>
          <a:p>
            <a:pPr algn="l"/>
            <a:r>
              <a:rPr sz="900" b="1" i="0">
                <a:solidFill>
                  <a:srgbClr val="2C3E50"/>
                </a:solidFill>
              </a:rPr>
              <a:t>Contractor Proposal:</a:t>
            </a:r>
          </a:p>
        </p:txBody>
      </p:sp>
      <p:sp>
        <p:nvSpPr>
          <p:cNvPr id="16" name="TextBox 15"/>
          <p:cNvSpPr txBox="1"/>
          <p:nvPr/>
        </p:nvSpPr>
        <p:spPr>
          <a:xfrm>
            <a:off x="411480" y="2148840"/>
            <a:ext cx="5303520" cy="201168"/>
          </a:xfrm>
          <a:prstGeom prst="rect">
            <a:avLst/>
          </a:prstGeom>
          <a:noFill/>
        </p:spPr>
        <p:txBody>
          <a:bodyPr wrap="square">
            <a:spAutoFit/>
          </a:bodyPr>
          <a:lstStyle/>
          <a:p>
            <a:pPr algn="l"/>
            <a:r>
              <a:rPr sz="900" b="0" i="0">
                <a:solidFill>
                  <a:srgbClr val="2C3E50"/>
                </a:solidFill>
              </a:rPr>
              <a:t>Route Ø110mm drainage pipe directly through a structural beam without a sleeve.</a:t>
            </a:r>
          </a:p>
        </p:txBody>
      </p:sp>
      <p:sp>
        <p:nvSpPr>
          <p:cNvPr id="17" name="TextBox 16"/>
          <p:cNvSpPr txBox="1"/>
          <p:nvPr/>
        </p:nvSpPr>
        <p:spPr>
          <a:xfrm>
            <a:off x="411480" y="2377440"/>
            <a:ext cx="5303520" cy="201168"/>
          </a:xfrm>
          <a:prstGeom prst="rect">
            <a:avLst/>
          </a:prstGeom>
          <a:noFill/>
        </p:spPr>
        <p:txBody>
          <a:bodyPr wrap="square">
            <a:spAutoFit/>
          </a:bodyPr>
          <a:lstStyle/>
          <a:p>
            <a:pPr algn="l"/>
            <a:r>
              <a:rPr sz="900" b="0" i="0">
                <a:solidFill>
                  <a:srgbClr val="2C3E50"/>
                </a:solidFill>
              </a:rPr>
              <a:t/>
            </a:r>
          </a:p>
        </p:txBody>
      </p:sp>
      <p:sp>
        <p:nvSpPr>
          <p:cNvPr id="18" name="TextBox 17"/>
          <p:cNvSpPr txBox="1"/>
          <p:nvPr/>
        </p:nvSpPr>
        <p:spPr>
          <a:xfrm>
            <a:off x="411480" y="2606040"/>
            <a:ext cx="5303520" cy="201168"/>
          </a:xfrm>
          <a:prstGeom prst="rect">
            <a:avLst/>
          </a:prstGeom>
          <a:noFill/>
        </p:spPr>
        <p:txBody>
          <a:bodyPr wrap="square">
            <a:spAutoFit/>
          </a:bodyPr>
          <a:lstStyle/>
          <a:p>
            <a:pPr algn="l"/>
            <a:r>
              <a:rPr sz="900" b="1" i="0">
                <a:solidFill>
                  <a:srgbClr val="2C3E50"/>
                </a:solidFill>
              </a:rPr>
              <a:t>Consultant Response — Point 1:</a:t>
            </a:r>
          </a:p>
        </p:txBody>
      </p:sp>
      <p:sp>
        <p:nvSpPr>
          <p:cNvPr id="19" name="TextBox 18"/>
          <p:cNvSpPr txBox="1"/>
          <p:nvPr/>
        </p:nvSpPr>
        <p:spPr>
          <a:xfrm>
            <a:off x="411480" y="2834640"/>
            <a:ext cx="5303520" cy="201168"/>
          </a:xfrm>
          <a:prstGeom prst="rect">
            <a:avLst/>
          </a:prstGeom>
          <a:noFill/>
        </p:spPr>
        <p:txBody>
          <a:bodyPr wrap="square">
            <a:spAutoFit/>
          </a:bodyPr>
          <a:lstStyle/>
          <a:p>
            <a:pPr algn="l"/>
            <a:r>
              <a:rPr sz="900" b="0" i="1">
                <a:solidFill>
                  <a:srgbClr val="E84C3C"/>
                </a:solidFill>
              </a:rPr>
              <a:t>"NOT ACCEPTED. 6" sleeve to be provided for 110 pipe inside beam. Follow the approved structural detail around provided sleeve."</a:t>
            </a:r>
          </a:p>
        </p:txBody>
      </p:sp>
      <p:sp>
        <p:nvSpPr>
          <p:cNvPr id="20" name="TextBox 19"/>
          <p:cNvSpPr txBox="1"/>
          <p:nvPr/>
        </p:nvSpPr>
        <p:spPr>
          <a:xfrm>
            <a:off x="411480" y="3063240"/>
            <a:ext cx="5303520" cy="201168"/>
          </a:xfrm>
          <a:prstGeom prst="rect">
            <a:avLst/>
          </a:prstGeom>
          <a:noFill/>
        </p:spPr>
        <p:txBody>
          <a:bodyPr wrap="square">
            <a:spAutoFit/>
          </a:bodyPr>
          <a:lstStyle/>
          <a:p>
            <a:pPr algn="l"/>
            <a:r>
              <a:rPr sz="900" b="0" i="0">
                <a:solidFill>
                  <a:srgbClr val="2C3E50"/>
                </a:solidFill>
              </a:rPr>
              <a:t/>
            </a:r>
          </a:p>
        </p:txBody>
      </p:sp>
      <p:sp>
        <p:nvSpPr>
          <p:cNvPr id="21" name="TextBox 20"/>
          <p:cNvSpPr txBox="1"/>
          <p:nvPr/>
        </p:nvSpPr>
        <p:spPr>
          <a:xfrm>
            <a:off x="411480" y="3291840"/>
            <a:ext cx="5303520" cy="201168"/>
          </a:xfrm>
          <a:prstGeom prst="rect">
            <a:avLst/>
          </a:prstGeom>
          <a:noFill/>
        </p:spPr>
        <p:txBody>
          <a:bodyPr wrap="square">
            <a:spAutoFit/>
          </a:bodyPr>
          <a:lstStyle/>
          <a:p>
            <a:pPr algn="l"/>
            <a:r>
              <a:rPr sz="900" b="1" i="0">
                <a:solidFill>
                  <a:srgbClr val="2C3E50"/>
                </a:solidFill>
              </a:rPr>
              <a:t>Consultant Response — Point 2:</a:t>
            </a:r>
          </a:p>
        </p:txBody>
      </p:sp>
      <p:sp>
        <p:nvSpPr>
          <p:cNvPr id="22" name="TextBox 21"/>
          <p:cNvSpPr txBox="1"/>
          <p:nvPr/>
        </p:nvSpPr>
        <p:spPr>
          <a:xfrm>
            <a:off x="411480" y="3520440"/>
            <a:ext cx="5303520" cy="201168"/>
          </a:xfrm>
          <a:prstGeom prst="rect">
            <a:avLst/>
          </a:prstGeom>
          <a:noFill/>
        </p:spPr>
        <p:txBody>
          <a:bodyPr wrap="square">
            <a:spAutoFit/>
          </a:bodyPr>
          <a:lstStyle/>
          <a:p>
            <a:pPr algn="l"/>
            <a:r>
              <a:rPr sz="900" b="0" i="1">
                <a:solidFill>
                  <a:srgbClr val="E84C3C"/>
                </a:solidFill>
              </a:rPr>
              <a:t>"NOT ACCEPTED. 6" sleeve to be provided near the proposal for 110 pipe inside beam. Follow the approved structural detail around provided sleeve."</a:t>
            </a:r>
          </a:p>
        </p:txBody>
      </p:sp>
      <p:sp>
        <p:nvSpPr>
          <p:cNvPr id="23" name="TextBox 22"/>
          <p:cNvSpPr txBox="1"/>
          <p:nvPr/>
        </p:nvSpPr>
        <p:spPr>
          <a:xfrm>
            <a:off x="411480" y="3749039"/>
            <a:ext cx="5303520" cy="201168"/>
          </a:xfrm>
          <a:prstGeom prst="rect">
            <a:avLst/>
          </a:prstGeom>
          <a:noFill/>
        </p:spPr>
        <p:txBody>
          <a:bodyPr wrap="square">
            <a:spAutoFit/>
          </a:bodyPr>
          <a:lstStyle/>
          <a:p>
            <a:pPr algn="l"/>
            <a:r>
              <a:rPr sz="900" b="0" i="0">
                <a:solidFill>
                  <a:srgbClr val="2C3E50"/>
                </a:solidFill>
              </a:rPr>
              <a:t/>
            </a:r>
          </a:p>
        </p:txBody>
      </p:sp>
      <p:sp>
        <p:nvSpPr>
          <p:cNvPr id="24" name="TextBox 23"/>
          <p:cNvSpPr txBox="1"/>
          <p:nvPr/>
        </p:nvSpPr>
        <p:spPr>
          <a:xfrm>
            <a:off x="411480" y="3977639"/>
            <a:ext cx="5303520" cy="201168"/>
          </a:xfrm>
          <a:prstGeom prst="rect">
            <a:avLst/>
          </a:prstGeom>
          <a:noFill/>
        </p:spPr>
        <p:txBody>
          <a:bodyPr wrap="square">
            <a:spAutoFit/>
          </a:bodyPr>
          <a:lstStyle/>
          <a:p>
            <a:pPr algn="l"/>
            <a:r>
              <a:rPr sz="900" b="1" i="0">
                <a:solidFill>
                  <a:srgbClr val="2C3E50"/>
                </a:solidFill>
              </a:rPr>
              <a:t>Pattern Risk:</a:t>
            </a:r>
          </a:p>
        </p:txBody>
      </p:sp>
      <p:sp>
        <p:nvSpPr>
          <p:cNvPr id="25" name="TextBox 24"/>
          <p:cNvSpPr txBox="1"/>
          <p:nvPr/>
        </p:nvSpPr>
        <p:spPr>
          <a:xfrm>
            <a:off x="411480" y="4206240"/>
            <a:ext cx="5303520" cy="201168"/>
          </a:xfrm>
          <a:prstGeom prst="rect">
            <a:avLst/>
          </a:prstGeom>
          <a:noFill/>
        </p:spPr>
        <p:txBody>
          <a:bodyPr wrap="square">
            <a:spAutoFit/>
          </a:bodyPr>
          <a:lstStyle/>
          <a:p>
            <a:pPr algn="l"/>
            <a:r>
              <a:rPr sz="900" b="0" i="0">
                <a:solidFill>
                  <a:srgbClr val="2C3E50"/>
                </a:solidFill>
              </a:rPr>
              <a:t>Similar non-compliant proposals exist at ARC_057, ARC_058, and ARC_059 — a systemic issue across multiple floors.</a:t>
            </a:r>
          </a:p>
        </p:txBody>
      </p:sp>
      <p:sp>
        <p:nvSpPr>
          <p:cNvPr id="26" name="Rectangle 25"/>
          <p:cNvSpPr/>
          <p:nvPr/>
        </p:nvSpPr>
        <p:spPr>
          <a:xfrm>
            <a:off x="5989320" y="1572768"/>
            <a:ext cx="592531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60" y="1591056"/>
            <a:ext cx="5742432" cy="237744"/>
          </a:xfrm>
          <a:prstGeom prst="rect">
            <a:avLst/>
          </a:prstGeom>
          <a:noFill/>
        </p:spPr>
        <p:txBody>
          <a:bodyPr wrap="square">
            <a:spAutoFit/>
          </a:bodyPr>
          <a:lstStyle/>
          <a:p>
            <a:pPr algn="l"/>
            <a:r>
              <a:rPr sz="900" b="1" i="0">
                <a:solidFill>
                  <a:srgbClr val="FFFFFF"/>
                </a:solidFill>
              </a:rPr>
              <a:t>RISK &amp; REQUIRED ACTION</a:t>
            </a:r>
          </a:p>
        </p:txBody>
      </p:sp>
      <p:sp>
        <p:nvSpPr>
          <p:cNvPr id="28" name="Rectangle 27"/>
          <p:cNvSpPr/>
          <p:nvPr/>
        </p:nvSpPr>
        <p:spPr>
          <a:xfrm>
            <a:off x="6035040" y="1920240"/>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44768" y="1956816"/>
            <a:ext cx="2560320" cy="237744"/>
          </a:xfrm>
          <a:prstGeom prst="rect">
            <a:avLst/>
          </a:prstGeom>
          <a:noFill/>
        </p:spPr>
        <p:txBody>
          <a:bodyPr wrap="square">
            <a:spAutoFit/>
          </a:bodyPr>
          <a:lstStyle/>
          <a:p>
            <a:pPr algn="l"/>
            <a:r>
              <a:rPr sz="900" b="1" i="0">
                <a:solidFill>
                  <a:srgbClr val="2C3E50"/>
                </a:solidFill>
              </a:rPr>
              <a:t>Schedule Risk</a:t>
            </a:r>
          </a:p>
        </p:txBody>
      </p:sp>
      <p:sp>
        <p:nvSpPr>
          <p:cNvPr id="30" name="TextBox 29"/>
          <p:cNvSpPr txBox="1"/>
          <p:nvPr/>
        </p:nvSpPr>
        <p:spPr>
          <a:xfrm>
            <a:off x="8732520" y="1956816"/>
            <a:ext cx="3017520" cy="237744"/>
          </a:xfrm>
          <a:prstGeom prst="rect">
            <a:avLst/>
          </a:prstGeom>
          <a:noFill/>
        </p:spPr>
        <p:txBody>
          <a:bodyPr wrap="square">
            <a:spAutoFit/>
          </a:bodyPr>
          <a:lstStyle/>
          <a:p>
            <a:pPr algn="l"/>
            <a:r>
              <a:rPr sz="900" b="1" i="0">
                <a:solidFill>
                  <a:srgbClr val="C0392B"/>
                </a:solidFill>
              </a:rPr>
              <a:t>MEDIUM-HIGH</a:t>
            </a:r>
          </a:p>
        </p:txBody>
      </p:sp>
      <p:sp>
        <p:nvSpPr>
          <p:cNvPr id="31" name="Rectangle 30"/>
          <p:cNvSpPr/>
          <p:nvPr/>
        </p:nvSpPr>
        <p:spPr>
          <a:xfrm>
            <a:off x="6035040" y="2267712"/>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44768" y="2304288"/>
            <a:ext cx="2560320" cy="237744"/>
          </a:xfrm>
          <a:prstGeom prst="rect">
            <a:avLst/>
          </a:prstGeom>
          <a:noFill/>
        </p:spPr>
        <p:txBody>
          <a:bodyPr wrap="square">
            <a:spAutoFit/>
          </a:bodyPr>
          <a:lstStyle/>
          <a:p>
            <a:pPr algn="l"/>
            <a:r>
              <a:rPr sz="900" b="1" i="0">
                <a:solidFill>
                  <a:srgbClr val="2C3E50"/>
                </a:solidFill>
              </a:rPr>
              <a:t>Cost Risk</a:t>
            </a:r>
          </a:p>
        </p:txBody>
      </p:sp>
      <p:sp>
        <p:nvSpPr>
          <p:cNvPr id="33" name="TextBox 32"/>
          <p:cNvSpPr txBox="1"/>
          <p:nvPr/>
        </p:nvSpPr>
        <p:spPr>
          <a:xfrm>
            <a:off x="8732520" y="2304288"/>
            <a:ext cx="3017520" cy="237744"/>
          </a:xfrm>
          <a:prstGeom prst="rect">
            <a:avLst/>
          </a:prstGeom>
          <a:noFill/>
        </p:spPr>
        <p:txBody>
          <a:bodyPr wrap="square">
            <a:spAutoFit/>
          </a:bodyPr>
          <a:lstStyle/>
          <a:p>
            <a:pPr algn="l"/>
            <a:r>
              <a:rPr sz="900" b="1" i="0">
                <a:solidFill>
                  <a:srgbClr val="F39C12"/>
                </a:solidFill>
              </a:rPr>
              <a:t>MEDIUM</a:t>
            </a:r>
          </a:p>
        </p:txBody>
      </p:sp>
      <p:sp>
        <p:nvSpPr>
          <p:cNvPr id="34" name="Rectangle 33"/>
          <p:cNvSpPr/>
          <p:nvPr/>
        </p:nvSpPr>
        <p:spPr>
          <a:xfrm>
            <a:off x="6035040" y="2615184"/>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2651760"/>
            <a:ext cx="2560320" cy="237744"/>
          </a:xfrm>
          <a:prstGeom prst="rect">
            <a:avLst/>
          </a:prstGeom>
          <a:noFill/>
        </p:spPr>
        <p:txBody>
          <a:bodyPr wrap="square">
            <a:spAutoFit/>
          </a:bodyPr>
          <a:lstStyle/>
          <a:p>
            <a:pPr algn="l"/>
            <a:r>
              <a:rPr sz="900" b="1" i="0">
                <a:solidFill>
                  <a:srgbClr val="2C3E50"/>
                </a:solidFill>
              </a:rPr>
              <a:t>Re-submission Timeline</a:t>
            </a:r>
          </a:p>
        </p:txBody>
      </p:sp>
      <p:sp>
        <p:nvSpPr>
          <p:cNvPr id="36" name="TextBox 35"/>
          <p:cNvSpPr txBox="1"/>
          <p:nvPr/>
        </p:nvSpPr>
        <p:spPr>
          <a:xfrm>
            <a:off x="8732520" y="2651760"/>
            <a:ext cx="3017520" cy="237744"/>
          </a:xfrm>
          <a:prstGeom prst="rect">
            <a:avLst/>
          </a:prstGeom>
          <a:noFill/>
        </p:spPr>
        <p:txBody>
          <a:bodyPr wrap="square">
            <a:spAutoFit/>
          </a:bodyPr>
          <a:lstStyle/>
          <a:p>
            <a:pPr algn="l"/>
            <a:r>
              <a:rPr sz="900" b="1" i="0">
                <a:solidFill>
                  <a:srgbClr val="F39C12"/>
                </a:solidFill>
              </a:rPr>
              <a:t>7 days</a:t>
            </a:r>
          </a:p>
        </p:txBody>
      </p:sp>
      <p:sp>
        <p:nvSpPr>
          <p:cNvPr id="37" name="Rectangle 36"/>
          <p:cNvSpPr/>
          <p:nvPr/>
        </p:nvSpPr>
        <p:spPr>
          <a:xfrm>
            <a:off x="6035040" y="2962656"/>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2999232"/>
            <a:ext cx="2560320" cy="237744"/>
          </a:xfrm>
          <a:prstGeom prst="rect">
            <a:avLst/>
          </a:prstGeom>
          <a:noFill/>
        </p:spPr>
        <p:txBody>
          <a:bodyPr wrap="square">
            <a:spAutoFit/>
          </a:bodyPr>
          <a:lstStyle/>
          <a:p>
            <a:pPr algn="l"/>
            <a:r>
              <a:rPr sz="900" b="1" i="0">
                <a:solidFill>
                  <a:srgbClr val="2C3E50"/>
                </a:solidFill>
              </a:rPr>
              <a:t>Delay per Floor</a:t>
            </a:r>
          </a:p>
        </p:txBody>
      </p:sp>
      <p:sp>
        <p:nvSpPr>
          <p:cNvPr id="39" name="TextBox 38"/>
          <p:cNvSpPr txBox="1"/>
          <p:nvPr/>
        </p:nvSpPr>
        <p:spPr>
          <a:xfrm>
            <a:off x="8732520" y="2999232"/>
            <a:ext cx="3017520" cy="237744"/>
          </a:xfrm>
          <a:prstGeom prst="rect">
            <a:avLst/>
          </a:prstGeom>
          <a:noFill/>
        </p:spPr>
        <p:txBody>
          <a:bodyPr wrap="square">
            <a:spAutoFit/>
          </a:bodyPr>
          <a:lstStyle/>
          <a:p>
            <a:pPr algn="l"/>
            <a:r>
              <a:rPr sz="900" b="1" i="0">
                <a:solidFill>
                  <a:srgbClr val="F39C12"/>
                </a:solidFill>
              </a:rPr>
              <a:t>2 – 4 weeks</a:t>
            </a:r>
          </a:p>
        </p:txBody>
      </p:sp>
      <p:sp>
        <p:nvSpPr>
          <p:cNvPr id="40" name="Rectangle 39"/>
          <p:cNvSpPr/>
          <p:nvPr/>
        </p:nvSpPr>
        <p:spPr>
          <a:xfrm>
            <a:off x="5989320" y="3401568"/>
            <a:ext cx="5925312"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0760" y="3438144"/>
            <a:ext cx="5742432" cy="201168"/>
          </a:xfrm>
          <a:prstGeom prst="rect">
            <a:avLst/>
          </a:prstGeom>
          <a:noFill/>
        </p:spPr>
        <p:txBody>
          <a:bodyPr wrap="square">
            <a:spAutoFit/>
          </a:bodyPr>
          <a:lstStyle/>
          <a:p>
            <a:pPr algn="l"/>
            <a:r>
              <a:rPr sz="900" b="1" i="0">
                <a:solidFill>
                  <a:srgbClr val="FFFFFF"/>
                </a:solidFill>
              </a:rPr>
              <a:t>WHAT MUST BE SUBMITTED</a:t>
            </a:r>
          </a:p>
        </p:txBody>
      </p:sp>
      <p:sp>
        <p:nvSpPr>
          <p:cNvPr id="42" name="TextBox 41"/>
          <p:cNvSpPr txBox="1"/>
          <p:nvPr/>
        </p:nvSpPr>
        <p:spPr>
          <a:xfrm>
            <a:off x="6080760" y="3712463"/>
            <a:ext cx="5669280" cy="256032"/>
          </a:xfrm>
          <a:prstGeom prst="rect">
            <a:avLst/>
          </a:prstGeom>
          <a:noFill/>
        </p:spPr>
        <p:txBody>
          <a:bodyPr wrap="square">
            <a:spAutoFit/>
          </a:bodyPr>
          <a:lstStyle/>
          <a:p>
            <a:pPr algn="l"/>
            <a:r>
              <a:rPr sz="900" b="0" i="0">
                <a:solidFill>
                  <a:srgbClr val="2C3E50"/>
                </a:solidFill>
              </a:rPr>
              <a:t>1.  Revised shop drawings showing 6" sleeve embedded in beam at correct location.</a:t>
            </a:r>
          </a:p>
        </p:txBody>
      </p:sp>
      <p:sp>
        <p:nvSpPr>
          <p:cNvPr id="43" name="TextBox 42"/>
          <p:cNvSpPr txBox="1"/>
          <p:nvPr/>
        </p:nvSpPr>
        <p:spPr>
          <a:xfrm>
            <a:off x="6080760" y="3986783"/>
            <a:ext cx="5669280" cy="256032"/>
          </a:xfrm>
          <a:prstGeom prst="rect">
            <a:avLst/>
          </a:prstGeom>
          <a:noFill/>
        </p:spPr>
        <p:txBody>
          <a:bodyPr wrap="square">
            <a:spAutoFit/>
          </a:bodyPr>
          <a:lstStyle/>
          <a:p>
            <a:pPr algn="l"/>
            <a:r>
              <a:rPr sz="900" b="0" i="0">
                <a:solidFill>
                  <a:srgbClr val="2C3E50"/>
                </a:solidFill>
              </a:rPr>
              <a:t>2.  Structural reinforcement detail around sleeve (pre-approved standard detail).</a:t>
            </a:r>
          </a:p>
        </p:txBody>
      </p:sp>
      <p:sp>
        <p:nvSpPr>
          <p:cNvPr id="44" name="TextBox 43"/>
          <p:cNvSpPr txBox="1"/>
          <p:nvPr/>
        </p:nvSpPr>
        <p:spPr>
          <a:xfrm>
            <a:off x="6080760" y="4261103"/>
            <a:ext cx="5669280" cy="256032"/>
          </a:xfrm>
          <a:prstGeom prst="rect">
            <a:avLst/>
          </a:prstGeom>
          <a:noFill/>
        </p:spPr>
        <p:txBody>
          <a:bodyPr wrap="square">
            <a:spAutoFit/>
          </a:bodyPr>
          <a:lstStyle/>
          <a:p>
            <a:pPr algn="l"/>
            <a:r>
              <a:rPr sz="900" b="0" i="0">
                <a:solidFill>
                  <a:srgbClr val="2C3E50"/>
                </a:solidFill>
              </a:rPr>
              <a:t>3.  MEP sub-contractor sign-off confirming pipe routing remains functional.</a:t>
            </a:r>
          </a:p>
        </p:txBody>
      </p:sp>
      <p:sp>
        <p:nvSpPr>
          <p:cNvPr id="45" name="TextBox 44"/>
          <p:cNvSpPr txBox="1"/>
          <p:nvPr/>
        </p:nvSpPr>
        <p:spPr>
          <a:xfrm>
            <a:off x="6080760" y="4535423"/>
            <a:ext cx="5669280" cy="256032"/>
          </a:xfrm>
          <a:prstGeom prst="rect">
            <a:avLst/>
          </a:prstGeom>
          <a:noFill/>
        </p:spPr>
        <p:txBody>
          <a:bodyPr wrap="square">
            <a:spAutoFit/>
          </a:bodyPr>
          <a:lstStyle/>
          <a:p>
            <a:pPr algn="l"/>
            <a:r>
              <a:rPr sz="900" b="0" i="0">
                <a:solidFill>
                  <a:srgbClr val="2C3E50"/>
                </a:solidFill>
              </a:rPr>
              <a:t>4.  Audited check of ARC_057, ARC_058, ARC_059 for identical violations — </a:t>
            </a:r>
          </a:p>
        </p:txBody>
      </p:sp>
      <p:sp>
        <p:nvSpPr>
          <p:cNvPr id="46" name="TextBox 45"/>
          <p:cNvSpPr txBox="1"/>
          <p:nvPr/>
        </p:nvSpPr>
        <p:spPr>
          <a:xfrm>
            <a:off x="6080760" y="4809743"/>
            <a:ext cx="5669280" cy="256032"/>
          </a:xfrm>
          <a:prstGeom prst="rect">
            <a:avLst/>
          </a:prstGeom>
          <a:noFill/>
        </p:spPr>
        <p:txBody>
          <a:bodyPr wrap="square">
            <a:spAutoFit/>
          </a:bodyPr>
          <a:lstStyle/>
          <a:p>
            <a:pPr algn="l"/>
            <a:r>
              <a:rPr sz="900" b="0" i="0">
                <a:solidFill>
                  <a:srgbClr val="2C3E50"/>
                </a:solidFill>
              </a:rPr>
              <a:t>     batch re-submission recommended to avoid repeat cycles.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Critical RFI #3 — ARC_CRC_KA_058</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Floors 9F &amp; 10F  |  STATUS: ⚠️ CONDITIONAL — 4-DOCUMENT PACKAGE REQUIRED</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97280"/>
            <a:ext cx="11640312" cy="38404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33856"/>
            <a:ext cx="11338560" cy="320040"/>
          </a:xfrm>
          <a:prstGeom prst="rect">
            <a:avLst/>
          </a:prstGeom>
          <a:noFill/>
        </p:spPr>
        <p:txBody>
          <a:bodyPr wrap="square">
            <a:spAutoFit/>
          </a:bodyPr>
          <a:lstStyle/>
          <a:p>
            <a:pPr algn="ctr"/>
            <a:r>
              <a:rPr sz="1000" b="1" i="0">
                <a:solidFill>
                  <a:srgbClr val="FFFFFF"/>
                </a:solidFill>
              </a:rPr>
              <a:t>⚠️  STRUCTURAL DROP PANEL PENETRATIONS — MULTI-PARTY SUBMISSION BOTTLENECK — 4–8 WEEK DELAY RISK</a:t>
            </a:r>
          </a:p>
        </p:txBody>
      </p:sp>
      <p:sp>
        <p:nvSpPr>
          <p:cNvPr id="11" name="Rectangle 10"/>
          <p:cNvSpPr/>
          <p:nvPr/>
        </p:nvSpPr>
        <p:spPr>
          <a:xfrm>
            <a:off x="274320" y="1572768"/>
            <a:ext cx="5577840" cy="44805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89320" y="1572768"/>
            <a:ext cx="5925312" cy="4480560"/>
          </a:xfrm>
          <a:prstGeom prst="rect">
            <a:avLst/>
          </a:prstGeom>
          <a:solidFill>
            <a:srgbClr val="FFFFFF"/>
          </a:solidFill>
          <a:ln w="1270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572768"/>
            <a:ext cx="5577840"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591056"/>
            <a:ext cx="5394960" cy="237744"/>
          </a:xfrm>
          <a:prstGeom prst="rect">
            <a:avLst/>
          </a:prstGeom>
          <a:noFill/>
        </p:spPr>
        <p:txBody>
          <a:bodyPr wrap="square">
            <a:spAutoFit/>
          </a:bodyPr>
          <a:lstStyle/>
          <a:p>
            <a:pPr algn="l"/>
            <a:r>
              <a:rPr sz="900" b="1" i="0">
                <a:solidFill>
                  <a:srgbClr val="FFFFFF"/>
                </a:solidFill>
              </a:rPr>
              <a:t>ISSUE DETAIL</a:t>
            </a:r>
          </a:p>
        </p:txBody>
      </p:sp>
      <p:sp>
        <p:nvSpPr>
          <p:cNvPr id="15" name="TextBox 14"/>
          <p:cNvSpPr txBox="1"/>
          <p:nvPr/>
        </p:nvSpPr>
        <p:spPr>
          <a:xfrm>
            <a:off x="411480" y="1920240"/>
            <a:ext cx="5303520" cy="182880"/>
          </a:xfrm>
          <a:prstGeom prst="rect">
            <a:avLst/>
          </a:prstGeom>
          <a:noFill/>
        </p:spPr>
        <p:txBody>
          <a:bodyPr wrap="square">
            <a:spAutoFit/>
          </a:bodyPr>
          <a:lstStyle/>
          <a:p>
            <a:pPr algn="l"/>
            <a:r>
              <a:rPr sz="900" b="1" i="0">
                <a:solidFill>
                  <a:srgbClr val="2C3E50"/>
                </a:solidFill>
              </a:rPr>
              <a:t>Location:</a:t>
            </a:r>
          </a:p>
        </p:txBody>
      </p:sp>
      <p:sp>
        <p:nvSpPr>
          <p:cNvPr id="16" name="TextBox 15"/>
          <p:cNvSpPr txBox="1"/>
          <p:nvPr/>
        </p:nvSpPr>
        <p:spPr>
          <a:xfrm>
            <a:off x="411480" y="2112264"/>
            <a:ext cx="5303520" cy="182880"/>
          </a:xfrm>
          <a:prstGeom prst="rect">
            <a:avLst/>
          </a:prstGeom>
          <a:noFill/>
        </p:spPr>
        <p:txBody>
          <a:bodyPr wrap="square">
            <a:spAutoFit/>
          </a:bodyPr>
          <a:lstStyle/>
          <a:p>
            <a:pPr algn="l"/>
            <a:r>
              <a:rPr sz="900" b="0" i="0">
                <a:solidFill>
                  <a:srgbClr val="2C3E50"/>
                </a:solidFill>
              </a:rPr>
              <a:t>Structural drop panel at 9F/10F — the most critical load-bearing zone in a PT flat plate.</a:t>
            </a:r>
          </a:p>
        </p:txBody>
      </p:sp>
      <p:sp>
        <p:nvSpPr>
          <p:cNvPr id="17" name="TextBox 16"/>
          <p:cNvSpPr txBox="1"/>
          <p:nvPr/>
        </p:nvSpPr>
        <p:spPr>
          <a:xfrm>
            <a:off x="411480" y="2304288"/>
            <a:ext cx="5303520" cy="182880"/>
          </a:xfrm>
          <a:prstGeom prst="rect">
            <a:avLst/>
          </a:prstGeom>
          <a:noFill/>
        </p:spPr>
        <p:txBody>
          <a:bodyPr wrap="square">
            <a:spAutoFit/>
          </a:bodyPr>
          <a:lstStyle/>
          <a:p>
            <a:pPr algn="l"/>
            <a:r>
              <a:rPr sz="900" b="0" i="0">
                <a:solidFill>
                  <a:srgbClr val="2C3E50"/>
                </a:solidFill>
              </a:rPr>
              <a:t/>
            </a:r>
          </a:p>
        </p:txBody>
      </p:sp>
      <p:sp>
        <p:nvSpPr>
          <p:cNvPr id="18" name="TextBox 17"/>
          <p:cNvSpPr txBox="1"/>
          <p:nvPr/>
        </p:nvSpPr>
        <p:spPr>
          <a:xfrm>
            <a:off x="411480" y="2496312"/>
            <a:ext cx="5303520" cy="182880"/>
          </a:xfrm>
          <a:prstGeom prst="rect">
            <a:avLst/>
          </a:prstGeom>
          <a:noFill/>
        </p:spPr>
        <p:txBody>
          <a:bodyPr wrap="square">
            <a:spAutoFit/>
          </a:bodyPr>
          <a:lstStyle/>
          <a:p>
            <a:pPr algn="l"/>
            <a:r>
              <a:rPr sz="900" b="1" i="0">
                <a:solidFill>
                  <a:srgbClr val="2C3E50"/>
                </a:solidFill>
              </a:rPr>
              <a:t>Pipe Penetrations Required:</a:t>
            </a:r>
          </a:p>
        </p:txBody>
      </p:sp>
      <p:sp>
        <p:nvSpPr>
          <p:cNvPr id="19" name="TextBox 18"/>
          <p:cNvSpPr txBox="1"/>
          <p:nvPr/>
        </p:nvSpPr>
        <p:spPr>
          <a:xfrm>
            <a:off x="411480" y="2688336"/>
            <a:ext cx="5303520" cy="182880"/>
          </a:xfrm>
          <a:prstGeom prst="rect">
            <a:avLst/>
          </a:prstGeom>
          <a:noFill/>
        </p:spPr>
        <p:txBody>
          <a:bodyPr wrap="square">
            <a:spAutoFit/>
          </a:bodyPr>
          <a:lstStyle/>
          <a:p>
            <a:pPr algn="l"/>
            <a:r>
              <a:rPr sz="900" b="0" i="0">
                <a:solidFill>
                  <a:srgbClr val="2C3E50"/>
                </a:solidFill>
              </a:rPr>
              <a:t>  •  Ø160 Soil Pipe  →  8" sleeve</a:t>
            </a:r>
          </a:p>
        </p:txBody>
      </p:sp>
      <p:sp>
        <p:nvSpPr>
          <p:cNvPr id="20" name="TextBox 19"/>
          <p:cNvSpPr txBox="1"/>
          <p:nvPr/>
        </p:nvSpPr>
        <p:spPr>
          <a:xfrm>
            <a:off x="411480" y="2880360"/>
            <a:ext cx="5303520" cy="182880"/>
          </a:xfrm>
          <a:prstGeom prst="rect">
            <a:avLst/>
          </a:prstGeom>
          <a:noFill/>
        </p:spPr>
        <p:txBody>
          <a:bodyPr wrap="square">
            <a:spAutoFit/>
          </a:bodyPr>
          <a:lstStyle/>
          <a:p>
            <a:pPr algn="l"/>
            <a:r>
              <a:rPr sz="900" b="0" i="0">
                <a:solidFill>
                  <a:srgbClr val="2C3E50"/>
                </a:solidFill>
              </a:rPr>
              <a:t>  •  Ø110 Vent Pipe  →  6" sleeve</a:t>
            </a:r>
          </a:p>
        </p:txBody>
      </p:sp>
      <p:sp>
        <p:nvSpPr>
          <p:cNvPr id="21" name="TextBox 20"/>
          <p:cNvSpPr txBox="1"/>
          <p:nvPr/>
        </p:nvSpPr>
        <p:spPr>
          <a:xfrm>
            <a:off x="411480" y="3072384"/>
            <a:ext cx="5303520" cy="182880"/>
          </a:xfrm>
          <a:prstGeom prst="rect">
            <a:avLst/>
          </a:prstGeom>
          <a:noFill/>
        </p:spPr>
        <p:txBody>
          <a:bodyPr wrap="square">
            <a:spAutoFit/>
          </a:bodyPr>
          <a:lstStyle/>
          <a:p>
            <a:pPr algn="l"/>
            <a:r>
              <a:rPr sz="900" b="0" i="0">
                <a:solidFill>
                  <a:srgbClr val="2C3E50"/>
                </a:solidFill>
              </a:rPr>
              <a:t>  •  Ø160 Waste Pipe  →  8" sleeve</a:t>
            </a:r>
          </a:p>
        </p:txBody>
      </p:sp>
      <p:sp>
        <p:nvSpPr>
          <p:cNvPr id="22" name="TextBox 21"/>
          <p:cNvSpPr txBox="1"/>
          <p:nvPr/>
        </p:nvSpPr>
        <p:spPr>
          <a:xfrm>
            <a:off x="411480" y="3264408"/>
            <a:ext cx="5303520" cy="182880"/>
          </a:xfrm>
          <a:prstGeom prst="rect">
            <a:avLst/>
          </a:prstGeom>
          <a:noFill/>
        </p:spPr>
        <p:txBody>
          <a:bodyPr wrap="square">
            <a:spAutoFit/>
          </a:bodyPr>
          <a:lstStyle/>
          <a:p>
            <a:pPr algn="l"/>
            <a:r>
              <a:rPr sz="900" b="0" i="0">
                <a:solidFill>
                  <a:srgbClr val="2C3E50"/>
                </a:solidFill>
              </a:rPr>
              <a:t/>
            </a:r>
          </a:p>
        </p:txBody>
      </p:sp>
      <p:sp>
        <p:nvSpPr>
          <p:cNvPr id="23" name="TextBox 22"/>
          <p:cNvSpPr txBox="1"/>
          <p:nvPr/>
        </p:nvSpPr>
        <p:spPr>
          <a:xfrm>
            <a:off x="411480" y="3456432"/>
            <a:ext cx="5303520" cy="182880"/>
          </a:xfrm>
          <a:prstGeom prst="rect">
            <a:avLst/>
          </a:prstGeom>
          <a:noFill/>
        </p:spPr>
        <p:txBody>
          <a:bodyPr wrap="square">
            <a:spAutoFit/>
          </a:bodyPr>
          <a:lstStyle/>
          <a:p>
            <a:pPr algn="l"/>
            <a:r>
              <a:rPr sz="900" b="1" i="0">
                <a:solidFill>
                  <a:srgbClr val="2C3E50"/>
                </a:solidFill>
              </a:rPr>
              <a:t>Consultant Condition (not yet approved):</a:t>
            </a:r>
          </a:p>
        </p:txBody>
      </p:sp>
      <p:sp>
        <p:nvSpPr>
          <p:cNvPr id="24" name="TextBox 23"/>
          <p:cNvSpPr txBox="1"/>
          <p:nvPr/>
        </p:nvSpPr>
        <p:spPr>
          <a:xfrm>
            <a:off x="411480" y="3648456"/>
            <a:ext cx="5303520" cy="182880"/>
          </a:xfrm>
          <a:prstGeom prst="rect">
            <a:avLst/>
          </a:prstGeom>
          <a:noFill/>
        </p:spPr>
        <p:txBody>
          <a:bodyPr wrap="square">
            <a:spAutoFit/>
          </a:bodyPr>
          <a:lstStyle/>
          <a:p>
            <a:pPr algn="l"/>
            <a:r>
              <a:rPr sz="900" b="0" i="0">
                <a:solidFill>
                  <a:srgbClr val="2C3E50"/>
                </a:solidFill>
              </a:rPr>
              <a:t>A 4-document package must be submitted simultaneously by three separate parties:</a:t>
            </a:r>
          </a:p>
        </p:txBody>
      </p:sp>
      <p:sp>
        <p:nvSpPr>
          <p:cNvPr id="25" name="TextBox 24"/>
          <p:cNvSpPr txBox="1"/>
          <p:nvPr/>
        </p:nvSpPr>
        <p:spPr>
          <a:xfrm>
            <a:off x="411480" y="3840480"/>
            <a:ext cx="5303520" cy="182880"/>
          </a:xfrm>
          <a:prstGeom prst="rect">
            <a:avLst/>
          </a:prstGeom>
          <a:noFill/>
        </p:spPr>
        <p:txBody>
          <a:bodyPr wrap="square">
            <a:spAutoFit/>
          </a:bodyPr>
          <a:lstStyle/>
          <a:p>
            <a:pPr algn="l"/>
            <a:r>
              <a:rPr sz="900" b="0" i="0">
                <a:solidFill>
                  <a:srgbClr val="2C3E50"/>
                </a:solidFill>
              </a:rPr>
              <a:t>  1.  Tile layout drawing (Tiling Contractor)</a:t>
            </a:r>
          </a:p>
        </p:txBody>
      </p:sp>
      <p:sp>
        <p:nvSpPr>
          <p:cNvPr id="26" name="TextBox 25"/>
          <p:cNvSpPr txBox="1"/>
          <p:nvPr/>
        </p:nvSpPr>
        <p:spPr>
          <a:xfrm>
            <a:off x="411480" y="4032504"/>
            <a:ext cx="5303520" cy="182880"/>
          </a:xfrm>
          <a:prstGeom prst="rect">
            <a:avLst/>
          </a:prstGeom>
          <a:noFill/>
        </p:spPr>
        <p:txBody>
          <a:bodyPr wrap="square">
            <a:spAutoFit/>
          </a:bodyPr>
          <a:lstStyle/>
          <a:p>
            <a:pPr algn="l"/>
            <a:r>
              <a:rPr sz="900" b="0" i="0">
                <a:solidFill>
                  <a:srgbClr val="2C3E50"/>
                </a:solidFill>
              </a:rPr>
              <a:t>  2.  Distance from vertical elements (Structural Engineer)</a:t>
            </a:r>
          </a:p>
        </p:txBody>
      </p:sp>
      <p:sp>
        <p:nvSpPr>
          <p:cNvPr id="27" name="TextBox 26"/>
          <p:cNvSpPr txBox="1"/>
          <p:nvPr/>
        </p:nvSpPr>
        <p:spPr>
          <a:xfrm>
            <a:off x="411480" y="4224528"/>
            <a:ext cx="5303520" cy="182880"/>
          </a:xfrm>
          <a:prstGeom prst="rect">
            <a:avLst/>
          </a:prstGeom>
          <a:noFill/>
        </p:spPr>
        <p:txBody>
          <a:bodyPr wrap="square">
            <a:spAutoFit/>
          </a:bodyPr>
          <a:lstStyle/>
          <a:p>
            <a:pPr algn="l"/>
            <a:r>
              <a:rPr sz="900" b="0" i="0">
                <a:solidFill>
                  <a:srgbClr val="2C3E50"/>
                </a:solidFill>
              </a:rPr>
              <a:t>  3.  Structural sleeve reinforcement details (Structural Engineer)</a:t>
            </a:r>
          </a:p>
        </p:txBody>
      </p:sp>
      <p:sp>
        <p:nvSpPr>
          <p:cNvPr id="28" name="TextBox 27"/>
          <p:cNvSpPr txBox="1"/>
          <p:nvPr/>
        </p:nvSpPr>
        <p:spPr>
          <a:xfrm>
            <a:off x="411480" y="4416552"/>
            <a:ext cx="5303520" cy="182880"/>
          </a:xfrm>
          <a:prstGeom prst="rect">
            <a:avLst/>
          </a:prstGeom>
          <a:noFill/>
        </p:spPr>
        <p:txBody>
          <a:bodyPr wrap="square">
            <a:spAutoFit/>
          </a:bodyPr>
          <a:lstStyle/>
          <a:p>
            <a:pPr algn="l"/>
            <a:r>
              <a:rPr sz="900" b="0" i="0">
                <a:solidFill>
                  <a:srgbClr val="2C3E50"/>
                </a:solidFill>
              </a:rPr>
              <a:t>  4.  Final MEP pipe distribution (MEP Sub-contractor)</a:t>
            </a:r>
          </a:p>
        </p:txBody>
      </p:sp>
      <p:sp>
        <p:nvSpPr>
          <p:cNvPr id="29" name="TextBox 28"/>
          <p:cNvSpPr txBox="1"/>
          <p:nvPr/>
        </p:nvSpPr>
        <p:spPr>
          <a:xfrm>
            <a:off x="411480" y="4608576"/>
            <a:ext cx="5303520" cy="182880"/>
          </a:xfrm>
          <a:prstGeom prst="rect">
            <a:avLst/>
          </a:prstGeom>
          <a:noFill/>
        </p:spPr>
        <p:txBody>
          <a:bodyPr wrap="square">
            <a:spAutoFit/>
          </a:bodyPr>
          <a:lstStyle/>
          <a:p>
            <a:pPr algn="l"/>
            <a:r>
              <a:rPr sz="900" b="0" i="0">
                <a:solidFill>
                  <a:srgbClr val="2C3E50"/>
                </a:solidFill>
              </a:rPr>
              <a:t/>
            </a:r>
          </a:p>
        </p:txBody>
      </p:sp>
      <p:sp>
        <p:nvSpPr>
          <p:cNvPr id="30" name="TextBox 29"/>
          <p:cNvSpPr txBox="1"/>
          <p:nvPr/>
        </p:nvSpPr>
        <p:spPr>
          <a:xfrm>
            <a:off x="411480" y="4800600"/>
            <a:ext cx="5303520" cy="182880"/>
          </a:xfrm>
          <a:prstGeom prst="rect">
            <a:avLst/>
          </a:prstGeom>
          <a:noFill/>
        </p:spPr>
        <p:txBody>
          <a:bodyPr wrap="square">
            <a:spAutoFit/>
          </a:bodyPr>
          <a:lstStyle/>
          <a:p>
            <a:pPr algn="l"/>
            <a:r>
              <a:rPr sz="900" b="1" i="0">
                <a:solidFill>
                  <a:srgbClr val="2C3E50"/>
                </a:solidFill>
              </a:rPr>
              <a:t>Repeat Risk:</a:t>
            </a:r>
          </a:p>
        </p:txBody>
      </p:sp>
      <p:sp>
        <p:nvSpPr>
          <p:cNvPr id="31" name="TextBox 30"/>
          <p:cNvSpPr txBox="1"/>
          <p:nvPr/>
        </p:nvSpPr>
        <p:spPr>
          <a:xfrm>
            <a:off x="411480" y="4992624"/>
            <a:ext cx="5303520" cy="182880"/>
          </a:xfrm>
          <a:prstGeom prst="rect">
            <a:avLst/>
          </a:prstGeom>
          <a:noFill/>
        </p:spPr>
        <p:txBody>
          <a:bodyPr wrap="square">
            <a:spAutoFit/>
          </a:bodyPr>
          <a:lstStyle/>
          <a:p>
            <a:pPr algn="l"/>
            <a:r>
              <a:rPr sz="900" b="0" i="0">
                <a:solidFill>
                  <a:srgbClr val="2C3E50"/>
                </a:solidFill>
              </a:rPr>
              <a:t>Same issue exists at 7F, 8F, 11F, 12F (ARC_041, ARC_066, ARC_069).</a:t>
            </a:r>
          </a:p>
        </p:txBody>
      </p:sp>
      <p:sp>
        <p:nvSpPr>
          <p:cNvPr id="32" name="Rectangle 31"/>
          <p:cNvSpPr/>
          <p:nvPr/>
        </p:nvSpPr>
        <p:spPr>
          <a:xfrm>
            <a:off x="5989320" y="1572768"/>
            <a:ext cx="592531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0760" y="1591056"/>
            <a:ext cx="5742432" cy="237744"/>
          </a:xfrm>
          <a:prstGeom prst="rect">
            <a:avLst/>
          </a:prstGeom>
          <a:noFill/>
        </p:spPr>
        <p:txBody>
          <a:bodyPr wrap="square">
            <a:spAutoFit/>
          </a:bodyPr>
          <a:lstStyle/>
          <a:p>
            <a:pPr algn="l"/>
            <a:r>
              <a:rPr sz="900" b="1" i="0">
                <a:solidFill>
                  <a:srgbClr val="FFFFFF"/>
                </a:solidFill>
              </a:rPr>
              <a:t>RISK &amp; REQUIRED ACTION</a:t>
            </a:r>
          </a:p>
        </p:txBody>
      </p:sp>
      <p:sp>
        <p:nvSpPr>
          <p:cNvPr id="34" name="Rectangle 33"/>
          <p:cNvSpPr/>
          <p:nvPr/>
        </p:nvSpPr>
        <p:spPr>
          <a:xfrm>
            <a:off x="6035040" y="1920240"/>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956816"/>
            <a:ext cx="2377440" cy="237744"/>
          </a:xfrm>
          <a:prstGeom prst="rect">
            <a:avLst/>
          </a:prstGeom>
          <a:noFill/>
        </p:spPr>
        <p:txBody>
          <a:bodyPr wrap="square">
            <a:spAutoFit/>
          </a:bodyPr>
          <a:lstStyle/>
          <a:p>
            <a:pPr algn="l"/>
            <a:r>
              <a:rPr sz="900" b="1" i="0">
                <a:solidFill>
                  <a:srgbClr val="2C3E50"/>
                </a:solidFill>
              </a:rPr>
              <a:t>Schedule Risk</a:t>
            </a:r>
          </a:p>
        </p:txBody>
      </p:sp>
      <p:sp>
        <p:nvSpPr>
          <p:cNvPr id="36" name="TextBox 35"/>
          <p:cNvSpPr txBox="1"/>
          <p:nvPr/>
        </p:nvSpPr>
        <p:spPr>
          <a:xfrm>
            <a:off x="8549640" y="1956816"/>
            <a:ext cx="3200400" cy="237744"/>
          </a:xfrm>
          <a:prstGeom prst="rect">
            <a:avLst/>
          </a:prstGeom>
          <a:noFill/>
        </p:spPr>
        <p:txBody>
          <a:bodyPr wrap="square">
            <a:spAutoFit/>
          </a:bodyPr>
          <a:lstStyle/>
          <a:p>
            <a:pPr algn="l"/>
            <a:r>
              <a:rPr sz="900" b="1" i="0">
                <a:solidFill>
                  <a:srgbClr val="E84C3C"/>
                </a:solidFill>
              </a:rPr>
              <a:t>HIGH</a:t>
            </a:r>
          </a:p>
        </p:txBody>
      </p:sp>
      <p:sp>
        <p:nvSpPr>
          <p:cNvPr id="37" name="Rectangle 36"/>
          <p:cNvSpPr/>
          <p:nvPr/>
        </p:nvSpPr>
        <p:spPr>
          <a:xfrm>
            <a:off x="6035040" y="2267712"/>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2304288"/>
            <a:ext cx="2377440" cy="237744"/>
          </a:xfrm>
          <a:prstGeom prst="rect">
            <a:avLst/>
          </a:prstGeom>
          <a:noFill/>
        </p:spPr>
        <p:txBody>
          <a:bodyPr wrap="square">
            <a:spAutoFit/>
          </a:bodyPr>
          <a:lstStyle/>
          <a:p>
            <a:pPr algn="l"/>
            <a:r>
              <a:rPr sz="900" b="1" i="0">
                <a:solidFill>
                  <a:srgbClr val="2C3E50"/>
                </a:solidFill>
              </a:rPr>
              <a:t>Cost Risk</a:t>
            </a:r>
          </a:p>
        </p:txBody>
      </p:sp>
      <p:sp>
        <p:nvSpPr>
          <p:cNvPr id="39" name="TextBox 38"/>
          <p:cNvSpPr txBox="1"/>
          <p:nvPr/>
        </p:nvSpPr>
        <p:spPr>
          <a:xfrm>
            <a:off x="8549640" y="2304288"/>
            <a:ext cx="3200400" cy="237744"/>
          </a:xfrm>
          <a:prstGeom prst="rect">
            <a:avLst/>
          </a:prstGeom>
          <a:noFill/>
        </p:spPr>
        <p:txBody>
          <a:bodyPr wrap="square">
            <a:spAutoFit/>
          </a:bodyPr>
          <a:lstStyle/>
          <a:p>
            <a:pPr algn="l"/>
            <a:r>
              <a:rPr sz="900" b="1" i="0">
                <a:solidFill>
                  <a:srgbClr val="E84C3C"/>
                </a:solidFill>
              </a:rPr>
              <a:t>HIGH</a:t>
            </a:r>
          </a:p>
        </p:txBody>
      </p:sp>
      <p:sp>
        <p:nvSpPr>
          <p:cNvPr id="40" name="Rectangle 39"/>
          <p:cNvSpPr/>
          <p:nvPr/>
        </p:nvSpPr>
        <p:spPr>
          <a:xfrm>
            <a:off x="6035040" y="2615184"/>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44768" y="2651760"/>
            <a:ext cx="2377440" cy="237744"/>
          </a:xfrm>
          <a:prstGeom prst="rect">
            <a:avLst/>
          </a:prstGeom>
          <a:noFill/>
        </p:spPr>
        <p:txBody>
          <a:bodyPr wrap="square">
            <a:spAutoFit/>
          </a:bodyPr>
          <a:lstStyle/>
          <a:p>
            <a:pPr algn="l"/>
            <a:r>
              <a:rPr sz="900" b="1" i="0">
                <a:solidFill>
                  <a:srgbClr val="2C3E50"/>
                </a:solidFill>
              </a:rPr>
              <a:t>Delay Estimate</a:t>
            </a:r>
          </a:p>
        </p:txBody>
      </p:sp>
      <p:sp>
        <p:nvSpPr>
          <p:cNvPr id="42" name="TextBox 41"/>
          <p:cNvSpPr txBox="1"/>
          <p:nvPr/>
        </p:nvSpPr>
        <p:spPr>
          <a:xfrm>
            <a:off x="8549640" y="2651760"/>
            <a:ext cx="3200400" cy="237744"/>
          </a:xfrm>
          <a:prstGeom prst="rect">
            <a:avLst/>
          </a:prstGeom>
          <a:noFill/>
        </p:spPr>
        <p:txBody>
          <a:bodyPr wrap="square">
            <a:spAutoFit/>
          </a:bodyPr>
          <a:lstStyle/>
          <a:p>
            <a:pPr algn="l"/>
            <a:r>
              <a:rPr sz="900" b="1" i="0">
                <a:solidFill>
                  <a:srgbClr val="F39C12"/>
                </a:solidFill>
              </a:rPr>
              <a:t>4 – 8 weeks</a:t>
            </a:r>
          </a:p>
        </p:txBody>
      </p:sp>
      <p:sp>
        <p:nvSpPr>
          <p:cNvPr id="43" name="Rectangle 42"/>
          <p:cNvSpPr/>
          <p:nvPr/>
        </p:nvSpPr>
        <p:spPr>
          <a:xfrm>
            <a:off x="6035040" y="2962656"/>
            <a:ext cx="5806440" cy="29260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4768" y="2999232"/>
            <a:ext cx="2377440" cy="237744"/>
          </a:xfrm>
          <a:prstGeom prst="rect">
            <a:avLst/>
          </a:prstGeom>
          <a:noFill/>
        </p:spPr>
        <p:txBody>
          <a:bodyPr wrap="square">
            <a:spAutoFit/>
          </a:bodyPr>
          <a:lstStyle/>
          <a:p>
            <a:pPr algn="l"/>
            <a:r>
              <a:rPr sz="900" b="1" i="0">
                <a:solidFill>
                  <a:srgbClr val="2C3E50"/>
                </a:solidFill>
              </a:rPr>
              <a:t>Floors at Risk</a:t>
            </a:r>
          </a:p>
        </p:txBody>
      </p:sp>
      <p:sp>
        <p:nvSpPr>
          <p:cNvPr id="45" name="TextBox 44"/>
          <p:cNvSpPr txBox="1"/>
          <p:nvPr/>
        </p:nvSpPr>
        <p:spPr>
          <a:xfrm>
            <a:off x="8549640" y="2999232"/>
            <a:ext cx="3200400" cy="237744"/>
          </a:xfrm>
          <a:prstGeom prst="rect">
            <a:avLst/>
          </a:prstGeom>
          <a:noFill/>
        </p:spPr>
        <p:txBody>
          <a:bodyPr wrap="square">
            <a:spAutoFit/>
          </a:bodyPr>
          <a:lstStyle/>
          <a:p>
            <a:pPr algn="l"/>
            <a:r>
              <a:rPr sz="900" b="1" i="0">
                <a:solidFill>
                  <a:srgbClr val="F39C12"/>
                </a:solidFill>
              </a:rPr>
              <a:t>7F, 8F, 9F, 10F, 11F, 12F</a:t>
            </a:r>
          </a:p>
        </p:txBody>
      </p:sp>
      <p:sp>
        <p:nvSpPr>
          <p:cNvPr id="46" name="Rectangle 45"/>
          <p:cNvSpPr/>
          <p:nvPr/>
        </p:nvSpPr>
        <p:spPr>
          <a:xfrm>
            <a:off x="5989320" y="3401568"/>
            <a:ext cx="5925312" cy="256032"/>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80760" y="3438144"/>
            <a:ext cx="5742432" cy="201168"/>
          </a:xfrm>
          <a:prstGeom prst="rect">
            <a:avLst/>
          </a:prstGeom>
          <a:noFill/>
        </p:spPr>
        <p:txBody>
          <a:bodyPr wrap="square">
            <a:spAutoFit/>
          </a:bodyPr>
          <a:lstStyle/>
          <a:p>
            <a:pPr algn="l"/>
            <a:r>
              <a:rPr sz="900" b="1" i="0">
                <a:solidFill>
                  <a:srgbClr val="FFFFFF"/>
                </a:solidFill>
              </a:rPr>
              <a:t>ACTIONS REQUIRED</a:t>
            </a:r>
          </a:p>
        </p:txBody>
      </p:sp>
      <p:sp>
        <p:nvSpPr>
          <p:cNvPr id="48" name="TextBox 47"/>
          <p:cNvSpPr txBox="1"/>
          <p:nvPr/>
        </p:nvSpPr>
        <p:spPr>
          <a:xfrm>
            <a:off x="6080760" y="3712463"/>
            <a:ext cx="5669280" cy="237744"/>
          </a:xfrm>
          <a:prstGeom prst="rect">
            <a:avLst/>
          </a:prstGeom>
          <a:noFill/>
        </p:spPr>
        <p:txBody>
          <a:bodyPr wrap="square">
            <a:spAutoFit/>
          </a:bodyPr>
          <a:lstStyle/>
          <a:p>
            <a:pPr algn="l"/>
            <a:r>
              <a:rPr sz="900" b="0" i="0">
                <a:solidFill>
                  <a:srgbClr val="2C3E50"/>
                </a:solidFill>
              </a:rPr>
              <a:t>1.  Convene multi-party coordination meeting within 5 working days:</a:t>
            </a:r>
          </a:p>
        </p:txBody>
      </p:sp>
      <p:sp>
        <p:nvSpPr>
          <p:cNvPr id="49" name="TextBox 48"/>
          <p:cNvSpPr txBox="1"/>
          <p:nvPr/>
        </p:nvSpPr>
        <p:spPr>
          <a:xfrm>
            <a:off x="6080760" y="3968496"/>
            <a:ext cx="5669280" cy="237744"/>
          </a:xfrm>
          <a:prstGeom prst="rect">
            <a:avLst/>
          </a:prstGeom>
          <a:noFill/>
        </p:spPr>
        <p:txBody>
          <a:bodyPr wrap="square">
            <a:spAutoFit/>
          </a:bodyPr>
          <a:lstStyle/>
          <a:p>
            <a:pPr algn="l"/>
            <a:r>
              <a:rPr sz="900" b="0" i="0">
                <a:solidFill>
                  <a:srgbClr val="2C3E50"/>
                </a:solidFill>
              </a:rPr>
              <a:t>     MEP sub-contractor + Structural Engineer + Tiling Contractor.</a:t>
            </a:r>
          </a:p>
        </p:txBody>
      </p:sp>
      <p:sp>
        <p:nvSpPr>
          <p:cNvPr id="50" name="TextBox 49"/>
          <p:cNvSpPr txBox="1"/>
          <p:nvPr/>
        </p:nvSpPr>
        <p:spPr>
          <a:xfrm>
            <a:off x="6080760" y="4224528"/>
            <a:ext cx="5669280" cy="237744"/>
          </a:xfrm>
          <a:prstGeom prst="rect">
            <a:avLst/>
          </a:prstGeom>
          <a:noFill/>
        </p:spPr>
        <p:txBody>
          <a:bodyPr wrap="square">
            <a:spAutoFit/>
          </a:bodyPr>
          <a:lstStyle/>
          <a:p>
            <a:pPr algn="l"/>
            <a:r>
              <a:rPr sz="900" b="0" i="0">
                <a:solidFill>
                  <a:srgbClr val="2C3E50"/>
                </a:solidFill>
              </a:rPr>
              <a:t>2.  Appoint a document coordinator to chase all 4 submissions in parallel.</a:t>
            </a:r>
          </a:p>
        </p:txBody>
      </p:sp>
      <p:sp>
        <p:nvSpPr>
          <p:cNvPr id="51" name="TextBox 50"/>
          <p:cNvSpPr txBox="1"/>
          <p:nvPr/>
        </p:nvSpPr>
        <p:spPr>
          <a:xfrm>
            <a:off x="6080760" y="4480560"/>
            <a:ext cx="5669280" cy="237744"/>
          </a:xfrm>
          <a:prstGeom prst="rect">
            <a:avLst/>
          </a:prstGeom>
          <a:noFill/>
        </p:spPr>
        <p:txBody>
          <a:bodyPr wrap="square">
            <a:spAutoFit/>
          </a:bodyPr>
          <a:lstStyle/>
          <a:p>
            <a:pPr algn="l"/>
            <a:r>
              <a:rPr sz="900" b="0" i="0">
                <a:solidFill>
                  <a:srgbClr val="2C3E50"/>
                </a:solidFill>
              </a:rPr>
              <a:t>3.  Do NOT commence any penetration or sleeve-fixing before written</a:t>
            </a:r>
          </a:p>
        </p:txBody>
      </p:sp>
      <p:sp>
        <p:nvSpPr>
          <p:cNvPr id="52" name="TextBox 51"/>
          <p:cNvSpPr txBox="1"/>
          <p:nvPr/>
        </p:nvSpPr>
        <p:spPr>
          <a:xfrm>
            <a:off x="6080760" y="4736592"/>
            <a:ext cx="5669280" cy="237744"/>
          </a:xfrm>
          <a:prstGeom prst="rect">
            <a:avLst/>
          </a:prstGeom>
          <a:noFill/>
        </p:spPr>
        <p:txBody>
          <a:bodyPr wrap="square">
            <a:spAutoFit/>
          </a:bodyPr>
          <a:lstStyle/>
          <a:p>
            <a:pPr algn="l"/>
            <a:r>
              <a:rPr sz="900" b="0" i="0">
                <a:solidFill>
                  <a:srgbClr val="2C3E50"/>
                </a:solidFill>
              </a:rPr>
              <a:t>     consultant approval is received — structural failure risk.</a:t>
            </a:r>
          </a:p>
        </p:txBody>
      </p:sp>
      <p:sp>
        <p:nvSpPr>
          <p:cNvPr id="53" name="TextBox 52"/>
          <p:cNvSpPr txBox="1"/>
          <p:nvPr/>
        </p:nvSpPr>
        <p:spPr>
          <a:xfrm>
            <a:off x="6080760" y="4992624"/>
            <a:ext cx="5669280" cy="237744"/>
          </a:xfrm>
          <a:prstGeom prst="rect">
            <a:avLst/>
          </a:prstGeom>
          <a:noFill/>
        </p:spPr>
        <p:txBody>
          <a:bodyPr wrap="square">
            <a:spAutoFit/>
          </a:bodyPr>
          <a:lstStyle/>
          <a:p>
            <a:pPr algn="l"/>
            <a:r>
              <a:rPr sz="900" b="0" i="0">
                <a:solidFill>
                  <a:srgbClr val="2C3E50"/>
                </a:solidFill>
              </a:rPr>
              <a:t>4.  Apply same process to 7F, 8F, 11F, 12F proactively (batch submission).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RFI Language Improvement — Before vs. After</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Rewriting vague RFI text for faster consultant response</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2286000" cy="256032"/>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2103120" cy="219456"/>
          </a:xfrm>
          <a:prstGeom prst="rect">
            <a:avLst/>
          </a:prstGeom>
          <a:noFill/>
        </p:spPr>
        <p:txBody>
          <a:bodyPr wrap="square">
            <a:spAutoFit/>
          </a:bodyPr>
          <a:lstStyle/>
          <a:p>
            <a:pPr algn="l"/>
            <a:r>
              <a:rPr sz="900" b="1" i="0">
                <a:solidFill>
                  <a:srgbClr val="FFFFFF"/>
                </a:solidFill>
              </a:rPr>
              <a:t>RFI REFERENCE</a:t>
            </a:r>
          </a:p>
        </p:txBody>
      </p:sp>
      <p:sp>
        <p:nvSpPr>
          <p:cNvPr id="11" name="Rectangle 10"/>
          <p:cNvSpPr/>
          <p:nvPr/>
        </p:nvSpPr>
        <p:spPr>
          <a:xfrm>
            <a:off x="2606040" y="1143000"/>
            <a:ext cx="4480560" cy="256032"/>
          </a:xfrm>
          <a:prstGeom prst="rect">
            <a:avLst/>
          </a:prstGeom>
          <a:solidFill>
            <a:srgbClr val="7B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80" y="1161288"/>
            <a:ext cx="4297680" cy="219456"/>
          </a:xfrm>
          <a:prstGeom prst="rect">
            <a:avLst/>
          </a:prstGeom>
          <a:noFill/>
        </p:spPr>
        <p:txBody>
          <a:bodyPr wrap="square">
            <a:spAutoFit/>
          </a:bodyPr>
          <a:lstStyle/>
          <a:p>
            <a:pPr algn="l"/>
            <a:r>
              <a:rPr sz="900" b="1" i="0">
                <a:solidFill>
                  <a:srgbClr val="FFFFFF"/>
                </a:solidFill>
              </a:rPr>
              <a:t>ORIGINAL (UNCLEAR) LANGUAGE</a:t>
            </a:r>
          </a:p>
        </p:txBody>
      </p:sp>
      <p:sp>
        <p:nvSpPr>
          <p:cNvPr id="13" name="Rectangle 12"/>
          <p:cNvSpPr/>
          <p:nvPr/>
        </p:nvSpPr>
        <p:spPr>
          <a:xfrm>
            <a:off x="7132320" y="1143000"/>
            <a:ext cx="4754880" cy="256032"/>
          </a:xfrm>
          <a:prstGeom prst="rect">
            <a:avLst/>
          </a:prstGeom>
          <a:solidFill>
            <a:srgbClr val="1E8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0" y="1161288"/>
            <a:ext cx="4572000" cy="219456"/>
          </a:xfrm>
          <a:prstGeom prst="rect">
            <a:avLst/>
          </a:prstGeom>
          <a:noFill/>
        </p:spPr>
        <p:txBody>
          <a:bodyPr wrap="square">
            <a:spAutoFit/>
          </a:bodyPr>
          <a:lstStyle/>
          <a:p>
            <a:pPr algn="l"/>
            <a:r>
              <a:rPr sz="900" b="1" i="0">
                <a:solidFill>
                  <a:srgbClr val="FFFFFF"/>
                </a:solidFill>
              </a:rPr>
              <a:t>RECOMMENDED (CLEAR) LANGUAGE</a:t>
            </a:r>
          </a:p>
        </p:txBody>
      </p:sp>
      <p:sp>
        <p:nvSpPr>
          <p:cNvPr id="15" name="Rectangle 14"/>
          <p:cNvSpPr/>
          <p:nvPr/>
        </p:nvSpPr>
        <p:spPr>
          <a:xfrm>
            <a:off x="274320" y="1463040"/>
            <a:ext cx="2286000" cy="137160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536192"/>
            <a:ext cx="2103120" cy="1261872"/>
          </a:xfrm>
          <a:prstGeom prst="rect">
            <a:avLst/>
          </a:prstGeom>
          <a:noFill/>
        </p:spPr>
        <p:txBody>
          <a:bodyPr wrap="square">
            <a:spAutoFit/>
          </a:bodyPr>
          <a:lstStyle/>
          <a:p>
            <a:pPr algn="l"/>
            <a:r>
              <a:rPr sz="850" b="1" i="0">
                <a:solidFill>
                  <a:srgbClr val="1B4F72"/>
                </a:solidFill>
              </a:rPr>
              <a:t>ARC_042
7F/8F
Shaft + Beam</a:t>
            </a:r>
          </a:p>
        </p:txBody>
      </p:sp>
      <p:sp>
        <p:nvSpPr>
          <p:cNvPr id="17" name="Rectangle 16"/>
          <p:cNvSpPr/>
          <p:nvPr/>
        </p:nvSpPr>
        <p:spPr>
          <a:xfrm>
            <a:off x="2606040" y="1463040"/>
            <a:ext cx="4480560" cy="1371600"/>
          </a:xfrm>
          <a:prstGeom prst="rect">
            <a:avLst/>
          </a:prstGeom>
          <a:solidFill>
            <a:srgbClr val="FFF3CD"/>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7480" y="1517904"/>
            <a:ext cx="4297680" cy="1280160"/>
          </a:xfrm>
          <a:prstGeom prst="rect">
            <a:avLst/>
          </a:prstGeom>
          <a:noFill/>
        </p:spPr>
        <p:txBody>
          <a:bodyPr wrap="square">
            <a:spAutoFit/>
          </a:bodyPr>
          <a:lstStyle/>
          <a:p>
            <a:pPr algn="l"/>
            <a:r>
              <a:rPr sz="800" b="0" i="1">
                <a:solidFill>
                  <a:srgbClr val="2C3E50"/>
                </a:solidFill>
              </a:rPr>
              <a:t>SHAFT TO BE 1200x450mm TO ACCOMMODATE DRAINAGE AND CHILLED WATER PIPES RISERS</a:t>
            </a:r>
          </a:p>
        </p:txBody>
      </p:sp>
      <p:sp>
        <p:nvSpPr>
          <p:cNvPr id="19" name="Rectangle 18"/>
          <p:cNvSpPr/>
          <p:nvPr/>
        </p:nvSpPr>
        <p:spPr>
          <a:xfrm>
            <a:off x="7132320" y="1463040"/>
            <a:ext cx="4754880" cy="1371600"/>
          </a:xfrm>
          <a:prstGeom prst="rect">
            <a:avLst/>
          </a:prstGeom>
          <a:solidFill>
            <a:srgbClr val="E9F7E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1517904"/>
            <a:ext cx="4572000" cy="1280160"/>
          </a:xfrm>
          <a:prstGeom prst="rect">
            <a:avLst/>
          </a:prstGeom>
          <a:noFill/>
        </p:spPr>
        <p:txBody>
          <a:bodyPr wrap="square">
            <a:spAutoFit/>
          </a:bodyPr>
          <a:lstStyle/>
          <a:p>
            <a:pPr algn="l"/>
            <a:r>
              <a:rPr sz="800" b="0" i="0">
                <a:solidFill>
                  <a:srgbClr val="2C3E50"/>
                </a:solidFill>
              </a:rPr>
              <a:t>The shaft at Grid [XX-YY], 7F/8F is undersized for the DN160 soil riser and DN[XX] chilled water riser. Contractor proposes 1,200×450mm clear. Please confirm approval and whether beam L7-B-08 shift 500mm downward is structurally acceptable. Response required by [date] to avoid slab pour delay.</a:t>
            </a:r>
          </a:p>
        </p:txBody>
      </p:sp>
      <p:sp>
        <p:nvSpPr>
          <p:cNvPr id="21" name="Rectangle 20"/>
          <p:cNvSpPr/>
          <p:nvPr/>
        </p:nvSpPr>
        <p:spPr>
          <a:xfrm>
            <a:off x="274320" y="2880360"/>
            <a:ext cx="2286000" cy="137160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953512"/>
            <a:ext cx="2103120" cy="1261872"/>
          </a:xfrm>
          <a:prstGeom prst="rect">
            <a:avLst/>
          </a:prstGeom>
          <a:noFill/>
        </p:spPr>
        <p:txBody>
          <a:bodyPr wrap="square">
            <a:spAutoFit/>
          </a:bodyPr>
          <a:lstStyle/>
          <a:p>
            <a:pPr algn="l"/>
            <a:r>
              <a:rPr sz="850" b="1" i="0">
                <a:solidFill>
                  <a:srgbClr val="1B4F72"/>
                </a:solidFill>
              </a:rPr>
              <a:t>ARC_069
11F
Beam Penetrations</a:t>
            </a:r>
          </a:p>
        </p:txBody>
      </p:sp>
      <p:sp>
        <p:nvSpPr>
          <p:cNvPr id="23" name="Rectangle 22"/>
          <p:cNvSpPr/>
          <p:nvPr/>
        </p:nvSpPr>
        <p:spPr>
          <a:xfrm>
            <a:off x="2606040" y="2880360"/>
            <a:ext cx="4480560" cy="1371600"/>
          </a:xfrm>
          <a:prstGeom prst="rect">
            <a:avLst/>
          </a:prstGeom>
          <a:solidFill>
            <a:srgbClr val="FFF3CD"/>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97480" y="2935224"/>
            <a:ext cx="4297680" cy="1280160"/>
          </a:xfrm>
          <a:prstGeom prst="rect">
            <a:avLst/>
          </a:prstGeom>
          <a:noFill/>
        </p:spPr>
        <p:txBody>
          <a:bodyPr wrap="square">
            <a:spAutoFit/>
          </a:bodyPr>
          <a:lstStyle/>
          <a:p>
            <a:pPr algn="l"/>
            <a:r>
              <a:rPr sz="800" b="0" i="1">
                <a:solidFill>
                  <a:srgbClr val="2C3E50"/>
                </a:solidFill>
              </a:rPr>
              <a:t>THE HIGHLIGTED SHAFT WILL REQUIRED VERTICAL AND HORIZONTAL PENETRATIONS FOR THE BEAM, POINT 2 TO BE RESTRICTED AND COORDINATED WITH MEP CONTRACTOR</a:t>
            </a:r>
          </a:p>
        </p:txBody>
      </p:sp>
      <p:sp>
        <p:nvSpPr>
          <p:cNvPr id="25" name="Rectangle 24"/>
          <p:cNvSpPr/>
          <p:nvPr/>
        </p:nvSpPr>
        <p:spPr>
          <a:xfrm>
            <a:off x="7132320" y="2880360"/>
            <a:ext cx="4754880" cy="1371600"/>
          </a:xfrm>
          <a:prstGeom prst="rect">
            <a:avLst/>
          </a:prstGeom>
          <a:solidFill>
            <a:srgbClr val="E9F7E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2935224"/>
            <a:ext cx="4572000" cy="1280160"/>
          </a:xfrm>
          <a:prstGeom prst="rect">
            <a:avLst/>
          </a:prstGeom>
          <a:noFill/>
        </p:spPr>
        <p:txBody>
          <a:bodyPr wrap="square">
            <a:spAutoFit/>
          </a:bodyPr>
          <a:lstStyle/>
          <a:p>
            <a:pPr algn="l"/>
            <a:r>
              <a:rPr sz="800" b="0" i="0">
                <a:solidFill>
                  <a:srgbClr val="2C3E50"/>
                </a:solidFill>
              </a:rPr>
              <a:t>MEP shaft at Grid [XX], 11F requires beam penetrations for: Ø160 SP (6" sleeve), Ø110 VP (6" sleeve), Ø160 WP (8" sleeve) — see Engineer's Dwg [Ref.]. Please confirm sleeve sizes, edge distances, and reinforcement detailing. MEP contractor requires approval by [date] to maintain programme.</a:t>
            </a:r>
          </a:p>
        </p:txBody>
      </p:sp>
      <p:sp>
        <p:nvSpPr>
          <p:cNvPr id="27" name="Rectangle 26"/>
          <p:cNvSpPr/>
          <p:nvPr/>
        </p:nvSpPr>
        <p:spPr>
          <a:xfrm>
            <a:off x="274320" y="4297680"/>
            <a:ext cx="2286000" cy="137160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4370832"/>
            <a:ext cx="2103120" cy="1261872"/>
          </a:xfrm>
          <a:prstGeom prst="rect">
            <a:avLst/>
          </a:prstGeom>
          <a:noFill/>
        </p:spPr>
        <p:txBody>
          <a:bodyPr wrap="square">
            <a:spAutoFit/>
          </a:bodyPr>
          <a:lstStyle/>
          <a:p>
            <a:pPr algn="l"/>
            <a:r>
              <a:rPr sz="850" b="1" i="0">
                <a:solidFill>
                  <a:srgbClr val="1B4F72"/>
                </a:solidFill>
              </a:rPr>
              <a:t>GEN_028
2F–4F
Drain Routing</a:t>
            </a:r>
          </a:p>
        </p:txBody>
      </p:sp>
      <p:sp>
        <p:nvSpPr>
          <p:cNvPr id="29" name="Rectangle 28"/>
          <p:cNvSpPr/>
          <p:nvPr/>
        </p:nvSpPr>
        <p:spPr>
          <a:xfrm>
            <a:off x="2606040" y="4297680"/>
            <a:ext cx="4480560" cy="1371600"/>
          </a:xfrm>
          <a:prstGeom prst="rect">
            <a:avLst/>
          </a:prstGeom>
          <a:solidFill>
            <a:srgbClr val="FFF3CD"/>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97480" y="4352544"/>
            <a:ext cx="4297680" cy="1280160"/>
          </a:xfrm>
          <a:prstGeom prst="rect">
            <a:avLst/>
          </a:prstGeom>
          <a:noFill/>
        </p:spPr>
        <p:txBody>
          <a:bodyPr wrap="square">
            <a:spAutoFit/>
          </a:bodyPr>
          <a:lstStyle/>
          <a:p>
            <a:pPr algn="l"/>
            <a:r>
              <a:rPr sz="800" b="0" i="1">
                <a:solidFill>
                  <a:srgbClr val="2C3E50"/>
                </a:solidFill>
              </a:rPr>
              <a:t>NO OBJECTION TO THE 50MM DRAIN PIPE RUNNING WITH THE FLOOR SCREED TO THE FLOOR TRAP SUBJECT TO PROPER SLOPE AND PROTECTION. HOWEVER THE KITCHEN FLOOR TRAP CURRENTLY LOCATED ABOVE THE DROP PANEL SHALL BE RELOCATED</a:t>
            </a:r>
          </a:p>
        </p:txBody>
      </p:sp>
      <p:sp>
        <p:nvSpPr>
          <p:cNvPr id="31" name="Rectangle 30"/>
          <p:cNvSpPr/>
          <p:nvPr/>
        </p:nvSpPr>
        <p:spPr>
          <a:xfrm>
            <a:off x="7132320" y="4297680"/>
            <a:ext cx="4754880" cy="1371600"/>
          </a:xfrm>
          <a:prstGeom prst="rect">
            <a:avLst/>
          </a:prstGeom>
          <a:solidFill>
            <a:srgbClr val="E9F7E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0" y="4352544"/>
            <a:ext cx="4572000" cy="1280160"/>
          </a:xfrm>
          <a:prstGeom prst="rect">
            <a:avLst/>
          </a:prstGeom>
          <a:noFill/>
        </p:spPr>
        <p:txBody>
          <a:bodyPr wrap="square">
            <a:spAutoFit/>
          </a:bodyPr>
          <a:lstStyle/>
          <a:p>
            <a:pPr algn="l"/>
            <a:r>
              <a:rPr sz="800" b="0" i="0">
                <a:solidFill>
                  <a:srgbClr val="2C3E50"/>
                </a:solidFill>
              </a:rPr>
              <a:t>A Ø50mm drain runs within floor screed at 2F–4F serving the floor trap. Confirm: (a) minimum screed depth and pipe protection spec; (b) required fall/gradient. The kitchen FT at Grid [XX] is above the drop panel — not permitted. Revised FT location shown on Sketch [Ref.], relocated [X]mm from drop panel edge. Please confirm approval.</a:t>
            </a:r>
          </a:p>
        </p:txBody>
      </p:sp>
      <p:sp>
        <p:nvSpPr>
          <p:cNvPr id="33" name="Rectangle 32"/>
          <p:cNvSpPr/>
          <p:nvPr/>
        </p:nvSpPr>
        <p:spPr>
          <a:xfrm>
            <a:off x="274320" y="5760720"/>
            <a:ext cx="11640312" cy="25603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5797296"/>
            <a:ext cx="11430000" cy="201168"/>
          </a:xfrm>
          <a:prstGeom prst="rect">
            <a:avLst/>
          </a:prstGeom>
          <a:noFill/>
        </p:spPr>
        <p:txBody>
          <a:bodyPr wrap="square">
            <a:spAutoFit/>
          </a:bodyPr>
          <a:lstStyle/>
          <a:p>
            <a:pPr algn="l"/>
            <a:r>
              <a:rPr sz="900" b="1" i="0">
                <a:solidFill>
                  <a:srgbClr val="FFFFFF"/>
                </a:solidFill>
              </a:rPr>
              <a:t>6 GOLDEN RULES FOR EFFECTIVE RFI WRITING</a:t>
            </a:r>
          </a:p>
        </p:txBody>
      </p:sp>
      <p:sp>
        <p:nvSpPr>
          <p:cNvPr id="35" name="Rectangle 34"/>
          <p:cNvSpPr/>
          <p:nvPr/>
        </p:nvSpPr>
        <p:spPr>
          <a:xfrm>
            <a:off x="274320" y="6053328"/>
            <a:ext cx="3749039" cy="23774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7472" y="6080760"/>
            <a:ext cx="3611880" cy="201168"/>
          </a:xfrm>
          <a:prstGeom prst="rect">
            <a:avLst/>
          </a:prstGeom>
          <a:noFill/>
        </p:spPr>
        <p:txBody>
          <a:bodyPr wrap="square">
            <a:spAutoFit/>
          </a:bodyPr>
          <a:lstStyle/>
          <a:p>
            <a:pPr algn="l"/>
            <a:r>
              <a:rPr sz="800" b="0" i="0">
                <a:solidFill>
                  <a:srgbClr val="2C3E50"/>
                </a:solidFill>
              </a:rPr>
              <a:t>1. State dimensions and pipe sizes numerically — never 'as highlighted'</a:t>
            </a:r>
          </a:p>
        </p:txBody>
      </p:sp>
      <p:sp>
        <p:nvSpPr>
          <p:cNvPr id="37" name="Rectangle 36"/>
          <p:cNvSpPr/>
          <p:nvPr/>
        </p:nvSpPr>
        <p:spPr>
          <a:xfrm>
            <a:off x="4160520" y="6053328"/>
            <a:ext cx="3749039" cy="23774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33672" y="6080760"/>
            <a:ext cx="3611880" cy="201168"/>
          </a:xfrm>
          <a:prstGeom prst="rect">
            <a:avLst/>
          </a:prstGeom>
          <a:noFill/>
        </p:spPr>
        <p:txBody>
          <a:bodyPr wrap="square">
            <a:spAutoFit/>
          </a:bodyPr>
          <a:lstStyle/>
          <a:p>
            <a:pPr algn="l"/>
            <a:r>
              <a:rPr sz="800" b="0" i="0">
                <a:solidFill>
                  <a:srgbClr val="2C3E50"/>
                </a:solidFill>
              </a:rPr>
              <a:t>2. Separate Background from Question — use distinct headed sections</a:t>
            </a:r>
          </a:p>
        </p:txBody>
      </p:sp>
      <p:sp>
        <p:nvSpPr>
          <p:cNvPr id="39" name="Rectangle 38"/>
          <p:cNvSpPr/>
          <p:nvPr/>
        </p:nvSpPr>
        <p:spPr>
          <a:xfrm>
            <a:off x="8046720" y="6053328"/>
            <a:ext cx="3749039" cy="23774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19872" y="6080760"/>
            <a:ext cx="3611880" cy="201168"/>
          </a:xfrm>
          <a:prstGeom prst="rect">
            <a:avLst/>
          </a:prstGeom>
          <a:noFill/>
        </p:spPr>
        <p:txBody>
          <a:bodyPr wrap="square">
            <a:spAutoFit/>
          </a:bodyPr>
          <a:lstStyle/>
          <a:p>
            <a:pPr algn="l"/>
            <a:r>
              <a:rPr sz="800" b="0" i="0">
                <a:solidFill>
                  <a:srgbClr val="2C3E50"/>
                </a:solidFill>
              </a:rPr>
              <a:t>3. Always include a 'Response Required By' date referencing a programme activity</a:t>
            </a:r>
          </a:p>
        </p:txBody>
      </p:sp>
      <p:sp>
        <p:nvSpPr>
          <p:cNvPr id="41" name="Rectangle 40"/>
          <p:cNvSpPr/>
          <p:nvPr/>
        </p:nvSpPr>
        <p:spPr>
          <a:xfrm>
            <a:off x="274320" y="6309360"/>
            <a:ext cx="3749039" cy="23774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7472" y="6336792"/>
            <a:ext cx="3611880" cy="201168"/>
          </a:xfrm>
          <a:prstGeom prst="rect">
            <a:avLst/>
          </a:prstGeom>
          <a:noFill/>
        </p:spPr>
        <p:txBody>
          <a:bodyPr wrap="square">
            <a:spAutoFit/>
          </a:bodyPr>
          <a:lstStyle/>
          <a:p>
            <a:pPr algn="l"/>
            <a:r>
              <a:rPr sz="800" b="0" i="0">
                <a:solidFill>
                  <a:srgbClr val="2C3E50"/>
                </a:solidFill>
              </a:rPr>
              <a:t>4. Use sentence case — avoid ALL CAPS text in formal documents</a:t>
            </a:r>
          </a:p>
        </p:txBody>
      </p:sp>
      <p:sp>
        <p:nvSpPr>
          <p:cNvPr id="43" name="Rectangle 42"/>
          <p:cNvSpPr/>
          <p:nvPr/>
        </p:nvSpPr>
        <p:spPr>
          <a:xfrm>
            <a:off x="4160520" y="6309360"/>
            <a:ext cx="3749039" cy="23774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33672" y="6336792"/>
            <a:ext cx="3611880" cy="201168"/>
          </a:xfrm>
          <a:prstGeom prst="rect">
            <a:avLst/>
          </a:prstGeom>
          <a:noFill/>
        </p:spPr>
        <p:txBody>
          <a:bodyPr wrap="square">
            <a:spAutoFit/>
          </a:bodyPr>
          <a:lstStyle/>
          <a:p>
            <a:pPr algn="l"/>
            <a:r>
              <a:rPr sz="800" b="0" i="0">
                <a:solidFill>
                  <a:srgbClr val="2C3E50"/>
                </a:solidFill>
              </a:rPr>
              <a:t>5. Reference related RFIs explicitly by number, not 'as per previous'</a:t>
            </a:r>
          </a:p>
        </p:txBody>
      </p:sp>
      <p:sp>
        <p:nvSpPr>
          <p:cNvPr id="45" name="Rectangle 44"/>
          <p:cNvSpPr/>
          <p:nvPr/>
        </p:nvSpPr>
        <p:spPr>
          <a:xfrm>
            <a:off x="8046720" y="6309360"/>
            <a:ext cx="3749039" cy="23774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19872" y="6336792"/>
            <a:ext cx="3611880" cy="201168"/>
          </a:xfrm>
          <a:prstGeom prst="rect">
            <a:avLst/>
          </a:prstGeom>
          <a:noFill/>
        </p:spPr>
        <p:txBody>
          <a:bodyPr wrap="square">
            <a:spAutoFit/>
          </a:bodyPr>
          <a:lstStyle/>
          <a:p>
            <a:pPr algn="l"/>
            <a:r>
              <a:rPr sz="800" b="0" i="0">
                <a:solidFill>
                  <a:srgbClr val="2C3E50"/>
                </a:solidFill>
              </a:rPr>
              <a:t>6. Every RFI must reference a sketch or drawing — include drawing number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Table 1 — Civil-Specific RFIs</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Schedule &amp; Cost Impact Summary  |  Project P159</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146304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389888" cy="237744"/>
          </a:xfrm>
          <a:prstGeom prst="rect">
            <a:avLst/>
          </a:prstGeom>
          <a:noFill/>
        </p:spPr>
        <p:txBody>
          <a:bodyPr wrap="square">
            <a:spAutoFit/>
          </a:bodyPr>
          <a:lstStyle/>
          <a:p>
            <a:pPr algn="ctr"/>
            <a:r>
              <a:rPr sz="850" b="1" i="0">
                <a:solidFill>
                  <a:srgbClr val="FFFFFF"/>
                </a:solidFill>
              </a:rPr>
              <a:t>RFI NUMBER</a:t>
            </a:r>
          </a:p>
        </p:txBody>
      </p:sp>
      <p:sp>
        <p:nvSpPr>
          <p:cNvPr id="11" name="Rectangle 10"/>
          <p:cNvSpPr/>
          <p:nvPr/>
        </p:nvSpPr>
        <p:spPr>
          <a:xfrm>
            <a:off x="1737360" y="1078992"/>
            <a:ext cx="82296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1115568"/>
            <a:ext cx="749808" cy="237744"/>
          </a:xfrm>
          <a:prstGeom prst="rect">
            <a:avLst/>
          </a:prstGeom>
          <a:noFill/>
        </p:spPr>
        <p:txBody>
          <a:bodyPr wrap="square">
            <a:spAutoFit/>
          </a:bodyPr>
          <a:lstStyle/>
          <a:p>
            <a:pPr algn="ctr"/>
            <a:r>
              <a:rPr sz="850" b="1" i="0">
                <a:solidFill>
                  <a:srgbClr val="FFFFFF"/>
                </a:solidFill>
              </a:rPr>
              <a:t>LOCATION</a:t>
            </a:r>
          </a:p>
        </p:txBody>
      </p:sp>
      <p:sp>
        <p:nvSpPr>
          <p:cNvPr id="13" name="Rectangle 12"/>
          <p:cNvSpPr/>
          <p:nvPr/>
        </p:nvSpPr>
        <p:spPr>
          <a:xfrm>
            <a:off x="2560320" y="1078992"/>
            <a:ext cx="292608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1115568"/>
            <a:ext cx="2852928" cy="237744"/>
          </a:xfrm>
          <a:prstGeom prst="rect">
            <a:avLst/>
          </a:prstGeom>
          <a:noFill/>
        </p:spPr>
        <p:txBody>
          <a:bodyPr wrap="square">
            <a:spAutoFit/>
          </a:bodyPr>
          <a:lstStyle/>
          <a:p>
            <a:pPr algn="ctr"/>
            <a:r>
              <a:rPr sz="850" b="1" i="0">
                <a:solidFill>
                  <a:srgbClr val="FFFFFF"/>
                </a:solidFill>
              </a:rPr>
              <a:t>ISSUE SUMMARY</a:t>
            </a:r>
          </a:p>
        </p:txBody>
      </p:sp>
      <p:sp>
        <p:nvSpPr>
          <p:cNvPr id="15" name="Rectangle 14"/>
          <p:cNvSpPr/>
          <p:nvPr/>
        </p:nvSpPr>
        <p:spPr>
          <a:xfrm>
            <a:off x="5486400" y="1078992"/>
            <a:ext cx="13716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115568"/>
            <a:ext cx="1298448" cy="237744"/>
          </a:xfrm>
          <a:prstGeom prst="rect">
            <a:avLst/>
          </a:prstGeom>
          <a:noFill/>
        </p:spPr>
        <p:txBody>
          <a:bodyPr wrap="square">
            <a:spAutoFit/>
          </a:bodyPr>
          <a:lstStyle/>
          <a:p>
            <a:pPr algn="ctr"/>
            <a:r>
              <a:rPr sz="850" b="1" i="0">
                <a:solidFill>
                  <a:srgbClr val="FFFFFF"/>
                </a:solidFill>
              </a:rPr>
              <a:t>STATUS</a:t>
            </a:r>
          </a:p>
        </p:txBody>
      </p:sp>
      <p:sp>
        <p:nvSpPr>
          <p:cNvPr id="17" name="Rectangle 16"/>
          <p:cNvSpPr/>
          <p:nvPr/>
        </p:nvSpPr>
        <p:spPr>
          <a:xfrm>
            <a:off x="6858000" y="1078992"/>
            <a:ext cx="804672"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1115568"/>
            <a:ext cx="731520" cy="237744"/>
          </a:xfrm>
          <a:prstGeom prst="rect">
            <a:avLst/>
          </a:prstGeom>
          <a:noFill/>
        </p:spPr>
        <p:txBody>
          <a:bodyPr wrap="square">
            <a:spAutoFit/>
          </a:bodyPr>
          <a:lstStyle/>
          <a:p>
            <a:pPr algn="ctr"/>
            <a:r>
              <a:rPr sz="850" b="1" i="0">
                <a:solidFill>
                  <a:srgbClr val="FFFFFF"/>
                </a:solidFill>
              </a:rPr>
              <a:t>SCHED. RISK</a:t>
            </a:r>
          </a:p>
        </p:txBody>
      </p:sp>
      <p:sp>
        <p:nvSpPr>
          <p:cNvPr id="19" name="Rectangle 18"/>
          <p:cNvSpPr/>
          <p:nvPr/>
        </p:nvSpPr>
        <p:spPr>
          <a:xfrm>
            <a:off x="7662672" y="1078992"/>
            <a:ext cx="804672"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08392" y="1115568"/>
            <a:ext cx="731520" cy="237744"/>
          </a:xfrm>
          <a:prstGeom prst="rect">
            <a:avLst/>
          </a:prstGeom>
          <a:noFill/>
        </p:spPr>
        <p:txBody>
          <a:bodyPr wrap="square">
            <a:spAutoFit/>
          </a:bodyPr>
          <a:lstStyle/>
          <a:p>
            <a:pPr algn="ctr"/>
            <a:r>
              <a:rPr sz="850" b="1" i="0">
                <a:solidFill>
                  <a:srgbClr val="FFFFFF"/>
                </a:solidFill>
              </a:rPr>
              <a:t>COST RISK</a:t>
            </a:r>
          </a:p>
        </p:txBody>
      </p:sp>
      <p:sp>
        <p:nvSpPr>
          <p:cNvPr id="21" name="Rectangle 20"/>
          <p:cNvSpPr/>
          <p:nvPr/>
        </p:nvSpPr>
        <p:spPr>
          <a:xfrm>
            <a:off x="8467344" y="1078992"/>
            <a:ext cx="2084831"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13064" y="1115568"/>
            <a:ext cx="2011679" cy="237744"/>
          </a:xfrm>
          <a:prstGeom prst="rect">
            <a:avLst/>
          </a:prstGeom>
          <a:noFill/>
        </p:spPr>
        <p:txBody>
          <a:bodyPr wrap="square">
            <a:spAutoFit/>
          </a:bodyPr>
          <a:lstStyle/>
          <a:p>
            <a:pPr algn="ctr"/>
            <a:r>
              <a:rPr sz="850" b="1" i="0">
                <a:solidFill>
                  <a:srgbClr val="FFFFFF"/>
                </a:solidFill>
              </a:rPr>
              <a:t>ACTION</a:t>
            </a:r>
          </a:p>
        </p:txBody>
      </p:sp>
      <p:sp>
        <p:nvSpPr>
          <p:cNvPr id="23" name="Rectangle 22"/>
          <p:cNvSpPr/>
          <p:nvPr/>
        </p:nvSpPr>
        <p:spPr>
          <a:xfrm>
            <a:off x="274320" y="1389888"/>
            <a:ext cx="146304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1426464"/>
            <a:ext cx="1389888" cy="420624"/>
          </a:xfrm>
          <a:prstGeom prst="rect">
            <a:avLst/>
          </a:prstGeom>
          <a:noFill/>
        </p:spPr>
        <p:txBody>
          <a:bodyPr wrap="square">
            <a:spAutoFit/>
          </a:bodyPr>
          <a:lstStyle/>
          <a:p>
            <a:pPr algn="l"/>
            <a:r>
              <a:rPr sz="750" b="0" i="0">
                <a:solidFill>
                  <a:srgbClr val="2C3E50"/>
                </a:solidFill>
              </a:rPr>
              <a:t>ARC_042 + ARC_054</a:t>
            </a:r>
          </a:p>
        </p:txBody>
      </p:sp>
      <p:sp>
        <p:nvSpPr>
          <p:cNvPr id="25" name="Rectangle 24"/>
          <p:cNvSpPr/>
          <p:nvPr/>
        </p:nvSpPr>
        <p:spPr>
          <a:xfrm>
            <a:off x="1737360" y="1389888"/>
            <a:ext cx="82296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83080" y="1426464"/>
            <a:ext cx="749808" cy="420624"/>
          </a:xfrm>
          <a:prstGeom prst="rect">
            <a:avLst/>
          </a:prstGeom>
          <a:noFill/>
        </p:spPr>
        <p:txBody>
          <a:bodyPr wrap="square">
            <a:spAutoFit/>
          </a:bodyPr>
          <a:lstStyle/>
          <a:p>
            <a:pPr algn="l"/>
            <a:r>
              <a:rPr sz="750" b="0" i="0">
                <a:solidFill>
                  <a:srgbClr val="2C3E50"/>
                </a:solidFill>
              </a:rPr>
              <a:t>7F/8F
9F/10F</a:t>
            </a:r>
          </a:p>
        </p:txBody>
      </p:sp>
      <p:sp>
        <p:nvSpPr>
          <p:cNvPr id="27" name="Rectangle 26"/>
          <p:cNvSpPr/>
          <p:nvPr/>
        </p:nvSpPr>
        <p:spPr>
          <a:xfrm>
            <a:off x="2560320" y="1389888"/>
            <a:ext cx="292608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06040" y="1426464"/>
            <a:ext cx="2852928" cy="420624"/>
          </a:xfrm>
          <a:prstGeom prst="rect">
            <a:avLst/>
          </a:prstGeom>
          <a:noFill/>
        </p:spPr>
        <p:txBody>
          <a:bodyPr wrap="square">
            <a:spAutoFit/>
          </a:bodyPr>
          <a:lstStyle/>
          <a:p>
            <a:pPr algn="l"/>
            <a:r>
              <a:rPr sz="750" b="0" i="0">
                <a:solidFill>
                  <a:srgbClr val="2C3E50"/>
                </a:solidFill>
              </a:rPr>
              <a:t>Beam L7-B-08 shift 500mm + shaft enlarged to 1,200×450mm for drainage &amp; CHW risers</a:t>
            </a:r>
          </a:p>
        </p:txBody>
      </p:sp>
      <p:sp>
        <p:nvSpPr>
          <p:cNvPr id="29" name="Rectangle 28"/>
          <p:cNvSpPr/>
          <p:nvPr/>
        </p:nvSpPr>
        <p:spPr>
          <a:xfrm>
            <a:off x="5486400" y="1389888"/>
            <a:ext cx="137160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32120" y="1426464"/>
            <a:ext cx="1298448" cy="420624"/>
          </a:xfrm>
          <a:prstGeom prst="rect">
            <a:avLst/>
          </a:prstGeom>
          <a:noFill/>
        </p:spPr>
        <p:txBody>
          <a:bodyPr wrap="square">
            <a:spAutoFit/>
          </a:bodyPr>
          <a:lstStyle/>
          <a:p>
            <a:pPr algn="l"/>
            <a:r>
              <a:rPr sz="750" b="0" i="0">
                <a:solidFill>
                  <a:srgbClr val="2C3E50"/>
                </a:solidFill>
              </a:rPr>
              <a:t>⚠️ Design Discussion
On-going</a:t>
            </a:r>
          </a:p>
        </p:txBody>
      </p:sp>
      <p:sp>
        <p:nvSpPr>
          <p:cNvPr id="31" name="Rectangle 30"/>
          <p:cNvSpPr/>
          <p:nvPr/>
        </p:nvSpPr>
        <p:spPr>
          <a:xfrm>
            <a:off x="6858000" y="1389888"/>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3720" y="1426464"/>
            <a:ext cx="731520" cy="420624"/>
          </a:xfrm>
          <a:prstGeom prst="rect">
            <a:avLst/>
          </a:prstGeom>
          <a:noFill/>
        </p:spPr>
        <p:txBody>
          <a:bodyPr wrap="square">
            <a:spAutoFit/>
          </a:bodyPr>
          <a:lstStyle/>
          <a:p>
            <a:pPr algn="l"/>
            <a:r>
              <a:rPr sz="750" b="1" i="0">
                <a:solidFill>
                  <a:srgbClr val="E84C3C"/>
                </a:solidFill>
              </a:rPr>
              <a:t>HIGH</a:t>
            </a:r>
          </a:p>
        </p:txBody>
      </p:sp>
      <p:sp>
        <p:nvSpPr>
          <p:cNvPr id="33" name="Rectangle 32"/>
          <p:cNvSpPr/>
          <p:nvPr/>
        </p:nvSpPr>
        <p:spPr>
          <a:xfrm>
            <a:off x="7662672" y="1389888"/>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08392" y="1426464"/>
            <a:ext cx="731520" cy="420624"/>
          </a:xfrm>
          <a:prstGeom prst="rect">
            <a:avLst/>
          </a:prstGeom>
          <a:noFill/>
        </p:spPr>
        <p:txBody>
          <a:bodyPr wrap="square">
            <a:spAutoFit/>
          </a:bodyPr>
          <a:lstStyle/>
          <a:p>
            <a:pPr algn="l"/>
            <a:r>
              <a:rPr sz="750" b="1" i="0">
                <a:solidFill>
                  <a:srgbClr val="E84C3C"/>
                </a:solidFill>
              </a:rPr>
              <a:t>HIGH</a:t>
            </a:r>
          </a:p>
        </p:txBody>
      </p:sp>
      <p:sp>
        <p:nvSpPr>
          <p:cNvPr id="35" name="Rectangle 34"/>
          <p:cNvSpPr/>
          <p:nvPr/>
        </p:nvSpPr>
        <p:spPr>
          <a:xfrm>
            <a:off x="8467344" y="1389888"/>
            <a:ext cx="2084831"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13064" y="1426464"/>
            <a:ext cx="2011679" cy="420624"/>
          </a:xfrm>
          <a:prstGeom prst="rect">
            <a:avLst/>
          </a:prstGeom>
          <a:noFill/>
        </p:spPr>
        <p:txBody>
          <a:bodyPr wrap="square">
            <a:spAutoFit/>
          </a:bodyPr>
          <a:lstStyle/>
          <a:p>
            <a:pPr algn="l"/>
            <a:r>
              <a:rPr sz="750" b="0" i="0">
                <a:solidFill>
                  <a:srgbClr val="2C3E50"/>
                </a:solidFill>
              </a:rPr>
              <a:t>Escalate to design team within 3 days. Formal instruction required.</a:t>
            </a:r>
          </a:p>
        </p:txBody>
      </p:sp>
      <p:sp>
        <p:nvSpPr>
          <p:cNvPr id="37" name="Rectangle 36"/>
          <p:cNvSpPr/>
          <p:nvPr/>
        </p:nvSpPr>
        <p:spPr>
          <a:xfrm>
            <a:off x="274320" y="1865376"/>
            <a:ext cx="146304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1901952"/>
            <a:ext cx="1389888" cy="420624"/>
          </a:xfrm>
          <a:prstGeom prst="rect">
            <a:avLst/>
          </a:prstGeom>
          <a:noFill/>
        </p:spPr>
        <p:txBody>
          <a:bodyPr wrap="square">
            <a:spAutoFit/>
          </a:bodyPr>
          <a:lstStyle/>
          <a:p>
            <a:pPr algn="l"/>
            <a:r>
              <a:rPr sz="750" b="0" i="0">
                <a:solidFill>
                  <a:srgbClr val="2C3E50"/>
                </a:solidFill>
              </a:rPr>
              <a:t>ARC_CRC_KA_056</a:t>
            </a:r>
          </a:p>
        </p:txBody>
      </p:sp>
      <p:sp>
        <p:nvSpPr>
          <p:cNvPr id="39" name="Rectangle 38"/>
          <p:cNvSpPr/>
          <p:nvPr/>
        </p:nvSpPr>
        <p:spPr>
          <a:xfrm>
            <a:off x="1737360" y="1865376"/>
            <a:ext cx="82296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83080" y="1901952"/>
            <a:ext cx="749808" cy="420624"/>
          </a:xfrm>
          <a:prstGeom prst="rect">
            <a:avLst/>
          </a:prstGeom>
          <a:noFill/>
        </p:spPr>
        <p:txBody>
          <a:bodyPr wrap="square">
            <a:spAutoFit/>
          </a:bodyPr>
          <a:lstStyle/>
          <a:p>
            <a:pPr algn="l"/>
            <a:r>
              <a:rPr sz="750" b="0" i="0">
                <a:solidFill>
                  <a:srgbClr val="2C3E50"/>
                </a:solidFill>
              </a:rPr>
              <a:t>9F, 10F</a:t>
            </a:r>
          </a:p>
        </p:txBody>
      </p:sp>
      <p:sp>
        <p:nvSpPr>
          <p:cNvPr id="41" name="Rectangle 40"/>
          <p:cNvSpPr/>
          <p:nvPr/>
        </p:nvSpPr>
        <p:spPr>
          <a:xfrm>
            <a:off x="2560320" y="1865376"/>
            <a:ext cx="292608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06040" y="1901952"/>
            <a:ext cx="2852928" cy="420624"/>
          </a:xfrm>
          <a:prstGeom prst="rect">
            <a:avLst/>
          </a:prstGeom>
          <a:noFill/>
        </p:spPr>
        <p:txBody>
          <a:bodyPr wrap="square">
            <a:spAutoFit/>
          </a:bodyPr>
          <a:lstStyle/>
          <a:p>
            <a:pPr algn="l"/>
            <a:r>
              <a:rPr sz="750" b="0" i="0">
                <a:solidFill>
                  <a:srgbClr val="2C3E50"/>
                </a:solidFill>
              </a:rPr>
              <a:t>Ø110 pipe through beam rejected. 6" sleeve + structural detail required</a:t>
            </a:r>
          </a:p>
        </p:txBody>
      </p:sp>
      <p:sp>
        <p:nvSpPr>
          <p:cNvPr id="43" name="Rectangle 42"/>
          <p:cNvSpPr/>
          <p:nvPr/>
        </p:nvSpPr>
        <p:spPr>
          <a:xfrm>
            <a:off x="5486400" y="1865376"/>
            <a:ext cx="137160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32120" y="1901952"/>
            <a:ext cx="1298448" cy="420624"/>
          </a:xfrm>
          <a:prstGeom prst="rect">
            <a:avLst/>
          </a:prstGeom>
          <a:noFill/>
        </p:spPr>
        <p:txBody>
          <a:bodyPr wrap="square">
            <a:spAutoFit/>
          </a:bodyPr>
          <a:lstStyle/>
          <a:p>
            <a:pPr algn="l"/>
            <a:r>
              <a:rPr sz="750" b="0" i="0">
                <a:solidFill>
                  <a:srgbClr val="2C3E50"/>
                </a:solidFill>
              </a:rPr>
              <a:t>❌ Not Accepted</a:t>
            </a:r>
          </a:p>
        </p:txBody>
      </p:sp>
      <p:sp>
        <p:nvSpPr>
          <p:cNvPr id="45" name="Rectangle 44"/>
          <p:cNvSpPr/>
          <p:nvPr/>
        </p:nvSpPr>
        <p:spPr>
          <a:xfrm>
            <a:off x="6858000" y="1865376"/>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03720" y="1901952"/>
            <a:ext cx="731520" cy="420624"/>
          </a:xfrm>
          <a:prstGeom prst="rect">
            <a:avLst/>
          </a:prstGeom>
          <a:noFill/>
        </p:spPr>
        <p:txBody>
          <a:bodyPr wrap="square">
            <a:spAutoFit/>
          </a:bodyPr>
          <a:lstStyle/>
          <a:p>
            <a:pPr algn="l"/>
            <a:r>
              <a:rPr sz="750" b="1" i="0">
                <a:solidFill>
                  <a:srgbClr val="C0392B"/>
                </a:solidFill>
              </a:rPr>
              <a:t>MEDIUM-HIGH</a:t>
            </a:r>
          </a:p>
        </p:txBody>
      </p:sp>
      <p:sp>
        <p:nvSpPr>
          <p:cNvPr id="47" name="Rectangle 46"/>
          <p:cNvSpPr/>
          <p:nvPr/>
        </p:nvSpPr>
        <p:spPr>
          <a:xfrm>
            <a:off x="7662672" y="1865376"/>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08392" y="1901952"/>
            <a:ext cx="731520" cy="420624"/>
          </a:xfrm>
          <a:prstGeom prst="rect">
            <a:avLst/>
          </a:prstGeom>
          <a:noFill/>
        </p:spPr>
        <p:txBody>
          <a:bodyPr wrap="square">
            <a:spAutoFit/>
          </a:bodyPr>
          <a:lstStyle/>
          <a:p>
            <a:pPr algn="l"/>
            <a:r>
              <a:rPr sz="750" b="1" i="0">
                <a:solidFill>
                  <a:srgbClr val="F39C12"/>
                </a:solidFill>
              </a:rPr>
              <a:t>MEDIUM</a:t>
            </a:r>
          </a:p>
        </p:txBody>
      </p:sp>
      <p:sp>
        <p:nvSpPr>
          <p:cNvPr id="49" name="Rectangle 48"/>
          <p:cNvSpPr/>
          <p:nvPr/>
        </p:nvSpPr>
        <p:spPr>
          <a:xfrm>
            <a:off x="8467344" y="1865376"/>
            <a:ext cx="2084831"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13064" y="1901952"/>
            <a:ext cx="2011679" cy="420624"/>
          </a:xfrm>
          <a:prstGeom prst="rect">
            <a:avLst/>
          </a:prstGeom>
          <a:noFill/>
        </p:spPr>
        <p:txBody>
          <a:bodyPr wrap="square">
            <a:spAutoFit/>
          </a:bodyPr>
          <a:lstStyle/>
          <a:p>
            <a:pPr algn="l"/>
            <a:r>
              <a:rPr sz="750" b="0" i="0">
                <a:solidFill>
                  <a:srgbClr val="2C3E50"/>
                </a:solidFill>
              </a:rPr>
              <a:t>Re-submit with correct sleeve detail within 7 days</a:t>
            </a:r>
          </a:p>
        </p:txBody>
      </p:sp>
      <p:sp>
        <p:nvSpPr>
          <p:cNvPr id="51" name="Rectangle 50"/>
          <p:cNvSpPr/>
          <p:nvPr/>
        </p:nvSpPr>
        <p:spPr>
          <a:xfrm>
            <a:off x="274320" y="2340864"/>
            <a:ext cx="146304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0040" y="2377440"/>
            <a:ext cx="1389888" cy="420624"/>
          </a:xfrm>
          <a:prstGeom prst="rect">
            <a:avLst/>
          </a:prstGeom>
          <a:noFill/>
        </p:spPr>
        <p:txBody>
          <a:bodyPr wrap="square">
            <a:spAutoFit/>
          </a:bodyPr>
          <a:lstStyle/>
          <a:p>
            <a:pPr algn="l"/>
            <a:r>
              <a:rPr sz="750" b="0" i="0">
                <a:solidFill>
                  <a:srgbClr val="2C3E50"/>
                </a:solidFill>
              </a:rPr>
              <a:t>ARC_CRC_KA_057</a:t>
            </a:r>
          </a:p>
        </p:txBody>
      </p:sp>
      <p:sp>
        <p:nvSpPr>
          <p:cNvPr id="53" name="Rectangle 52"/>
          <p:cNvSpPr/>
          <p:nvPr/>
        </p:nvSpPr>
        <p:spPr>
          <a:xfrm>
            <a:off x="1737360" y="2340864"/>
            <a:ext cx="82296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783080" y="2377440"/>
            <a:ext cx="749808" cy="420624"/>
          </a:xfrm>
          <a:prstGeom prst="rect">
            <a:avLst/>
          </a:prstGeom>
          <a:noFill/>
        </p:spPr>
        <p:txBody>
          <a:bodyPr wrap="square">
            <a:spAutoFit/>
          </a:bodyPr>
          <a:lstStyle/>
          <a:p>
            <a:pPr algn="l"/>
            <a:r>
              <a:rPr sz="750" b="0" i="0">
                <a:solidFill>
                  <a:srgbClr val="2C3E50"/>
                </a:solidFill>
              </a:rPr>
              <a:t>7F, 8F</a:t>
            </a:r>
          </a:p>
        </p:txBody>
      </p:sp>
      <p:sp>
        <p:nvSpPr>
          <p:cNvPr id="55" name="Rectangle 54"/>
          <p:cNvSpPr/>
          <p:nvPr/>
        </p:nvSpPr>
        <p:spPr>
          <a:xfrm>
            <a:off x="2560320" y="2340864"/>
            <a:ext cx="292608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06040" y="2377440"/>
            <a:ext cx="2852928" cy="420624"/>
          </a:xfrm>
          <a:prstGeom prst="rect">
            <a:avLst/>
          </a:prstGeom>
          <a:noFill/>
        </p:spPr>
        <p:txBody>
          <a:bodyPr wrap="square">
            <a:spAutoFit/>
          </a:bodyPr>
          <a:lstStyle/>
          <a:p>
            <a:pPr algn="l"/>
            <a:r>
              <a:rPr sz="750" b="0" i="0">
                <a:solidFill>
                  <a:srgbClr val="2C3E50"/>
                </a:solidFill>
              </a:rPr>
              <a:t>Points 2 &amp; 4 rejected: beam penetration not accepted; shaft extension to 500mm clear</a:t>
            </a:r>
          </a:p>
        </p:txBody>
      </p:sp>
      <p:sp>
        <p:nvSpPr>
          <p:cNvPr id="57" name="Rectangle 56"/>
          <p:cNvSpPr/>
          <p:nvPr/>
        </p:nvSpPr>
        <p:spPr>
          <a:xfrm>
            <a:off x="5486400" y="2340864"/>
            <a:ext cx="137160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2120" y="2377440"/>
            <a:ext cx="1298448" cy="420624"/>
          </a:xfrm>
          <a:prstGeom prst="rect">
            <a:avLst/>
          </a:prstGeom>
          <a:noFill/>
        </p:spPr>
        <p:txBody>
          <a:bodyPr wrap="square">
            <a:spAutoFit/>
          </a:bodyPr>
          <a:lstStyle/>
          <a:p>
            <a:pPr algn="l"/>
            <a:r>
              <a:rPr sz="750" b="0" i="0">
                <a:solidFill>
                  <a:srgbClr val="2C3E50"/>
                </a:solidFill>
              </a:rPr>
              <a:t>❌ Partially Rejected</a:t>
            </a:r>
          </a:p>
        </p:txBody>
      </p:sp>
      <p:sp>
        <p:nvSpPr>
          <p:cNvPr id="59" name="Rectangle 58"/>
          <p:cNvSpPr/>
          <p:nvPr/>
        </p:nvSpPr>
        <p:spPr>
          <a:xfrm>
            <a:off x="6858000" y="2340864"/>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03720" y="2377440"/>
            <a:ext cx="731520" cy="420624"/>
          </a:xfrm>
          <a:prstGeom prst="rect">
            <a:avLst/>
          </a:prstGeom>
          <a:noFill/>
        </p:spPr>
        <p:txBody>
          <a:bodyPr wrap="square">
            <a:spAutoFit/>
          </a:bodyPr>
          <a:lstStyle/>
          <a:p>
            <a:pPr algn="l"/>
            <a:r>
              <a:rPr sz="750" b="1" i="0">
                <a:solidFill>
                  <a:srgbClr val="F39C12"/>
                </a:solidFill>
              </a:rPr>
              <a:t>MEDIUM</a:t>
            </a:r>
          </a:p>
        </p:txBody>
      </p:sp>
      <p:sp>
        <p:nvSpPr>
          <p:cNvPr id="61" name="Rectangle 60"/>
          <p:cNvSpPr/>
          <p:nvPr/>
        </p:nvSpPr>
        <p:spPr>
          <a:xfrm>
            <a:off x="7662672" y="2340864"/>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08392" y="2377440"/>
            <a:ext cx="731520" cy="420624"/>
          </a:xfrm>
          <a:prstGeom prst="rect">
            <a:avLst/>
          </a:prstGeom>
          <a:noFill/>
        </p:spPr>
        <p:txBody>
          <a:bodyPr wrap="square">
            <a:spAutoFit/>
          </a:bodyPr>
          <a:lstStyle/>
          <a:p>
            <a:pPr algn="l"/>
            <a:r>
              <a:rPr sz="750" b="1" i="0">
                <a:solidFill>
                  <a:srgbClr val="F39C12"/>
                </a:solidFill>
              </a:rPr>
              <a:t>MEDIUM</a:t>
            </a:r>
          </a:p>
        </p:txBody>
      </p:sp>
      <p:sp>
        <p:nvSpPr>
          <p:cNvPr id="63" name="Rectangle 62"/>
          <p:cNvSpPr/>
          <p:nvPr/>
        </p:nvSpPr>
        <p:spPr>
          <a:xfrm>
            <a:off x="8467344" y="2340864"/>
            <a:ext cx="2084831"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13064" y="2377440"/>
            <a:ext cx="2011679" cy="420624"/>
          </a:xfrm>
          <a:prstGeom prst="rect">
            <a:avLst/>
          </a:prstGeom>
          <a:noFill/>
        </p:spPr>
        <p:txBody>
          <a:bodyPr wrap="square">
            <a:spAutoFit/>
          </a:bodyPr>
          <a:lstStyle/>
          <a:p>
            <a:pPr algn="l"/>
            <a:r>
              <a:rPr sz="750" b="0" i="0">
                <a:solidFill>
                  <a:srgbClr val="2C3E50"/>
                </a:solidFill>
              </a:rPr>
              <a:t>Revise points 2 &amp; 4 per consultant comments and resubmit</a:t>
            </a:r>
          </a:p>
        </p:txBody>
      </p:sp>
      <p:sp>
        <p:nvSpPr>
          <p:cNvPr id="65" name="Rectangle 64"/>
          <p:cNvSpPr/>
          <p:nvPr/>
        </p:nvSpPr>
        <p:spPr>
          <a:xfrm>
            <a:off x="274320" y="2816352"/>
            <a:ext cx="146304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0040" y="2852928"/>
            <a:ext cx="1389888" cy="420624"/>
          </a:xfrm>
          <a:prstGeom prst="rect">
            <a:avLst/>
          </a:prstGeom>
          <a:noFill/>
        </p:spPr>
        <p:txBody>
          <a:bodyPr wrap="square">
            <a:spAutoFit/>
          </a:bodyPr>
          <a:lstStyle/>
          <a:p>
            <a:pPr algn="l"/>
            <a:r>
              <a:rPr sz="750" b="0" i="0">
                <a:solidFill>
                  <a:srgbClr val="2C3E50"/>
                </a:solidFill>
              </a:rPr>
              <a:t>ARC_CRC_KA_058</a:t>
            </a:r>
          </a:p>
        </p:txBody>
      </p:sp>
      <p:sp>
        <p:nvSpPr>
          <p:cNvPr id="67" name="Rectangle 66"/>
          <p:cNvSpPr/>
          <p:nvPr/>
        </p:nvSpPr>
        <p:spPr>
          <a:xfrm>
            <a:off x="1737360" y="2816352"/>
            <a:ext cx="82296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83080" y="2852928"/>
            <a:ext cx="749808" cy="420624"/>
          </a:xfrm>
          <a:prstGeom prst="rect">
            <a:avLst/>
          </a:prstGeom>
          <a:noFill/>
        </p:spPr>
        <p:txBody>
          <a:bodyPr wrap="square">
            <a:spAutoFit/>
          </a:bodyPr>
          <a:lstStyle/>
          <a:p>
            <a:pPr algn="l"/>
            <a:r>
              <a:rPr sz="750" b="0" i="0">
                <a:solidFill>
                  <a:srgbClr val="2C3E50"/>
                </a:solidFill>
              </a:rPr>
              <a:t>9F, 10F</a:t>
            </a:r>
          </a:p>
        </p:txBody>
      </p:sp>
      <p:sp>
        <p:nvSpPr>
          <p:cNvPr id="69" name="Rectangle 68"/>
          <p:cNvSpPr/>
          <p:nvPr/>
        </p:nvSpPr>
        <p:spPr>
          <a:xfrm>
            <a:off x="2560320" y="2816352"/>
            <a:ext cx="292608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606040" y="2852928"/>
            <a:ext cx="2852928" cy="420624"/>
          </a:xfrm>
          <a:prstGeom prst="rect">
            <a:avLst/>
          </a:prstGeom>
          <a:noFill/>
        </p:spPr>
        <p:txBody>
          <a:bodyPr wrap="square">
            <a:spAutoFit/>
          </a:bodyPr>
          <a:lstStyle/>
          <a:p>
            <a:pPr algn="l"/>
            <a:r>
              <a:rPr sz="750" b="0" i="0">
                <a:solidFill>
                  <a:srgbClr val="2C3E50"/>
                </a:solidFill>
              </a:rPr>
              <a:t>Ø160/Ø110 pipes through structural drop panel; 4-document package required</a:t>
            </a:r>
          </a:p>
        </p:txBody>
      </p:sp>
      <p:sp>
        <p:nvSpPr>
          <p:cNvPr id="71" name="Rectangle 70"/>
          <p:cNvSpPr/>
          <p:nvPr/>
        </p:nvSpPr>
        <p:spPr>
          <a:xfrm>
            <a:off x="5486400" y="2816352"/>
            <a:ext cx="137160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532120" y="2852928"/>
            <a:ext cx="1298448" cy="420624"/>
          </a:xfrm>
          <a:prstGeom prst="rect">
            <a:avLst/>
          </a:prstGeom>
          <a:noFill/>
        </p:spPr>
        <p:txBody>
          <a:bodyPr wrap="square">
            <a:spAutoFit/>
          </a:bodyPr>
          <a:lstStyle/>
          <a:p>
            <a:pPr algn="l"/>
            <a:r>
              <a:rPr sz="750" b="0" i="0">
                <a:solidFill>
                  <a:srgbClr val="2C3E50"/>
                </a:solidFill>
              </a:rPr>
              <a:t>⚠️ Conditional</a:t>
            </a:r>
          </a:p>
        </p:txBody>
      </p:sp>
      <p:sp>
        <p:nvSpPr>
          <p:cNvPr id="73" name="Rectangle 72"/>
          <p:cNvSpPr/>
          <p:nvPr/>
        </p:nvSpPr>
        <p:spPr>
          <a:xfrm>
            <a:off x="6858000" y="2816352"/>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903720" y="2852928"/>
            <a:ext cx="731520" cy="420624"/>
          </a:xfrm>
          <a:prstGeom prst="rect">
            <a:avLst/>
          </a:prstGeom>
          <a:noFill/>
        </p:spPr>
        <p:txBody>
          <a:bodyPr wrap="square">
            <a:spAutoFit/>
          </a:bodyPr>
          <a:lstStyle/>
          <a:p>
            <a:pPr algn="l"/>
            <a:r>
              <a:rPr sz="750" b="1" i="0">
                <a:solidFill>
                  <a:srgbClr val="E84C3C"/>
                </a:solidFill>
              </a:rPr>
              <a:t>HIGH</a:t>
            </a:r>
          </a:p>
        </p:txBody>
      </p:sp>
      <p:sp>
        <p:nvSpPr>
          <p:cNvPr id="75" name="Rectangle 74"/>
          <p:cNvSpPr/>
          <p:nvPr/>
        </p:nvSpPr>
        <p:spPr>
          <a:xfrm>
            <a:off x="7662672" y="2816352"/>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08392" y="2852928"/>
            <a:ext cx="731520" cy="420624"/>
          </a:xfrm>
          <a:prstGeom prst="rect">
            <a:avLst/>
          </a:prstGeom>
          <a:noFill/>
        </p:spPr>
        <p:txBody>
          <a:bodyPr wrap="square">
            <a:spAutoFit/>
          </a:bodyPr>
          <a:lstStyle/>
          <a:p>
            <a:pPr algn="l"/>
            <a:r>
              <a:rPr sz="750" b="1" i="0">
                <a:solidFill>
                  <a:srgbClr val="E84C3C"/>
                </a:solidFill>
              </a:rPr>
              <a:t>HIGH</a:t>
            </a:r>
          </a:p>
        </p:txBody>
      </p:sp>
      <p:sp>
        <p:nvSpPr>
          <p:cNvPr id="77" name="Rectangle 76"/>
          <p:cNvSpPr/>
          <p:nvPr/>
        </p:nvSpPr>
        <p:spPr>
          <a:xfrm>
            <a:off x="8467344" y="2816352"/>
            <a:ext cx="2084831"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513064" y="2852928"/>
            <a:ext cx="2011679" cy="420624"/>
          </a:xfrm>
          <a:prstGeom prst="rect">
            <a:avLst/>
          </a:prstGeom>
          <a:noFill/>
        </p:spPr>
        <p:txBody>
          <a:bodyPr wrap="square">
            <a:spAutoFit/>
          </a:bodyPr>
          <a:lstStyle/>
          <a:p>
            <a:pPr algn="l"/>
            <a:r>
              <a:rPr sz="750" b="0" i="0">
                <a:solidFill>
                  <a:srgbClr val="2C3E50"/>
                </a:solidFill>
              </a:rPr>
              <a:t>Multi-party meeting within 5 days. Do not penetrate before approval.</a:t>
            </a:r>
          </a:p>
        </p:txBody>
      </p:sp>
      <p:sp>
        <p:nvSpPr>
          <p:cNvPr id="79" name="Rectangle 78"/>
          <p:cNvSpPr/>
          <p:nvPr/>
        </p:nvSpPr>
        <p:spPr>
          <a:xfrm>
            <a:off x="274320" y="3291840"/>
            <a:ext cx="146304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20040" y="3328416"/>
            <a:ext cx="1389888" cy="420624"/>
          </a:xfrm>
          <a:prstGeom prst="rect">
            <a:avLst/>
          </a:prstGeom>
          <a:noFill/>
        </p:spPr>
        <p:txBody>
          <a:bodyPr wrap="square">
            <a:spAutoFit/>
          </a:bodyPr>
          <a:lstStyle/>
          <a:p>
            <a:pPr algn="l"/>
            <a:r>
              <a:rPr sz="750" b="0" i="0">
                <a:solidFill>
                  <a:srgbClr val="2C3E50"/>
                </a:solidFill>
              </a:rPr>
              <a:t>ARC_CRC_KA_059</a:t>
            </a:r>
          </a:p>
        </p:txBody>
      </p:sp>
      <p:sp>
        <p:nvSpPr>
          <p:cNvPr id="81" name="Rectangle 80"/>
          <p:cNvSpPr/>
          <p:nvPr/>
        </p:nvSpPr>
        <p:spPr>
          <a:xfrm>
            <a:off x="1737360" y="3291840"/>
            <a:ext cx="82296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783080" y="3328416"/>
            <a:ext cx="749808" cy="420624"/>
          </a:xfrm>
          <a:prstGeom prst="rect">
            <a:avLst/>
          </a:prstGeom>
          <a:noFill/>
        </p:spPr>
        <p:txBody>
          <a:bodyPr wrap="square">
            <a:spAutoFit/>
          </a:bodyPr>
          <a:lstStyle/>
          <a:p>
            <a:pPr algn="l"/>
            <a:r>
              <a:rPr sz="750" b="0" i="0">
                <a:solidFill>
                  <a:srgbClr val="2C3E50"/>
                </a:solidFill>
              </a:rPr>
              <a:t>10F</a:t>
            </a:r>
          </a:p>
        </p:txBody>
      </p:sp>
      <p:sp>
        <p:nvSpPr>
          <p:cNvPr id="83" name="Rectangle 82"/>
          <p:cNvSpPr/>
          <p:nvPr/>
        </p:nvSpPr>
        <p:spPr>
          <a:xfrm>
            <a:off x="2560320" y="3291840"/>
            <a:ext cx="292608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06040" y="3328416"/>
            <a:ext cx="2852928" cy="420624"/>
          </a:xfrm>
          <a:prstGeom prst="rect">
            <a:avLst/>
          </a:prstGeom>
          <a:noFill/>
        </p:spPr>
        <p:txBody>
          <a:bodyPr wrap="square">
            <a:spAutoFit/>
          </a:bodyPr>
          <a:lstStyle/>
          <a:p>
            <a:pPr algn="l"/>
            <a:r>
              <a:rPr sz="750" b="0" i="0">
                <a:solidFill>
                  <a:srgbClr val="2C3E50"/>
                </a:solidFill>
              </a:rPr>
              <a:t>6" slab sleeves require 4T16 reinforcement cage (T&amp;B + diagonals) before DM sub.</a:t>
            </a:r>
          </a:p>
        </p:txBody>
      </p:sp>
      <p:sp>
        <p:nvSpPr>
          <p:cNvPr id="85" name="Rectangle 84"/>
          <p:cNvSpPr/>
          <p:nvPr/>
        </p:nvSpPr>
        <p:spPr>
          <a:xfrm>
            <a:off x="5486400" y="3291840"/>
            <a:ext cx="137160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532120" y="3328416"/>
            <a:ext cx="1298448" cy="420624"/>
          </a:xfrm>
          <a:prstGeom prst="rect">
            <a:avLst/>
          </a:prstGeom>
          <a:noFill/>
        </p:spPr>
        <p:txBody>
          <a:bodyPr wrap="square">
            <a:spAutoFit/>
          </a:bodyPr>
          <a:lstStyle/>
          <a:p>
            <a:pPr algn="l"/>
            <a:r>
              <a:rPr sz="750" b="0" i="0">
                <a:solidFill>
                  <a:srgbClr val="2C3E50"/>
                </a:solidFill>
              </a:rPr>
              <a:t>✅ Cond. Approved</a:t>
            </a:r>
          </a:p>
        </p:txBody>
      </p:sp>
      <p:sp>
        <p:nvSpPr>
          <p:cNvPr id="87" name="Rectangle 86"/>
          <p:cNvSpPr/>
          <p:nvPr/>
        </p:nvSpPr>
        <p:spPr>
          <a:xfrm>
            <a:off x="6858000" y="3291840"/>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903720" y="3328416"/>
            <a:ext cx="731520" cy="420624"/>
          </a:xfrm>
          <a:prstGeom prst="rect">
            <a:avLst/>
          </a:prstGeom>
          <a:noFill/>
        </p:spPr>
        <p:txBody>
          <a:bodyPr wrap="square">
            <a:spAutoFit/>
          </a:bodyPr>
          <a:lstStyle/>
          <a:p>
            <a:pPr algn="l"/>
            <a:r>
              <a:rPr sz="750" b="1" i="0">
                <a:solidFill>
                  <a:srgbClr val="F39C12"/>
                </a:solidFill>
              </a:rPr>
              <a:t>MEDIUM</a:t>
            </a:r>
          </a:p>
        </p:txBody>
      </p:sp>
      <p:sp>
        <p:nvSpPr>
          <p:cNvPr id="89" name="Rectangle 88"/>
          <p:cNvSpPr/>
          <p:nvPr/>
        </p:nvSpPr>
        <p:spPr>
          <a:xfrm>
            <a:off x="7662672" y="3291840"/>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708392" y="3328416"/>
            <a:ext cx="731520" cy="420624"/>
          </a:xfrm>
          <a:prstGeom prst="rect">
            <a:avLst/>
          </a:prstGeom>
          <a:noFill/>
        </p:spPr>
        <p:txBody>
          <a:bodyPr wrap="square">
            <a:spAutoFit/>
          </a:bodyPr>
          <a:lstStyle/>
          <a:p>
            <a:pPr algn="l"/>
            <a:r>
              <a:rPr sz="750" b="0" i="0">
                <a:solidFill>
                  <a:srgbClr val="1E8756"/>
                </a:solidFill>
              </a:rPr>
              <a:t>LOW-MEDIUM</a:t>
            </a:r>
          </a:p>
        </p:txBody>
      </p:sp>
      <p:sp>
        <p:nvSpPr>
          <p:cNvPr id="91" name="Rectangle 90"/>
          <p:cNvSpPr/>
          <p:nvPr/>
        </p:nvSpPr>
        <p:spPr>
          <a:xfrm>
            <a:off x="8467344" y="3291840"/>
            <a:ext cx="2084831"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513064" y="3328416"/>
            <a:ext cx="2011679" cy="420624"/>
          </a:xfrm>
          <a:prstGeom prst="rect">
            <a:avLst/>
          </a:prstGeom>
          <a:noFill/>
        </p:spPr>
        <p:txBody>
          <a:bodyPr wrap="square">
            <a:spAutoFit/>
          </a:bodyPr>
          <a:lstStyle/>
          <a:p>
            <a:pPr algn="l"/>
            <a:r>
              <a:rPr sz="750" b="0" i="0">
                <a:solidFill>
                  <a:srgbClr val="2C3E50"/>
                </a:solidFill>
              </a:rPr>
              <a:t>Reflect in PT drawings before DM submission</a:t>
            </a:r>
          </a:p>
        </p:txBody>
      </p:sp>
      <p:sp>
        <p:nvSpPr>
          <p:cNvPr id="93" name="Rectangle 92"/>
          <p:cNvSpPr/>
          <p:nvPr/>
        </p:nvSpPr>
        <p:spPr>
          <a:xfrm>
            <a:off x="274320" y="3767328"/>
            <a:ext cx="146304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20040" y="3803904"/>
            <a:ext cx="1389888" cy="420624"/>
          </a:xfrm>
          <a:prstGeom prst="rect">
            <a:avLst/>
          </a:prstGeom>
          <a:noFill/>
        </p:spPr>
        <p:txBody>
          <a:bodyPr wrap="square">
            <a:spAutoFit/>
          </a:bodyPr>
          <a:lstStyle/>
          <a:p>
            <a:pPr algn="l"/>
            <a:r>
              <a:rPr sz="750" b="0" i="0">
                <a:solidFill>
                  <a:srgbClr val="2C3E50"/>
                </a:solidFill>
              </a:rPr>
              <a:t>ARC_CRC_KA_069</a:t>
            </a:r>
          </a:p>
        </p:txBody>
      </p:sp>
      <p:sp>
        <p:nvSpPr>
          <p:cNvPr id="95" name="Rectangle 94"/>
          <p:cNvSpPr/>
          <p:nvPr/>
        </p:nvSpPr>
        <p:spPr>
          <a:xfrm>
            <a:off x="1737360" y="3767328"/>
            <a:ext cx="82296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783080" y="3803904"/>
            <a:ext cx="749808" cy="420624"/>
          </a:xfrm>
          <a:prstGeom prst="rect">
            <a:avLst/>
          </a:prstGeom>
          <a:noFill/>
        </p:spPr>
        <p:txBody>
          <a:bodyPr wrap="square">
            <a:spAutoFit/>
          </a:bodyPr>
          <a:lstStyle/>
          <a:p>
            <a:pPr algn="l"/>
            <a:r>
              <a:rPr sz="750" b="0" i="0">
                <a:solidFill>
                  <a:srgbClr val="2C3E50"/>
                </a:solidFill>
              </a:rPr>
              <a:t>11F</a:t>
            </a:r>
          </a:p>
        </p:txBody>
      </p:sp>
      <p:sp>
        <p:nvSpPr>
          <p:cNvPr id="97" name="Rectangle 96"/>
          <p:cNvSpPr/>
          <p:nvPr/>
        </p:nvSpPr>
        <p:spPr>
          <a:xfrm>
            <a:off x="2560320" y="3767328"/>
            <a:ext cx="292608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606040" y="3803904"/>
            <a:ext cx="2852928" cy="420624"/>
          </a:xfrm>
          <a:prstGeom prst="rect">
            <a:avLst/>
          </a:prstGeom>
          <a:noFill/>
        </p:spPr>
        <p:txBody>
          <a:bodyPr wrap="square">
            <a:spAutoFit/>
          </a:bodyPr>
          <a:lstStyle/>
          <a:p>
            <a:pPr algn="l"/>
            <a:r>
              <a:rPr sz="750" b="0" i="0">
                <a:solidFill>
                  <a:srgbClr val="2C3E50"/>
                </a:solidFill>
              </a:rPr>
              <a:t>Shaft requires vertical &amp; horizontal beam penetrations; MEP impact assessment needed</a:t>
            </a:r>
          </a:p>
        </p:txBody>
      </p:sp>
      <p:sp>
        <p:nvSpPr>
          <p:cNvPr id="99" name="Rectangle 98"/>
          <p:cNvSpPr/>
          <p:nvPr/>
        </p:nvSpPr>
        <p:spPr>
          <a:xfrm>
            <a:off x="5486400" y="3767328"/>
            <a:ext cx="137160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532120" y="3803904"/>
            <a:ext cx="1298448" cy="420624"/>
          </a:xfrm>
          <a:prstGeom prst="rect">
            <a:avLst/>
          </a:prstGeom>
          <a:noFill/>
        </p:spPr>
        <p:txBody>
          <a:bodyPr wrap="square">
            <a:spAutoFit/>
          </a:bodyPr>
          <a:lstStyle/>
          <a:p>
            <a:pPr algn="l"/>
            <a:r>
              <a:rPr sz="750" b="0" i="0">
                <a:solidFill>
                  <a:srgbClr val="2C3E50"/>
                </a:solidFill>
              </a:rPr>
              <a:t>⚠️ Pending MEP Assess.</a:t>
            </a:r>
          </a:p>
        </p:txBody>
      </p:sp>
      <p:sp>
        <p:nvSpPr>
          <p:cNvPr id="101" name="Rectangle 100"/>
          <p:cNvSpPr/>
          <p:nvPr/>
        </p:nvSpPr>
        <p:spPr>
          <a:xfrm>
            <a:off x="6858000" y="3767328"/>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903720" y="3803904"/>
            <a:ext cx="731520" cy="420624"/>
          </a:xfrm>
          <a:prstGeom prst="rect">
            <a:avLst/>
          </a:prstGeom>
          <a:noFill/>
        </p:spPr>
        <p:txBody>
          <a:bodyPr wrap="square">
            <a:spAutoFit/>
          </a:bodyPr>
          <a:lstStyle/>
          <a:p>
            <a:pPr algn="l"/>
            <a:r>
              <a:rPr sz="750" b="1" i="0">
                <a:solidFill>
                  <a:srgbClr val="C0392B"/>
                </a:solidFill>
              </a:rPr>
              <a:t>MEDIUM-HIGH</a:t>
            </a:r>
          </a:p>
        </p:txBody>
      </p:sp>
      <p:sp>
        <p:nvSpPr>
          <p:cNvPr id="103" name="Rectangle 102"/>
          <p:cNvSpPr/>
          <p:nvPr/>
        </p:nvSpPr>
        <p:spPr>
          <a:xfrm>
            <a:off x="7662672" y="3767328"/>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708392" y="3803904"/>
            <a:ext cx="731520" cy="420624"/>
          </a:xfrm>
          <a:prstGeom prst="rect">
            <a:avLst/>
          </a:prstGeom>
          <a:noFill/>
        </p:spPr>
        <p:txBody>
          <a:bodyPr wrap="square">
            <a:spAutoFit/>
          </a:bodyPr>
          <a:lstStyle/>
          <a:p>
            <a:pPr algn="l"/>
            <a:r>
              <a:rPr sz="750" b="1" i="0">
                <a:solidFill>
                  <a:srgbClr val="F39C12"/>
                </a:solidFill>
              </a:rPr>
              <a:t>MEDIUM</a:t>
            </a:r>
          </a:p>
        </p:txBody>
      </p:sp>
      <p:sp>
        <p:nvSpPr>
          <p:cNvPr id="105" name="Rectangle 104"/>
          <p:cNvSpPr/>
          <p:nvPr/>
        </p:nvSpPr>
        <p:spPr>
          <a:xfrm>
            <a:off x="8467344" y="3767328"/>
            <a:ext cx="2084831"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513064" y="3803904"/>
            <a:ext cx="2011679" cy="420624"/>
          </a:xfrm>
          <a:prstGeom prst="rect">
            <a:avLst/>
          </a:prstGeom>
          <a:noFill/>
        </p:spPr>
        <p:txBody>
          <a:bodyPr wrap="square">
            <a:spAutoFit/>
          </a:bodyPr>
          <a:lstStyle/>
          <a:p>
            <a:pPr algn="l"/>
            <a:r>
              <a:rPr sz="750" b="0" i="0">
                <a:solidFill>
                  <a:srgbClr val="2C3E50"/>
                </a:solidFill>
              </a:rPr>
              <a:t>MEP contractor to submit full impact study within 7 days</a:t>
            </a:r>
          </a:p>
        </p:txBody>
      </p:sp>
      <p:sp>
        <p:nvSpPr>
          <p:cNvPr id="107" name="Rectangle 106"/>
          <p:cNvSpPr/>
          <p:nvPr/>
        </p:nvSpPr>
        <p:spPr>
          <a:xfrm>
            <a:off x="274320" y="4242816"/>
            <a:ext cx="146304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20040" y="4279392"/>
            <a:ext cx="1389888" cy="420624"/>
          </a:xfrm>
          <a:prstGeom prst="rect">
            <a:avLst/>
          </a:prstGeom>
          <a:noFill/>
        </p:spPr>
        <p:txBody>
          <a:bodyPr wrap="square">
            <a:spAutoFit/>
          </a:bodyPr>
          <a:lstStyle/>
          <a:p>
            <a:pPr algn="l"/>
            <a:r>
              <a:rPr sz="750" b="0" i="0">
                <a:solidFill>
                  <a:srgbClr val="2C3E50"/>
                </a:solidFill>
              </a:rPr>
              <a:t>GEN_CRC_KA_028</a:t>
            </a:r>
          </a:p>
        </p:txBody>
      </p:sp>
      <p:sp>
        <p:nvSpPr>
          <p:cNvPr id="109" name="Rectangle 108"/>
          <p:cNvSpPr/>
          <p:nvPr/>
        </p:nvSpPr>
        <p:spPr>
          <a:xfrm>
            <a:off x="1737360" y="4242816"/>
            <a:ext cx="82296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783080" y="4279392"/>
            <a:ext cx="749808" cy="420624"/>
          </a:xfrm>
          <a:prstGeom prst="rect">
            <a:avLst/>
          </a:prstGeom>
          <a:noFill/>
        </p:spPr>
        <p:txBody>
          <a:bodyPr wrap="square">
            <a:spAutoFit/>
          </a:bodyPr>
          <a:lstStyle/>
          <a:p>
            <a:pPr algn="l"/>
            <a:r>
              <a:rPr sz="750" b="0" i="0">
                <a:solidFill>
                  <a:srgbClr val="2C3E50"/>
                </a:solidFill>
              </a:rPr>
              <a:t>2F–4F</a:t>
            </a:r>
          </a:p>
        </p:txBody>
      </p:sp>
      <p:sp>
        <p:nvSpPr>
          <p:cNvPr id="111" name="Rectangle 110"/>
          <p:cNvSpPr/>
          <p:nvPr/>
        </p:nvSpPr>
        <p:spPr>
          <a:xfrm>
            <a:off x="2560320" y="4242816"/>
            <a:ext cx="292608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606040" y="4279392"/>
            <a:ext cx="2852928" cy="420624"/>
          </a:xfrm>
          <a:prstGeom prst="rect">
            <a:avLst/>
          </a:prstGeom>
          <a:noFill/>
        </p:spPr>
        <p:txBody>
          <a:bodyPr wrap="square">
            <a:spAutoFit/>
          </a:bodyPr>
          <a:lstStyle/>
          <a:p>
            <a:pPr algn="l"/>
            <a:r>
              <a:rPr sz="750" b="0" i="0">
                <a:solidFill>
                  <a:srgbClr val="2C3E50"/>
                </a:solidFill>
              </a:rPr>
              <a:t>Kitchen floor trap above drop panel — must relocate; 50mm drain in screed approved</a:t>
            </a:r>
          </a:p>
        </p:txBody>
      </p:sp>
      <p:sp>
        <p:nvSpPr>
          <p:cNvPr id="113" name="Rectangle 112"/>
          <p:cNvSpPr/>
          <p:nvPr/>
        </p:nvSpPr>
        <p:spPr>
          <a:xfrm>
            <a:off x="5486400" y="4242816"/>
            <a:ext cx="137160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532120" y="4279392"/>
            <a:ext cx="1298448" cy="420624"/>
          </a:xfrm>
          <a:prstGeom prst="rect">
            <a:avLst/>
          </a:prstGeom>
          <a:noFill/>
        </p:spPr>
        <p:txBody>
          <a:bodyPr wrap="square">
            <a:spAutoFit/>
          </a:bodyPr>
          <a:lstStyle/>
          <a:p>
            <a:pPr algn="l"/>
            <a:r>
              <a:rPr sz="750" b="0" i="0">
                <a:solidFill>
                  <a:srgbClr val="2C3E50"/>
                </a:solidFill>
              </a:rPr>
              <a:t>✅ Cond. Approved</a:t>
            </a:r>
          </a:p>
        </p:txBody>
      </p:sp>
      <p:sp>
        <p:nvSpPr>
          <p:cNvPr id="115" name="Rectangle 114"/>
          <p:cNvSpPr/>
          <p:nvPr/>
        </p:nvSpPr>
        <p:spPr>
          <a:xfrm>
            <a:off x="6858000" y="4242816"/>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903720" y="4279392"/>
            <a:ext cx="731520" cy="420624"/>
          </a:xfrm>
          <a:prstGeom prst="rect">
            <a:avLst/>
          </a:prstGeom>
          <a:noFill/>
        </p:spPr>
        <p:txBody>
          <a:bodyPr wrap="square">
            <a:spAutoFit/>
          </a:bodyPr>
          <a:lstStyle/>
          <a:p>
            <a:pPr algn="l"/>
            <a:r>
              <a:rPr sz="750" b="0" i="0">
                <a:solidFill>
                  <a:srgbClr val="1E8756"/>
                </a:solidFill>
              </a:rPr>
              <a:t>LOW-MEDIUM</a:t>
            </a:r>
          </a:p>
        </p:txBody>
      </p:sp>
      <p:sp>
        <p:nvSpPr>
          <p:cNvPr id="117" name="Rectangle 116"/>
          <p:cNvSpPr/>
          <p:nvPr/>
        </p:nvSpPr>
        <p:spPr>
          <a:xfrm>
            <a:off x="7662672" y="4242816"/>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708392" y="4279392"/>
            <a:ext cx="731520" cy="420624"/>
          </a:xfrm>
          <a:prstGeom prst="rect">
            <a:avLst/>
          </a:prstGeom>
          <a:noFill/>
        </p:spPr>
        <p:txBody>
          <a:bodyPr wrap="square">
            <a:spAutoFit/>
          </a:bodyPr>
          <a:lstStyle/>
          <a:p>
            <a:pPr algn="l"/>
            <a:r>
              <a:rPr sz="750" b="0" i="0">
                <a:solidFill>
                  <a:srgbClr val="1E8756"/>
                </a:solidFill>
              </a:rPr>
              <a:t>LOW</a:t>
            </a:r>
          </a:p>
        </p:txBody>
      </p:sp>
      <p:sp>
        <p:nvSpPr>
          <p:cNvPr id="119" name="Rectangle 118"/>
          <p:cNvSpPr/>
          <p:nvPr/>
        </p:nvSpPr>
        <p:spPr>
          <a:xfrm>
            <a:off x="8467344" y="4242816"/>
            <a:ext cx="2084831"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513064" y="4279392"/>
            <a:ext cx="2011679" cy="420624"/>
          </a:xfrm>
          <a:prstGeom prst="rect">
            <a:avLst/>
          </a:prstGeom>
          <a:noFill/>
        </p:spPr>
        <p:txBody>
          <a:bodyPr wrap="square">
            <a:spAutoFit/>
          </a:bodyPr>
          <a:lstStyle/>
          <a:p>
            <a:pPr algn="l"/>
            <a:r>
              <a:rPr sz="750" b="0" i="0">
                <a:solidFill>
                  <a:srgbClr val="2C3E50"/>
                </a:solidFill>
              </a:rPr>
              <a:t>Confirm revised FT location. Coordinate with tiling contractor</a:t>
            </a:r>
          </a:p>
        </p:txBody>
      </p:sp>
      <p:sp>
        <p:nvSpPr>
          <p:cNvPr id="121" name="Rectangle 120"/>
          <p:cNvSpPr/>
          <p:nvPr/>
        </p:nvSpPr>
        <p:spPr>
          <a:xfrm>
            <a:off x="274320" y="4718304"/>
            <a:ext cx="146304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20040" y="4754880"/>
            <a:ext cx="1389888" cy="420624"/>
          </a:xfrm>
          <a:prstGeom prst="rect">
            <a:avLst/>
          </a:prstGeom>
          <a:noFill/>
        </p:spPr>
        <p:txBody>
          <a:bodyPr wrap="square">
            <a:spAutoFit/>
          </a:bodyPr>
          <a:lstStyle/>
          <a:p>
            <a:pPr algn="l"/>
            <a:r>
              <a:rPr sz="750" b="0" i="0">
                <a:solidFill>
                  <a:srgbClr val="2C3E50"/>
                </a:solidFill>
              </a:rPr>
              <a:t>ARC_CRC_KA_036</a:t>
            </a:r>
          </a:p>
        </p:txBody>
      </p:sp>
      <p:sp>
        <p:nvSpPr>
          <p:cNvPr id="123" name="Rectangle 122"/>
          <p:cNvSpPr/>
          <p:nvPr/>
        </p:nvSpPr>
        <p:spPr>
          <a:xfrm>
            <a:off x="1737360" y="4718304"/>
            <a:ext cx="82296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783080" y="4754880"/>
            <a:ext cx="749808" cy="420624"/>
          </a:xfrm>
          <a:prstGeom prst="rect">
            <a:avLst/>
          </a:prstGeom>
          <a:noFill/>
        </p:spPr>
        <p:txBody>
          <a:bodyPr wrap="square">
            <a:spAutoFit/>
          </a:bodyPr>
          <a:lstStyle/>
          <a:p>
            <a:pPr algn="l"/>
            <a:r>
              <a:rPr sz="750" b="0" i="0">
                <a:solidFill>
                  <a:srgbClr val="2C3E50"/>
                </a:solidFill>
              </a:rPr>
              <a:t>1F</a:t>
            </a:r>
          </a:p>
        </p:txBody>
      </p:sp>
      <p:sp>
        <p:nvSpPr>
          <p:cNvPr id="125" name="Rectangle 124"/>
          <p:cNvSpPr/>
          <p:nvPr/>
        </p:nvSpPr>
        <p:spPr>
          <a:xfrm>
            <a:off x="2560320" y="4718304"/>
            <a:ext cx="292608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606040" y="4754880"/>
            <a:ext cx="2852928" cy="420624"/>
          </a:xfrm>
          <a:prstGeom prst="rect">
            <a:avLst/>
          </a:prstGeom>
          <a:noFill/>
        </p:spPr>
        <p:txBody>
          <a:bodyPr wrap="square">
            <a:spAutoFit/>
          </a:bodyPr>
          <a:lstStyle/>
          <a:p>
            <a:pPr algn="l"/>
            <a:r>
              <a:rPr sz="750" b="0" i="0">
                <a:solidFill>
                  <a:srgbClr val="2C3E50"/>
                </a:solidFill>
              </a:rPr>
              <a:t>Contractor proposal accepted; cavity must be damp-proofed</a:t>
            </a:r>
          </a:p>
        </p:txBody>
      </p:sp>
      <p:sp>
        <p:nvSpPr>
          <p:cNvPr id="127" name="Rectangle 126"/>
          <p:cNvSpPr/>
          <p:nvPr/>
        </p:nvSpPr>
        <p:spPr>
          <a:xfrm>
            <a:off x="5486400" y="4718304"/>
            <a:ext cx="137160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532120" y="4754880"/>
            <a:ext cx="1298448" cy="420624"/>
          </a:xfrm>
          <a:prstGeom prst="rect">
            <a:avLst/>
          </a:prstGeom>
          <a:noFill/>
        </p:spPr>
        <p:txBody>
          <a:bodyPr wrap="square">
            <a:spAutoFit/>
          </a:bodyPr>
          <a:lstStyle/>
          <a:p>
            <a:pPr algn="l"/>
            <a:r>
              <a:rPr sz="750" b="0" i="0">
                <a:solidFill>
                  <a:srgbClr val="2C3E50"/>
                </a:solidFill>
              </a:rPr>
              <a:t>✅ Cond. Approved</a:t>
            </a:r>
          </a:p>
        </p:txBody>
      </p:sp>
      <p:sp>
        <p:nvSpPr>
          <p:cNvPr id="129" name="Rectangle 128"/>
          <p:cNvSpPr/>
          <p:nvPr/>
        </p:nvSpPr>
        <p:spPr>
          <a:xfrm>
            <a:off x="6858000" y="4718304"/>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903720" y="4754880"/>
            <a:ext cx="731520" cy="420624"/>
          </a:xfrm>
          <a:prstGeom prst="rect">
            <a:avLst/>
          </a:prstGeom>
          <a:noFill/>
        </p:spPr>
        <p:txBody>
          <a:bodyPr wrap="square">
            <a:spAutoFit/>
          </a:bodyPr>
          <a:lstStyle/>
          <a:p>
            <a:pPr algn="l"/>
            <a:r>
              <a:rPr sz="750" b="0" i="0">
                <a:solidFill>
                  <a:srgbClr val="1E8756"/>
                </a:solidFill>
              </a:rPr>
              <a:t>LOW</a:t>
            </a:r>
          </a:p>
        </p:txBody>
      </p:sp>
      <p:sp>
        <p:nvSpPr>
          <p:cNvPr id="131" name="Rectangle 130"/>
          <p:cNvSpPr/>
          <p:nvPr/>
        </p:nvSpPr>
        <p:spPr>
          <a:xfrm>
            <a:off x="7662672" y="4718304"/>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708392" y="4754880"/>
            <a:ext cx="731520" cy="420624"/>
          </a:xfrm>
          <a:prstGeom prst="rect">
            <a:avLst/>
          </a:prstGeom>
          <a:noFill/>
        </p:spPr>
        <p:txBody>
          <a:bodyPr wrap="square">
            <a:spAutoFit/>
          </a:bodyPr>
          <a:lstStyle/>
          <a:p>
            <a:pPr algn="l"/>
            <a:r>
              <a:rPr sz="750" b="0" i="0">
                <a:solidFill>
                  <a:srgbClr val="1E8756"/>
                </a:solidFill>
              </a:rPr>
              <a:t>LOW</a:t>
            </a:r>
          </a:p>
        </p:txBody>
      </p:sp>
      <p:sp>
        <p:nvSpPr>
          <p:cNvPr id="133" name="Rectangle 132"/>
          <p:cNvSpPr/>
          <p:nvPr/>
        </p:nvSpPr>
        <p:spPr>
          <a:xfrm>
            <a:off x="8467344" y="4718304"/>
            <a:ext cx="2084831"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513064" y="4754880"/>
            <a:ext cx="2011679" cy="420624"/>
          </a:xfrm>
          <a:prstGeom prst="rect">
            <a:avLst/>
          </a:prstGeom>
          <a:noFill/>
        </p:spPr>
        <p:txBody>
          <a:bodyPr wrap="square">
            <a:spAutoFit/>
          </a:bodyPr>
          <a:lstStyle/>
          <a:p>
            <a:pPr algn="l"/>
            <a:r>
              <a:rPr sz="750" b="0" i="0">
                <a:solidFill>
                  <a:srgbClr val="2C3E50"/>
                </a:solidFill>
              </a:rPr>
              <a:t>Specify damp-proof system and include in IFC drawings</a:t>
            </a:r>
          </a:p>
        </p:txBody>
      </p:sp>
      <p:sp>
        <p:nvSpPr>
          <p:cNvPr id="135" name="Rectangle 134"/>
          <p:cNvSpPr/>
          <p:nvPr/>
        </p:nvSpPr>
        <p:spPr>
          <a:xfrm>
            <a:off x="274320" y="5193792"/>
            <a:ext cx="146304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20040" y="5230368"/>
            <a:ext cx="1389888" cy="420624"/>
          </a:xfrm>
          <a:prstGeom prst="rect">
            <a:avLst/>
          </a:prstGeom>
          <a:noFill/>
        </p:spPr>
        <p:txBody>
          <a:bodyPr wrap="square">
            <a:spAutoFit/>
          </a:bodyPr>
          <a:lstStyle/>
          <a:p>
            <a:pPr algn="l"/>
            <a:r>
              <a:rPr sz="750" b="0" i="0">
                <a:solidFill>
                  <a:srgbClr val="2C3E50"/>
                </a:solidFill>
              </a:rPr>
              <a:t>ARC_CRC_KA_041</a:t>
            </a:r>
          </a:p>
        </p:txBody>
      </p:sp>
      <p:sp>
        <p:nvSpPr>
          <p:cNvPr id="137" name="Rectangle 136"/>
          <p:cNvSpPr/>
          <p:nvPr/>
        </p:nvSpPr>
        <p:spPr>
          <a:xfrm>
            <a:off x="1737360" y="5193792"/>
            <a:ext cx="82296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783080" y="5230368"/>
            <a:ext cx="749808" cy="420624"/>
          </a:xfrm>
          <a:prstGeom prst="rect">
            <a:avLst/>
          </a:prstGeom>
          <a:noFill/>
        </p:spPr>
        <p:txBody>
          <a:bodyPr wrap="square">
            <a:spAutoFit/>
          </a:bodyPr>
          <a:lstStyle/>
          <a:p>
            <a:pPr algn="l"/>
            <a:r>
              <a:rPr sz="750" b="0" i="0">
                <a:solidFill>
                  <a:srgbClr val="2C3E50"/>
                </a:solidFill>
              </a:rPr>
              <a:t>7F, 8F</a:t>
            </a:r>
          </a:p>
        </p:txBody>
      </p:sp>
      <p:sp>
        <p:nvSpPr>
          <p:cNvPr id="139" name="Rectangle 138"/>
          <p:cNvSpPr/>
          <p:nvPr/>
        </p:nvSpPr>
        <p:spPr>
          <a:xfrm>
            <a:off x="2560320" y="5193792"/>
            <a:ext cx="292608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606040" y="5230368"/>
            <a:ext cx="2852928" cy="420624"/>
          </a:xfrm>
          <a:prstGeom prst="rect">
            <a:avLst/>
          </a:prstGeom>
          <a:noFill/>
        </p:spPr>
        <p:txBody>
          <a:bodyPr wrap="square">
            <a:spAutoFit/>
          </a:bodyPr>
          <a:lstStyle/>
          <a:p>
            <a:pPr algn="l"/>
            <a:r>
              <a:rPr sz="750" b="0" i="0">
                <a:solidFill>
                  <a:srgbClr val="2C3E50"/>
                </a:solidFill>
              </a:rPr>
              <a:t>7 shaft modifications: widths extended 250–500mm; sleeves at multiple locations</a:t>
            </a:r>
          </a:p>
        </p:txBody>
      </p:sp>
      <p:sp>
        <p:nvSpPr>
          <p:cNvPr id="141" name="Rectangle 140"/>
          <p:cNvSpPr/>
          <p:nvPr/>
        </p:nvSpPr>
        <p:spPr>
          <a:xfrm>
            <a:off x="5486400" y="5193792"/>
            <a:ext cx="1371600"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532120" y="5230368"/>
            <a:ext cx="1298448" cy="420624"/>
          </a:xfrm>
          <a:prstGeom prst="rect">
            <a:avLst/>
          </a:prstGeom>
          <a:noFill/>
        </p:spPr>
        <p:txBody>
          <a:bodyPr wrap="square">
            <a:spAutoFit/>
          </a:bodyPr>
          <a:lstStyle/>
          <a:p>
            <a:pPr algn="l"/>
            <a:r>
              <a:rPr sz="750" b="0" i="0">
                <a:solidFill>
                  <a:srgbClr val="2C3E50"/>
                </a:solidFill>
              </a:rPr>
              <a:t>✅ No Objection</a:t>
            </a:r>
          </a:p>
        </p:txBody>
      </p:sp>
      <p:sp>
        <p:nvSpPr>
          <p:cNvPr id="143" name="Rectangle 142"/>
          <p:cNvSpPr/>
          <p:nvPr/>
        </p:nvSpPr>
        <p:spPr>
          <a:xfrm>
            <a:off x="6858000" y="5193792"/>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903720" y="5230368"/>
            <a:ext cx="731520" cy="420624"/>
          </a:xfrm>
          <a:prstGeom prst="rect">
            <a:avLst/>
          </a:prstGeom>
          <a:noFill/>
        </p:spPr>
        <p:txBody>
          <a:bodyPr wrap="square">
            <a:spAutoFit/>
          </a:bodyPr>
          <a:lstStyle/>
          <a:p>
            <a:pPr algn="l"/>
            <a:r>
              <a:rPr sz="750" b="1" i="0">
                <a:solidFill>
                  <a:srgbClr val="F39C12"/>
                </a:solidFill>
              </a:rPr>
              <a:t>MEDIUM</a:t>
            </a:r>
          </a:p>
        </p:txBody>
      </p:sp>
      <p:sp>
        <p:nvSpPr>
          <p:cNvPr id="145" name="Rectangle 144"/>
          <p:cNvSpPr/>
          <p:nvPr/>
        </p:nvSpPr>
        <p:spPr>
          <a:xfrm>
            <a:off x="7662672" y="5193792"/>
            <a:ext cx="804672"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708392" y="5230368"/>
            <a:ext cx="731520" cy="420624"/>
          </a:xfrm>
          <a:prstGeom prst="rect">
            <a:avLst/>
          </a:prstGeom>
          <a:noFill/>
        </p:spPr>
        <p:txBody>
          <a:bodyPr wrap="square">
            <a:spAutoFit/>
          </a:bodyPr>
          <a:lstStyle/>
          <a:p>
            <a:pPr algn="l"/>
            <a:r>
              <a:rPr sz="750" b="1" i="0">
                <a:solidFill>
                  <a:srgbClr val="F39C12"/>
                </a:solidFill>
              </a:rPr>
              <a:t>MEDIUM</a:t>
            </a:r>
          </a:p>
        </p:txBody>
      </p:sp>
      <p:sp>
        <p:nvSpPr>
          <p:cNvPr id="147" name="Rectangle 146"/>
          <p:cNvSpPr/>
          <p:nvPr/>
        </p:nvSpPr>
        <p:spPr>
          <a:xfrm>
            <a:off x="8467344" y="5193792"/>
            <a:ext cx="2084831" cy="475488"/>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513064" y="5230368"/>
            <a:ext cx="2011679" cy="420624"/>
          </a:xfrm>
          <a:prstGeom prst="rect">
            <a:avLst/>
          </a:prstGeom>
          <a:noFill/>
        </p:spPr>
        <p:txBody>
          <a:bodyPr wrap="square">
            <a:spAutoFit/>
          </a:bodyPr>
          <a:lstStyle/>
          <a:p>
            <a:pPr algn="l"/>
            <a:r>
              <a:rPr sz="750" b="0" i="0">
                <a:solidFill>
                  <a:srgbClr val="2C3E50"/>
                </a:solidFill>
              </a:rPr>
              <a:t>Coordinate with formwork; confirm all shaft dims before pour</a:t>
            </a:r>
          </a:p>
        </p:txBody>
      </p:sp>
      <p:sp>
        <p:nvSpPr>
          <p:cNvPr id="149" name="Rectangle 148"/>
          <p:cNvSpPr/>
          <p:nvPr/>
        </p:nvSpPr>
        <p:spPr>
          <a:xfrm>
            <a:off x="274320" y="5669279"/>
            <a:ext cx="146304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20040" y="5705855"/>
            <a:ext cx="1389888" cy="420624"/>
          </a:xfrm>
          <a:prstGeom prst="rect">
            <a:avLst/>
          </a:prstGeom>
          <a:noFill/>
        </p:spPr>
        <p:txBody>
          <a:bodyPr wrap="square">
            <a:spAutoFit/>
          </a:bodyPr>
          <a:lstStyle/>
          <a:p>
            <a:pPr algn="l"/>
            <a:r>
              <a:rPr sz="750" b="0" i="0">
                <a:solidFill>
                  <a:srgbClr val="2C3E50"/>
                </a:solidFill>
              </a:rPr>
              <a:t>ARC_CRC_KA_033</a:t>
            </a:r>
          </a:p>
        </p:txBody>
      </p:sp>
      <p:sp>
        <p:nvSpPr>
          <p:cNvPr id="151" name="Rectangle 150"/>
          <p:cNvSpPr/>
          <p:nvPr/>
        </p:nvSpPr>
        <p:spPr>
          <a:xfrm>
            <a:off x="1737360" y="5669279"/>
            <a:ext cx="82296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783080" y="5705855"/>
            <a:ext cx="749808" cy="420624"/>
          </a:xfrm>
          <a:prstGeom prst="rect">
            <a:avLst/>
          </a:prstGeom>
          <a:noFill/>
        </p:spPr>
        <p:txBody>
          <a:bodyPr wrap="square">
            <a:spAutoFit/>
          </a:bodyPr>
          <a:lstStyle/>
          <a:p>
            <a:pPr algn="l"/>
            <a:r>
              <a:rPr sz="750" b="0" i="0">
                <a:solidFill>
                  <a:srgbClr val="2C3E50"/>
                </a:solidFill>
              </a:rPr>
              <a:t>1F</a:t>
            </a:r>
          </a:p>
        </p:txBody>
      </p:sp>
      <p:sp>
        <p:nvSpPr>
          <p:cNvPr id="153" name="Rectangle 152"/>
          <p:cNvSpPr/>
          <p:nvPr/>
        </p:nvSpPr>
        <p:spPr>
          <a:xfrm>
            <a:off x="2560320" y="5669279"/>
            <a:ext cx="292608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606040" y="5705855"/>
            <a:ext cx="2852928" cy="420624"/>
          </a:xfrm>
          <a:prstGeom prst="rect">
            <a:avLst/>
          </a:prstGeom>
          <a:noFill/>
        </p:spPr>
        <p:txBody>
          <a:bodyPr wrap="square">
            <a:spAutoFit/>
          </a:bodyPr>
          <a:lstStyle/>
          <a:p>
            <a:pPr algn="l"/>
            <a:r>
              <a:rPr sz="750" b="0" i="0">
                <a:solidFill>
                  <a:srgbClr val="2C3E50"/>
                </a:solidFill>
              </a:rPr>
              <a:t>Civil interface — insufficient data in log; status unclear</a:t>
            </a:r>
          </a:p>
        </p:txBody>
      </p:sp>
      <p:sp>
        <p:nvSpPr>
          <p:cNvPr id="155" name="Rectangle 154"/>
          <p:cNvSpPr/>
          <p:nvPr/>
        </p:nvSpPr>
        <p:spPr>
          <a:xfrm>
            <a:off x="5486400" y="5669279"/>
            <a:ext cx="1371600"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532120" y="5705855"/>
            <a:ext cx="1298448" cy="420624"/>
          </a:xfrm>
          <a:prstGeom prst="rect">
            <a:avLst/>
          </a:prstGeom>
          <a:noFill/>
        </p:spPr>
        <p:txBody>
          <a:bodyPr wrap="square">
            <a:spAutoFit/>
          </a:bodyPr>
          <a:lstStyle/>
          <a:p>
            <a:pPr algn="l"/>
            <a:r>
              <a:rPr sz="750" b="0" i="0">
                <a:solidFill>
                  <a:srgbClr val="2C3E50"/>
                </a:solidFill>
              </a:rPr>
              <a:t>⚠️ No Response</a:t>
            </a:r>
          </a:p>
        </p:txBody>
      </p:sp>
      <p:sp>
        <p:nvSpPr>
          <p:cNvPr id="157" name="Rectangle 156"/>
          <p:cNvSpPr/>
          <p:nvPr/>
        </p:nvSpPr>
        <p:spPr>
          <a:xfrm>
            <a:off x="6858000" y="5669279"/>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903720" y="5705855"/>
            <a:ext cx="731520" cy="420624"/>
          </a:xfrm>
          <a:prstGeom prst="rect">
            <a:avLst/>
          </a:prstGeom>
          <a:noFill/>
        </p:spPr>
        <p:txBody>
          <a:bodyPr wrap="square">
            <a:spAutoFit/>
          </a:bodyPr>
          <a:lstStyle/>
          <a:p>
            <a:pPr algn="l"/>
            <a:r>
              <a:rPr sz="750" b="0" i="0">
                <a:solidFill>
                  <a:srgbClr val="1E8756"/>
                </a:solidFill>
              </a:rPr>
              <a:t>LOW</a:t>
            </a:r>
          </a:p>
        </p:txBody>
      </p:sp>
      <p:sp>
        <p:nvSpPr>
          <p:cNvPr id="159" name="Rectangle 158"/>
          <p:cNvSpPr/>
          <p:nvPr/>
        </p:nvSpPr>
        <p:spPr>
          <a:xfrm>
            <a:off x="7662672" y="5669279"/>
            <a:ext cx="804672"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708392" y="5705855"/>
            <a:ext cx="731520" cy="420624"/>
          </a:xfrm>
          <a:prstGeom prst="rect">
            <a:avLst/>
          </a:prstGeom>
          <a:noFill/>
        </p:spPr>
        <p:txBody>
          <a:bodyPr wrap="square">
            <a:spAutoFit/>
          </a:bodyPr>
          <a:lstStyle/>
          <a:p>
            <a:pPr algn="l"/>
            <a:r>
              <a:rPr sz="750" b="0" i="0">
                <a:solidFill>
                  <a:srgbClr val="1E8756"/>
                </a:solidFill>
              </a:rPr>
              <a:t>LOW</a:t>
            </a:r>
          </a:p>
        </p:txBody>
      </p:sp>
      <p:sp>
        <p:nvSpPr>
          <p:cNvPr id="161" name="Rectangle 160"/>
          <p:cNvSpPr/>
          <p:nvPr/>
        </p:nvSpPr>
        <p:spPr>
          <a:xfrm>
            <a:off x="8467344" y="5669279"/>
            <a:ext cx="2084831" cy="475488"/>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8513064" y="5705855"/>
            <a:ext cx="2011679" cy="420624"/>
          </a:xfrm>
          <a:prstGeom prst="rect">
            <a:avLst/>
          </a:prstGeom>
          <a:noFill/>
        </p:spPr>
        <p:txBody>
          <a:bodyPr wrap="square">
            <a:spAutoFit/>
          </a:bodyPr>
          <a:lstStyle/>
          <a:p>
            <a:pPr algn="l"/>
            <a:r>
              <a:rPr sz="750" b="0" i="0">
                <a:solidFill>
                  <a:srgbClr val="2C3E50"/>
                </a:solidFill>
              </a:rPr>
              <a:t>Clarify status; re-submit if still pending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Table 2 — MEP-Specific RFIs (Part 1 of 2)</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Schedule &amp; Cost Impact Summary  |  Project P159</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141732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344168" cy="237744"/>
          </a:xfrm>
          <a:prstGeom prst="rect">
            <a:avLst/>
          </a:prstGeom>
          <a:noFill/>
        </p:spPr>
        <p:txBody>
          <a:bodyPr wrap="square">
            <a:spAutoFit/>
          </a:bodyPr>
          <a:lstStyle/>
          <a:p>
            <a:pPr algn="ctr"/>
            <a:r>
              <a:rPr sz="850" b="1" i="0">
                <a:solidFill>
                  <a:srgbClr val="FFFFFF"/>
                </a:solidFill>
              </a:rPr>
              <a:t>RFI NUMBER</a:t>
            </a:r>
          </a:p>
        </p:txBody>
      </p:sp>
      <p:sp>
        <p:nvSpPr>
          <p:cNvPr id="11" name="Rectangle 10"/>
          <p:cNvSpPr/>
          <p:nvPr/>
        </p:nvSpPr>
        <p:spPr>
          <a:xfrm>
            <a:off x="1691640" y="1078992"/>
            <a:ext cx="77724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1115568"/>
            <a:ext cx="704088" cy="237744"/>
          </a:xfrm>
          <a:prstGeom prst="rect">
            <a:avLst/>
          </a:prstGeom>
          <a:noFill/>
        </p:spPr>
        <p:txBody>
          <a:bodyPr wrap="square">
            <a:spAutoFit/>
          </a:bodyPr>
          <a:lstStyle/>
          <a:p>
            <a:pPr algn="ctr"/>
            <a:r>
              <a:rPr sz="850" b="1" i="0">
                <a:solidFill>
                  <a:srgbClr val="FFFFFF"/>
                </a:solidFill>
              </a:rPr>
              <a:t>LOCATION</a:t>
            </a:r>
          </a:p>
        </p:txBody>
      </p:sp>
      <p:sp>
        <p:nvSpPr>
          <p:cNvPr id="13" name="Rectangle 12"/>
          <p:cNvSpPr/>
          <p:nvPr/>
        </p:nvSpPr>
        <p:spPr>
          <a:xfrm>
            <a:off x="2468880" y="1078992"/>
            <a:ext cx="9144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115568"/>
            <a:ext cx="841248" cy="237744"/>
          </a:xfrm>
          <a:prstGeom prst="rect">
            <a:avLst/>
          </a:prstGeom>
          <a:noFill/>
        </p:spPr>
        <p:txBody>
          <a:bodyPr wrap="square">
            <a:spAutoFit/>
          </a:bodyPr>
          <a:lstStyle/>
          <a:p>
            <a:pPr algn="ctr"/>
            <a:r>
              <a:rPr sz="850" b="1" i="0">
                <a:solidFill>
                  <a:srgbClr val="FFFFFF"/>
                </a:solidFill>
              </a:rPr>
              <a:t>DISCIPLINE</a:t>
            </a:r>
          </a:p>
        </p:txBody>
      </p:sp>
      <p:sp>
        <p:nvSpPr>
          <p:cNvPr id="15" name="Rectangle 14"/>
          <p:cNvSpPr/>
          <p:nvPr/>
        </p:nvSpPr>
        <p:spPr>
          <a:xfrm>
            <a:off x="3383280" y="1078992"/>
            <a:ext cx="27432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115568"/>
            <a:ext cx="2670048" cy="237744"/>
          </a:xfrm>
          <a:prstGeom prst="rect">
            <a:avLst/>
          </a:prstGeom>
          <a:noFill/>
        </p:spPr>
        <p:txBody>
          <a:bodyPr wrap="square">
            <a:spAutoFit/>
          </a:bodyPr>
          <a:lstStyle/>
          <a:p>
            <a:pPr algn="ctr"/>
            <a:r>
              <a:rPr sz="850" b="1" i="0">
                <a:solidFill>
                  <a:srgbClr val="FFFFFF"/>
                </a:solidFill>
              </a:rPr>
              <a:t>ISSUE SUMMARY</a:t>
            </a:r>
          </a:p>
        </p:txBody>
      </p:sp>
      <p:sp>
        <p:nvSpPr>
          <p:cNvPr id="17" name="Rectangle 16"/>
          <p:cNvSpPr/>
          <p:nvPr/>
        </p:nvSpPr>
        <p:spPr>
          <a:xfrm>
            <a:off x="6126480" y="1078992"/>
            <a:ext cx="123444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115568"/>
            <a:ext cx="1161288" cy="237744"/>
          </a:xfrm>
          <a:prstGeom prst="rect">
            <a:avLst/>
          </a:prstGeom>
          <a:noFill/>
        </p:spPr>
        <p:txBody>
          <a:bodyPr wrap="square">
            <a:spAutoFit/>
          </a:bodyPr>
          <a:lstStyle/>
          <a:p>
            <a:pPr algn="ctr"/>
            <a:r>
              <a:rPr sz="850" b="1" i="0">
                <a:solidFill>
                  <a:srgbClr val="FFFFFF"/>
                </a:solidFill>
              </a:rPr>
              <a:t>STATUS</a:t>
            </a:r>
          </a:p>
        </p:txBody>
      </p:sp>
      <p:sp>
        <p:nvSpPr>
          <p:cNvPr id="19" name="Rectangle 18"/>
          <p:cNvSpPr/>
          <p:nvPr/>
        </p:nvSpPr>
        <p:spPr>
          <a:xfrm>
            <a:off x="7360920" y="1078992"/>
            <a:ext cx="6858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1115568"/>
            <a:ext cx="612648" cy="237744"/>
          </a:xfrm>
          <a:prstGeom prst="rect">
            <a:avLst/>
          </a:prstGeom>
          <a:noFill/>
        </p:spPr>
        <p:txBody>
          <a:bodyPr wrap="square">
            <a:spAutoFit/>
          </a:bodyPr>
          <a:lstStyle/>
          <a:p>
            <a:pPr algn="ctr"/>
            <a:r>
              <a:rPr sz="850" b="1" i="0">
                <a:solidFill>
                  <a:srgbClr val="FFFFFF"/>
                </a:solidFill>
              </a:rPr>
              <a:t>SCHED.</a:t>
            </a:r>
          </a:p>
        </p:txBody>
      </p:sp>
      <p:sp>
        <p:nvSpPr>
          <p:cNvPr id="21" name="Rectangle 20"/>
          <p:cNvSpPr/>
          <p:nvPr/>
        </p:nvSpPr>
        <p:spPr>
          <a:xfrm>
            <a:off x="8046720" y="1078992"/>
            <a:ext cx="6858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1115568"/>
            <a:ext cx="612648" cy="237744"/>
          </a:xfrm>
          <a:prstGeom prst="rect">
            <a:avLst/>
          </a:prstGeom>
          <a:noFill/>
        </p:spPr>
        <p:txBody>
          <a:bodyPr wrap="square">
            <a:spAutoFit/>
          </a:bodyPr>
          <a:lstStyle/>
          <a:p>
            <a:pPr algn="ctr"/>
            <a:r>
              <a:rPr sz="850" b="1" i="0">
                <a:solidFill>
                  <a:srgbClr val="FFFFFF"/>
                </a:solidFill>
              </a:rPr>
              <a:t>COST</a:t>
            </a:r>
          </a:p>
        </p:txBody>
      </p:sp>
      <p:sp>
        <p:nvSpPr>
          <p:cNvPr id="23" name="Rectangle 22"/>
          <p:cNvSpPr/>
          <p:nvPr/>
        </p:nvSpPr>
        <p:spPr>
          <a:xfrm>
            <a:off x="8732520" y="1078992"/>
            <a:ext cx="2039112"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0" y="1115568"/>
            <a:ext cx="1965960" cy="237744"/>
          </a:xfrm>
          <a:prstGeom prst="rect">
            <a:avLst/>
          </a:prstGeom>
          <a:noFill/>
        </p:spPr>
        <p:txBody>
          <a:bodyPr wrap="square">
            <a:spAutoFit/>
          </a:bodyPr>
          <a:lstStyle/>
          <a:p>
            <a:pPr algn="ctr"/>
            <a:r>
              <a:rPr sz="850" b="1" i="0">
                <a:solidFill>
                  <a:srgbClr val="FFFFFF"/>
                </a:solidFill>
              </a:rPr>
              <a:t>ACTION</a:t>
            </a:r>
          </a:p>
        </p:txBody>
      </p:sp>
      <p:sp>
        <p:nvSpPr>
          <p:cNvPr id="25" name="Rectangle 24"/>
          <p:cNvSpPr/>
          <p:nvPr/>
        </p:nvSpPr>
        <p:spPr>
          <a:xfrm>
            <a:off x="274320" y="138988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1426464"/>
            <a:ext cx="1344168" cy="493776"/>
          </a:xfrm>
          <a:prstGeom prst="rect">
            <a:avLst/>
          </a:prstGeom>
          <a:noFill/>
        </p:spPr>
        <p:txBody>
          <a:bodyPr wrap="square">
            <a:spAutoFit/>
          </a:bodyPr>
          <a:lstStyle/>
          <a:p>
            <a:pPr algn="l"/>
            <a:r>
              <a:rPr sz="750" b="0" i="0">
                <a:solidFill>
                  <a:srgbClr val="2C3E50"/>
                </a:solidFill>
              </a:rPr>
              <a:t>ARC_CRC_KA_042
(MEP aspect)</a:t>
            </a:r>
          </a:p>
        </p:txBody>
      </p:sp>
      <p:sp>
        <p:nvSpPr>
          <p:cNvPr id="27" name="Rectangle 26"/>
          <p:cNvSpPr/>
          <p:nvPr/>
        </p:nvSpPr>
        <p:spPr>
          <a:xfrm>
            <a:off x="1691640" y="138988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360" y="1426464"/>
            <a:ext cx="704088" cy="493776"/>
          </a:xfrm>
          <a:prstGeom prst="rect">
            <a:avLst/>
          </a:prstGeom>
          <a:noFill/>
        </p:spPr>
        <p:txBody>
          <a:bodyPr wrap="square">
            <a:spAutoFit/>
          </a:bodyPr>
          <a:lstStyle/>
          <a:p>
            <a:pPr algn="l"/>
            <a:r>
              <a:rPr sz="750" b="0" i="0">
                <a:solidFill>
                  <a:srgbClr val="2C3E50"/>
                </a:solidFill>
              </a:rPr>
              <a:t>7F, 8F</a:t>
            </a:r>
          </a:p>
        </p:txBody>
      </p:sp>
      <p:sp>
        <p:nvSpPr>
          <p:cNvPr id="29" name="Rectangle 28"/>
          <p:cNvSpPr/>
          <p:nvPr/>
        </p:nvSpPr>
        <p:spPr>
          <a:xfrm>
            <a:off x="2468880" y="138988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1426464"/>
            <a:ext cx="841248" cy="493776"/>
          </a:xfrm>
          <a:prstGeom prst="rect">
            <a:avLst/>
          </a:prstGeom>
          <a:noFill/>
        </p:spPr>
        <p:txBody>
          <a:bodyPr wrap="square">
            <a:spAutoFit/>
          </a:bodyPr>
          <a:lstStyle/>
          <a:p>
            <a:pPr algn="l"/>
            <a:r>
              <a:rPr sz="750" b="0" i="0">
                <a:solidFill>
                  <a:srgbClr val="2C3E50"/>
                </a:solidFill>
              </a:rPr>
              <a:t>Plumbing /
Mechanical</a:t>
            </a:r>
          </a:p>
        </p:txBody>
      </p:sp>
      <p:sp>
        <p:nvSpPr>
          <p:cNvPr id="31" name="Rectangle 30"/>
          <p:cNvSpPr/>
          <p:nvPr/>
        </p:nvSpPr>
        <p:spPr>
          <a:xfrm>
            <a:off x="3383280" y="138988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29000" y="1426464"/>
            <a:ext cx="2670048" cy="493776"/>
          </a:xfrm>
          <a:prstGeom prst="rect">
            <a:avLst/>
          </a:prstGeom>
          <a:noFill/>
        </p:spPr>
        <p:txBody>
          <a:bodyPr wrap="square">
            <a:spAutoFit/>
          </a:bodyPr>
          <a:lstStyle/>
          <a:p>
            <a:pPr algn="l"/>
            <a:r>
              <a:rPr sz="750" b="0" i="0">
                <a:solidFill>
                  <a:srgbClr val="2C3E50"/>
                </a:solidFill>
              </a:rPr>
              <a:t>Shaft must fit DN160 drainage riser + chilled water riser simultaneously. Linked to beam shift.</a:t>
            </a:r>
          </a:p>
        </p:txBody>
      </p:sp>
      <p:sp>
        <p:nvSpPr>
          <p:cNvPr id="33" name="Rectangle 32"/>
          <p:cNvSpPr/>
          <p:nvPr/>
        </p:nvSpPr>
        <p:spPr>
          <a:xfrm>
            <a:off x="6126480" y="138988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0" y="1426464"/>
            <a:ext cx="1161288" cy="493776"/>
          </a:xfrm>
          <a:prstGeom prst="rect">
            <a:avLst/>
          </a:prstGeom>
          <a:noFill/>
        </p:spPr>
        <p:txBody>
          <a:bodyPr wrap="square">
            <a:spAutoFit/>
          </a:bodyPr>
          <a:lstStyle/>
          <a:p>
            <a:pPr algn="l"/>
            <a:r>
              <a:rPr sz="750" b="0" i="0">
                <a:solidFill>
                  <a:srgbClr val="2C3E50"/>
                </a:solidFill>
              </a:rPr>
              <a:t>⚠️ On-going</a:t>
            </a:r>
          </a:p>
        </p:txBody>
      </p:sp>
      <p:sp>
        <p:nvSpPr>
          <p:cNvPr id="35" name="Rectangle 34"/>
          <p:cNvSpPr/>
          <p:nvPr/>
        </p:nvSpPr>
        <p:spPr>
          <a:xfrm>
            <a:off x="7360920" y="138988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0" y="1426464"/>
            <a:ext cx="612648" cy="493776"/>
          </a:xfrm>
          <a:prstGeom prst="rect">
            <a:avLst/>
          </a:prstGeom>
          <a:noFill/>
        </p:spPr>
        <p:txBody>
          <a:bodyPr wrap="square">
            <a:spAutoFit/>
          </a:bodyPr>
          <a:lstStyle/>
          <a:p>
            <a:pPr algn="l"/>
            <a:r>
              <a:rPr sz="750" b="1" i="0">
                <a:solidFill>
                  <a:srgbClr val="E84C3C"/>
                </a:solidFill>
              </a:rPr>
              <a:t>HIGH</a:t>
            </a:r>
          </a:p>
        </p:txBody>
      </p:sp>
      <p:sp>
        <p:nvSpPr>
          <p:cNvPr id="37" name="Rectangle 36"/>
          <p:cNvSpPr/>
          <p:nvPr/>
        </p:nvSpPr>
        <p:spPr>
          <a:xfrm>
            <a:off x="8046720" y="138988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92440" y="1426464"/>
            <a:ext cx="612648" cy="493776"/>
          </a:xfrm>
          <a:prstGeom prst="rect">
            <a:avLst/>
          </a:prstGeom>
          <a:noFill/>
        </p:spPr>
        <p:txBody>
          <a:bodyPr wrap="square">
            <a:spAutoFit/>
          </a:bodyPr>
          <a:lstStyle/>
          <a:p>
            <a:pPr algn="l"/>
            <a:r>
              <a:rPr sz="750" b="1" i="0">
                <a:solidFill>
                  <a:srgbClr val="E84C3C"/>
                </a:solidFill>
              </a:rPr>
              <a:t>HIGH</a:t>
            </a:r>
          </a:p>
        </p:txBody>
      </p:sp>
      <p:sp>
        <p:nvSpPr>
          <p:cNvPr id="39" name="Rectangle 38"/>
          <p:cNvSpPr/>
          <p:nvPr/>
        </p:nvSpPr>
        <p:spPr>
          <a:xfrm>
            <a:off x="8732520" y="138988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78240" y="1426464"/>
            <a:ext cx="1965960" cy="493776"/>
          </a:xfrm>
          <a:prstGeom prst="rect">
            <a:avLst/>
          </a:prstGeom>
          <a:noFill/>
        </p:spPr>
        <p:txBody>
          <a:bodyPr wrap="square">
            <a:spAutoFit/>
          </a:bodyPr>
          <a:lstStyle/>
          <a:p>
            <a:pPr algn="l"/>
            <a:r>
              <a:rPr sz="750" b="0" i="0">
                <a:solidFill>
                  <a:srgbClr val="2C3E50"/>
                </a:solidFill>
              </a:rPr>
              <a:t>Resolve simultaneously with Civil ARC_042 instruction</a:t>
            </a:r>
          </a:p>
        </p:txBody>
      </p:sp>
      <p:sp>
        <p:nvSpPr>
          <p:cNvPr id="41" name="Rectangle 40"/>
          <p:cNvSpPr/>
          <p:nvPr/>
        </p:nvSpPr>
        <p:spPr>
          <a:xfrm>
            <a:off x="274320" y="193852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1975104"/>
            <a:ext cx="1344168" cy="493776"/>
          </a:xfrm>
          <a:prstGeom prst="rect">
            <a:avLst/>
          </a:prstGeom>
          <a:noFill/>
        </p:spPr>
        <p:txBody>
          <a:bodyPr wrap="square">
            <a:spAutoFit/>
          </a:bodyPr>
          <a:lstStyle/>
          <a:p>
            <a:pPr algn="l"/>
            <a:r>
              <a:rPr sz="750" b="0" i="0">
                <a:solidFill>
                  <a:srgbClr val="2C3E50"/>
                </a:solidFill>
              </a:rPr>
              <a:t>ARC_CRC_KA_040</a:t>
            </a:r>
          </a:p>
        </p:txBody>
      </p:sp>
      <p:sp>
        <p:nvSpPr>
          <p:cNvPr id="43" name="Rectangle 42"/>
          <p:cNvSpPr/>
          <p:nvPr/>
        </p:nvSpPr>
        <p:spPr>
          <a:xfrm>
            <a:off x="1691640" y="193852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737360" y="1975104"/>
            <a:ext cx="704088" cy="493776"/>
          </a:xfrm>
          <a:prstGeom prst="rect">
            <a:avLst/>
          </a:prstGeom>
          <a:noFill/>
        </p:spPr>
        <p:txBody>
          <a:bodyPr wrap="square">
            <a:spAutoFit/>
          </a:bodyPr>
          <a:lstStyle/>
          <a:p>
            <a:pPr algn="l"/>
            <a:r>
              <a:rPr sz="750" b="0" i="0">
                <a:solidFill>
                  <a:srgbClr val="2C3E50"/>
                </a:solidFill>
              </a:rPr>
              <a:t>7F, 8F</a:t>
            </a:r>
          </a:p>
        </p:txBody>
      </p:sp>
      <p:sp>
        <p:nvSpPr>
          <p:cNvPr id="45" name="Rectangle 44"/>
          <p:cNvSpPr/>
          <p:nvPr/>
        </p:nvSpPr>
        <p:spPr>
          <a:xfrm>
            <a:off x="2468880" y="193852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14600" y="1975104"/>
            <a:ext cx="841248" cy="493776"/>
          </a:xfrm>
          <a:prstGeom prst="rect">
            <a:avLst/>
          </a:prstGeom>
          <a:noFill/>
        </p:spPr>
        <p:txBody>
          <a:bodyPr wrap="square">
            <a:spAutoFit/>
          </a:bodyPr>
          <a:lstStyle/>
          <a:p>
            <a:pPr algn="l"/>
            <a:r>
              <a:rPr sz="750" b="0" i="0">
                <a:solidFill>
                  <a:srgbClr val="2C3E50"/>
                </a:solidFill>
              </a:rPr>
              <a:t>Plumbing
(Floor Traps)</a:t>
            </a:r>
          </a:p>
        </p:txBody>
      </p:sp>
      <p:sp>
        <p:nvSpPr>
          <p:cNvPr id="47" name="Rectangle 46"/>
          <p:cNvSpPr/>
          <p:nvPr/>
        </p:nvSpPr>
        <p:spPr>
          <a:xfrm>
            <a:off x="3383280" y="193852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29000" y="1975104"/>
            <a:ext cx="2670048" cy="493776"/>
          </a:xfrm>
          <a:prstGeom prst="rect">
            <a:avLst/>
          </a:prstGeom>
          <a:noFill/>
        </p:spPr>
        <p:txBody>
          <a:bodyPr wrap="square">
            <a:spAutoFit/>
          </a:bodyPr>
          <a:lstStyle/>
          <a:p>
            <a:pPr algn="l"/>
            <a:r>
              <a:rPr sz="750" b="0" i="0">
                <a:solidFill>
                  <a:srgbClr val="2C3E50"/>
                </a:solidFill>
              </a:rPr>
              <a:t>Floor traps moved from beam. ID layout affected. WC FT position needs ID sub-contractor confirmation.</a:t>
            </a:r>
          </a:p>
        </p:txBody>
      </p:sp>
      <p:sp>
        <p:nvSpPr>
          <p:cNvPr id="49" name="Rectangle 48"/>
          <p:cNvSpPr/>
          <p:nvPr/>
        </p:nvSpPr>
        <p:spPr>
          <a:xfrm>
            <a:off x="6126480" y="193852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72200" y="1975104"/>
            <a:ext cx="1161288" cy="493776"/>
          </a:xfrm>
          <a:prstGeom prst="rect">
            <a:avLst/>
          </a:prstGeom>
          <a:noFill/>
        </p:spPr>
        <p:txBody>
          <a:bodyPr wrap="square">
            <a:spAutoFit/>
          </a:bodyPr>
          <a:lstStyle/>
          <a:p>
            <a:pPr algn="l"/>
            <a:r>
              <a:rPr sz="750" b="0" i="0">
                <a:solidFill>
                  <a:srgbClr val="2C3E50"/>
                </a:solidFill>
              </a:rPr>
              <a:t>✅ No Objection</a:t>
            </a:r>
          </a:p>
        </p:txBody>
      </p:sp>
      <p:sp>
        <p:nvSpPr>
          <p:cNvPr id="51" name="Rectangle 50"/>
          <p:cNvSpPr/>
          <p:nvPr/>
        </p:nvSpPr>
        <p:spPr>
          <a:xfrm>
            <a:off x="7360920" y="193852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06640" y="1975104"/>
            <a:ext cx="612648" cy="493776"/>
          </a:xfrm>
          <a:prstGeom prst="rect">
            <a:avLst/>
          </a:prstGeom>
          <a:noFill/>
        </p:spPr>
        <p:txBody>
          <a:bodyPr wrap="square">
            <a:spAutoFit/>
          </a:bodyPr>
          <a:lstStyle/>
          <a:p>
            <a:pPr algn="l"/>
            <a:r>
              <a:rPr sz="750" b="0" i="0">
                <a:solidFill>
                  <a:srgbClr val="1E8756"/>
                </a:solidFill>
              </a:rPr>
              <a:t>LOW-MEDIUM</a:t>
            </a:r>
          </a:p>
        </p:txBody>
      </p:sp>
      <p:sp>
        <p:nvSpPr>
          <p:cNvPr id="53" name="Rectangle 52"/>
          <p:cNvSpPr/>
          <p:nvPr/>
        </p:nvSpPr>
        <p:spPr>
          <a:xfrm>
            <a:off x="8046720" y="193852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92440" y="1975104"/>
            <a:ext cx="612648" cy="493776"/>
          </a:xfrm>
          <a:prstGeom prst="rect">
            <a:avLst/>
          </a:prstGeom>
          <a:noFill/>
        </p:spPr>
        <p:txBody>
          <a:bodyPr wrap="square">
            <a:spAutoFit/>
          </a:bodyPr>
          <a:lstStyle/>
          <a:p>
            <a:pPr algn="l"/>
            <a:r>
              <a:rPr sz="750" b="0" i="0">
                <a:solidFill>
                  <a:srgbClr val="1E8756"/>
                </a:solidFill>
              </a:rPr>
              <a:t>LOW</a:t>
            </a:r>
          </a:p>
        </p:txBody>
      </p:sp>
      <p:sp>
        <p:nvSpPr>
          <p:cNvPr id="55" name="Rectangle 54"/>
          <p:cNvSpPr/>
          <p:nvPr/>
        </p:nvSpPr>
        <p:spPr>
          <a:xfrm>
            <a:off x="8732520" y="193852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78240" y="1975104"/>
            <a:ext cx="1965960" cy="493776"/>
          </a:xfrm>
          <a:prstGeom prst="rect">
            <a:avLst/>
          </a:prstGeom>
          <a:noFill/>
        </p:spPr>
        <p:txBody>
          <a:bodyPr wrap="square">
            <a:spAutoFit/>
          </a:bodyPr>
          <a:lstStyle/>
          <a:p>
            <a:pPr algn="l"/>
            <a:r>
              <a:rPr sz="750" b="0" i="0">
                <a:solidFill>
                  <a:srgbClr val="2C3E50"/>
                </a:solidFill>
              </a:rPr>
              <a:t>Formally notify ID sub-contractor; obtain written confirmation</a:t>
            </a:r>
          </a:p>
        </p:txBody>
      </p:sp>
      <p:sp>
        <p:nvSpPr>
          <p:cNvPr id="57" name="Rectangle 56"/>
          <p:cNvSpPr/>
          <p:nvPr/>
        </p:nvSpPr>
        <p:spPr>
          <a:xfrm>
            <a:off x="274320" y="248716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0040" y="2523744"/>
            <a:ext cx="1344168" cy="493776"/>
          </a:xfrm>
          <a:prstGeom prst="rect">
            <a:avLst/>
          </a:prstGeom>
          <a:noFill/>
        </p:spPr>
        <p:txBody>
          <a:bodyPr wrap="square">
            <a:spAutoFit/>
          </a:bodyPr>
          <a:lstStyle/>
          <a:p>
            <a:pPr algn="l"/>
            <a:r>
              <a:rPr sz="750" b="0" i="0">
                <a:solidFill>
                  <a:srgbClr val="2C3E50"/>
                </a:solidFill>
              </a:rPr>
              <a:t>ARC_CRC_KA_053</a:t>
            </a:r>
          </a:p>
        </p:txBody>
      </p:sp>
      <p:sp>
        <p:nvSpPr>
          <p:cNvPr id="59" name="Rectangle 58"/>
          <p:cNvSpPr/>
          <p:nvPr/>
        </p:nvSpPr>
        <p:spPr>
          <a:xfrm>
            <a:off x="1691640" y="248716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737360" y="2523744"/>
            <a:ext cx="704088" cy="493776"/>
          </a:xfrm>
          <a:prstGeom prst="rect">
            <a:avLst/>
          </a:prstGeom>
          <a:noFill/>
        </p:spPr>
        <p:txBody>
          <a:bodyPr wrap="square">
            <a:spAutoFit/>
          </a:bodyPr>
          <a:lstStyle/>
          <a:p>
            <a:pPr algn="l"/>
            <a:r>
              <a:rPr sz="750" b="0" i="0">
                <a:solidFill>
                  <a:srgbClr val="2C3E50"/>
                </a:solidFill>
              </a:rPr>
              <a:t>B1, B2</a:t>
            </a:r>
          </a:p>
        </p:txBody>
      </p:sp>
      <p:sp>
        <p:nvSpPr>
          <p:cNvPr id="61" name="Rectangle 60"/>
          <p:cNvSpPr/>
          <p:nvPr/>
        </p:nvSpPr>
        <p:spPr>
          <a:xfrm>
            <a:off x="2468880" y="248716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514600" y="2523744"/>
            <a:ext cx="841248" cy="493776"/>
          </a:xfrm>
          <a:prstGeom prst="rect">
            <a:avLst/>
          </a:prstGeom>
          <a:noFill/>
        </p:spPr>
        <p:txBody>
          <a:bodyPr wrap="square">
            <a:spAutoFit/>
          </a:bodyPr>
          <a:lstStyle/>
          <a:p>
            <a:pPr algn="l"/>
            <a:r>
              <a:rPr sz="750" b="0" i="0">
                <a:solidFill>
                  <a:srgbClr val="2C3E50"/>
                </a:solidFill>
              </a:rPr>
              <a:t>MEP
(All Services)</a:t>
            </a:r>
          </a:p>
        </p:txBody>
      </p:sp>
      <p:sp>
        <p:nvSpPr>
          <p:cNvPr id="63" name="Rectangle 62"/>
          <p:cNvSpPr/>
          <p:nvPr/>
        </p:nvSpPr>
        <p:spPr>
          <a:xfrm>
            <a:off x="3383280" y="248716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9000" y="2523744"/>
            <a:ext cx="2670048" cy="493776"/>
          </a:xfrm>
          <a:prstGeom prst="rect">
            <a:avLst/>
          </a:prstGeom>
          <a:noFill/>
        </p:spPr>
        <p:txBody>
          <a:bodyPr wrap="square">
            <a:spAutoFit/>
          </a:bodyPr>
          <a:lstStyle/>
          <a:p>
            <a:pPr algn="l"/>
            <a:r>
              <a:rPr sz="750" b="0" i="0">
                <a:solidFill>
                  <a:srgbClr val="2C3E50"/>
                </a:solidFill>
              </a:rPr>
              <a:t>Clearance heights +2.70m / +2.50m confirmed in basements only. Separate RFI still needed for Mezzanine/GF.</a:t>
            </a:r>
          </a:p>
        </p:txBody>
      </p:sp>
      <p:sp>
        <p:nvSpPr>
          <p:cNvPr id="65" name="Rectangle 64"/>
          <p:cNvSpPr/>
          <p:nvPr/>
        </p:nvSpPr>
        <p:spPr>
          <a:xfrm>
            <a:off x="6126480" y="248716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72200" y="2523744"/>
            <a:ext cx="1161288" cy="493776"/>
          </a:xfrm>
          <a:prstGeom prst="rect">
            <a:avLst/>
          </a:prstGeom>
          <a:noFill/>
        </p:spPr>
        <p:txBody>
          <a:bodyPr wrap="square">
            <a:spAutoFit/>
          </a:bodyPr>
          <a:lstStyle/>
          <a:p>
            <a:pPr algn="l"/>
            <a:r>
              <a:rPr sz="750" b="0" i="0">
                <a:solidFill>
                  <a:srgbClr val="2C3E50"/>
                </a:solidFill>
              </a:rPr>
              <a:t>✅ Approved
(Basements)</a:t>
            </a:r>
          </a:p>
        </p:txBody>
      </p:sp>
      <p:sp>
        <p:nvSpPr>
          <p:cNvPr id="67" name="Rectangle 66"/>
          <p:cNvSpPr/>
          <p:nvPr/>
        </p:nvSpPr>
        <p:spPr>
          <a:xfrm>
            <a:off x="7360920" y="248716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06640" y="2523744"/>
            <a:ext cx="612648" cy="493776"/>
          </a:xfrm>
          <a:prstGeom prst="rect">
            <a:avLst/>
          </a:prstGeom>
          <a:noFill/>
        </p:spPr>
        <p:txBody>
          <a:bodyPr wrap="square">
            <a:spAutoFit/>
          </a:bodyPr>
          <a:lstStyle/>
          <a:p>
            <a:pPr algn="l"/>
            <a:r>
              <a:rPr sz="750" b="1" i="0">
                <a:solidFill>
                  <a:srgbClr val="F39C12"/>
                </a:solidFill>
              </a:rPr>
              <a:t>MEDIUM</a:t>
            </a:r>
          </a:p>
        </p:txBody>
      </p:sp>
      <p:sp>
        <p:nvSpPr>
          <p:cNvPr id="69" name="Rectangle 68"/>
          <p:cNvSpPr/>
          <p:nvPr/>
        </p:nvSpPr>
        <p:spPr>
          <a:xfrm>
            <a:off x="8046720" y="248716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92440" y="2523744"/>
            <a:ext cx="612648" cy="493776"/>
          </a:xfrm>
          <a:prstGeom prst="rect">
            <a:avLst/>
          </a:prstGeom>
          <a:noFill/>
        </p:spPr>
        <p:txBody>
          <a:bodyPr wrap="square">
            <a:spAutoFit/>
          </a:bodyPr>
          <a:lstStyle/>
          <a:p>
            <a:pPr algn="l"/>
            <a:r>
              <a:rPr sz="750" b="0" i="0">
                <a:solidFill>
                  <a:srgbClr val="1E8756"/>
                </a:solidFill>
              </a:rPr>
              <a:t>LOW</a:t>
            </a:r>
          </a:p>
        </p:txBody>
      </p:sp>
      <p:sp>
        <p:nvSpPr>
          <p:cNvPr id="71" name="Rectangle 70"/>
          <p:cNvSpPr/>
          <p:nvPr/>
        </p:nvSpPr>
        <p:spPr>
          <a:xfrm>
            <a:off x="8732520" y="248716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78240" y="2523744"/>
            <a:ext cx="1965960" cy="493776"/>
          </a:xfrm>
          <a:prstGeom prst="rect">
            <a:avLst/>
          </a:prstGeom>
          <a:noFill/>
        </p:spPr>
        <p:txBody>
          <a:bodyPr wrap="square">
            <a:spAutoFit/>
          </a:bodyPr>
          <a:lstStyle/>
          <a:p>
            <a:pPr algn="l"/>
            <a:r>
              <a:rPr sz="750" b="0" i="0">
                <a:solidFill>
                  <a:srgbClr val="2C3E50"/>
                </a:solidFill>
              </a:rPr>
              <a:t>Submit Mezzanine/GF clearance RFI immediately</a:t>
            </a:r>
          </a:p>
        </p:txBody>
      </p:sp>
      <p:sp>
        <p:nvSpPr>
          <p:cNvPr id="73" name="Rectangle 72"/>
          <p:cNvSpPr/>
          <p:nvPr/>
        </p:nvSpPr>
        <p:spPr>
          <a:xfrm>
            <a:off x="274320" y="303580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 y="3072384"/>
            <a:ext cx="1344168" cy="493776"/>
          </a:xfrm>
          <a:prstGeom prst="rect">
            <a:avLst/>
          </a:prstGeom>
          <a:noFill/>
        </p:spPr>
        <p:txBody>
          <a:bodyPr wrap="square">
            <a:spAutoFit/>
          </a:bodyPr>
          <a:lstStyle/>
          <a:p>
            <a:pPr algn="l"/>
            <a:r>
              <a:rPr sz="750" b="0" i="0">
                <a:solidFill>
                  <a:srgbClr val="2C3E50"/>
                </a:solidFill>
              </a:rPr>
              <a:t>ARC_CRC_KA_054</a:t>
            </a:r>
          </a:p>
        </p:txBody>
      </p:sp>
      <p:sp>
        <p:nvSpPr>
          <p:cNvPr id="75" name="Rectangle 74"/>
          <p:cNvSpPr/>
          <p:nvPr/>
        </p:nvSpPr>
        <p:spPr>
          <a:xfrm>
            <a:off x="1691640" y="303580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37360" y="3072384"/>
            <a:ext cx="704088" cy="493776"/>
          </a:xfrm>
          <a:prstGeom prst="rect">
            <a:avLst/>
          </a:prstGeom>
          <a:noFill/>
        </p:spPr>
        <p:txBody>
          <a:bodyPr wrap="square">
            <a:spAutoFit/>
          </a:bodyPr>
          <a:lstStyle/>
          <a:p>
            <a:pPr algn="l"/>
            <a:r>
              <a:rPr sz="750" b="0" i="0">
                <a:solidFill>
                  <a:srgbClr val="2C3E50"/>
                </a:solidFill>
              </a:rPr>
              <a:t>9F, 10F</a:t>
            </a:r>
          </a:p>
        </p:txBody>
      </p:sp>
      <p:sp>
        <p:nvSpPr>
          <p:cNvPr id="77" name="Rectangle 76"/>
          <p:cNvSpPr/>
          <p:nvPr/>
        </p:nvSpPr>
        <p:spPr>
          <a:xfrm>
            <a:off x="2468880" y="303580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514600" y="3072384"/>
            <a:ext cx="841248" cy="493776"/>
          </a:xfrm>
          <a:prstGeom prst="rect">
            <a:avLst/>
          </a:prstGeom>
          <a:noFill/>
        </p:spPr>
        <p:txBody>
          <a:bodyPr wrap="square">
            <a:spAutoFit/>
          </a:bodyPr>
          <a:lstStyle/>
          <a:p>
            <a:pPr algn="l"/>
            <a:r>
              <a:rPr sz="750" b="0" i="0">
                <a:solidFill>
                  <a:srgbClr val="2C3E50"/>
                </a:solidFill>
              </a:rPr>
              <a:t>Plumbing /
Mechanical</a:t>
            </a:r>
          </a:p>
        </p:txBody>
      </p:sp>
      <p:sp>
        <p:nvSpPr>
          <p:cNvPr id="79" name="Rectangle 78"/>
          <p:cNvSpPr/>
          <p:nvPr/>
        </p:nvSpPr>
        <p:spPr>
          <a:xfrm>
            <a:off x="3383280" y="303580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429000" y="3072384"/>
            <a:ext cx="2670048" cy="493776"/>
          </a:xfrm>
          <a:prstGeom prst="rect">
            <a:avLst/>
          </a:prstGeom>
          <a:noFill/>
        </p:spPr>
        <p:txBody>
          <a:bodyPr wrap="square">
            <a:spAutoFit/>
          </a:bodyPr>
          <a:lstStyle/>
          <a:p>
            <a:pPr algn="l"/>
            <a:r>
              <a:rPr sz="750" b="0" i="0">
                <a:solidFill>
                  <a:srgbClr val="2C3E50"/>
                </a:solidFill>
              </a:rPr>
              <a:t>Same shaft/beam clash as ARC_042. Open design discussion — four floors blocked.</a:t>
            </a:r>
          </a:p>
        </p:txBody>
      </p:sp>
      <p:sp>
        <p:nvSpPr>
          <p:cNvPr id="81" name="Rectangle 80"/>
          <p:cNvSpPr/>
          <p:nvPr/>
        </p:nvSpPr>
        <p:spPr>
          <a:xfrm>
            <a:off x="6126480" y="303580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72200" y="3072384"/>
            <a:ext cx="1161288" cy="493776"/>
          </a:xfrm>
          <a:prstGeom prst="rect">
            <a:avLst/>
          </a:prstGeom>
          <a:noFill/>
        </p:spPr>
        <p:txBody>
          <a:bodyPr wrap="square">
            <a:spAutoFit/>
          </a:bodyPr>
          <a:lstStyle/>
          <a:p>
            <a:pPr algn="l"/>
            <a:r>
              <a:rPr sz="750" b="0" i="0">
                <a:solidFill>
                  <a:srgbClr val="2C3E50"/>
                </a:solidFill>
              </a:rPr>
              <a:t>⚠️ On-going</a:t>
            </a:r>
          </a:p>
        </p:txBody>
      </p:sp>
      <p:sp>
        <p:nvSpPr>
          <p:cNvPr id="83" name="Rectangle 82"/>
          <p:cNvSpPr/>
          <p:nvPr/>
        </p:nvSpPr>
        <p:spPr>
          <a:xfrm>
            <a:off x="7360920" y="303580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06640" y="3072384"/>
            <a:ext cx="612648" cy="493776"/>
          </a:xfrm>
          <a:prstGeom prst="rect">
            <a:avLst/>
          </a:prstGeom>
          <a:noFill/>
        </p:spPr>
        <p:txBody>
          <a:bodyPr wrap="square">
            <a:spAutoFit/>
          </a:bodyPr>
          <a:lstStyle/>
          <a:p>
            <a:pPr algn="l"/>
            <a:r>
              <a:rPr sz="750" b="1" i="0">
                <a:solidFill>
                  <a:srgbClr val="E84C3C"/>
                </a:solidFill>
              </a:rPr>
              <a:t>HIGH</a:t>
            </a:r>
          </a:p>
        </p:txBody>
      </p:sp>
      <p:sp>
        <p:nvSpPr>
          <p:cNvPr id="85" name="Rectangle 84"/>
          <p:cNvSpPr/>
          <p:nvPr/>
        </p:nvSpPr>
        <p:spPr>
          <a:xfrm>
            <a:off x="8046720" y="303580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92440" y="3072384"/>
            <a:ext cx="612648" cy="493776"/>
          </a:xfrm>
          <a:prstGeom prst="rect">
            <a:avLst/>
          </a:prstGeom>
          <a:noFill/>
        </p:spPr>
        <p:txBody>
          <a:bodyPr wrap="square">
            <a:spAutoFit/>
          </a:bodyPr>
          <a:lstStyle/>
          <a:p>
            <a:pPr algn="l"/>
            <a:r>
              <a:rPr sz="750" b="1" i="0">
                <a:solidFill>
                  <a:srgbClr val="E84C3C"/>
                </a:solidFill>
              </a:rPr>
              <a:t>HIGH</a:t>
            </a:r>
          </a:p>
        </p:txBody>
      </p:sp>
      <p:sp>
        <p:nvSpPr>
          <p:cNvPr id="87" name="Rectangle 86"/>
          <p:cNvSpPr/>
          <p:nvPr/>
        </p:nvSpPr>
        <p:spPr>
          <a:xfrm>
            <a:off x="8732520" y="303580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778240" y="3072384"/>
            <a:ext cx="1965960" cy="493776"/>
          </a:xfrm>
          <a:prstGeom prst="rect">
            <a:avLst/>
          </a:prstGeom>
          <a:noFill/>
        </p:spPr>
        <p:txBody>
          <a:bodyPr wrap="square">
            <a:spAutoFit/>
          </a:bodyPr>
          <a:lstStyle/>
          <a:p>
            <a:pPr algn="l"/>
            <a:r>
              <a:rPr sz="750" b="0" i="0">
                <a:solidFill>
                  <a:srgbClr val="2C3E50"/>
                </a:solidFill>
              </a:rPr>
              <a:t>Resolve with ARC_042 — same instruction covers both</a:t>
            </a:r>
          </a:p>
        </p:txBody>
      </p:sp>
      <p:sp>
        <p:nvSpPr>
          <p:cNvPr id="89" name="Rectangle 88"/>
          <p:cNvSpPr/>
          <p:nvPr/>
        </p:nvSpPr>
        <p:spPr>
          <a:xfrm>
            <a:off x="274320" y="358444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0040" y="3621024"/>
            <a:ext cx="1344168" cy="493776"/>
          </a:xfrm>
          <a:prstGeom prst="rect">
            <a:avLst/>
          </a:prstGeom>
          <a:noFill/>
        </p:spPr>
        <p:txBody>
          <a:bodyPr wrap="square">
            <a:spAutoFit/>
          </a:bodyPr>
          <a:lstStyle/>
          <a:p>
            <a:pPr algn="l"/>
            <a:r>
              <a:rPr sz="750" b="0" i="0">
                <a:solidFill>
                  <a:srgbClr val="2C3E50"/>
                </a:solidFill>
              </a:rPr>
              <a:t>ARC_CRC_KA_055</a:t>
            </a:r>
          </a:p>
        </p:txBody>
      </p:sp>
      <p:sp>
        <p:nvSpPr>
          <p:cNvPr id="91" name="Rectangle 90"/>
          <p:cNvSpPr/>
          <p:nvPr/>
        </p:nvSpPr>
        <p:spPr>
          <a:xfrm>
            <a:off x="1691640" y="358444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737360" y="3621024"/>
            <a:ext cx="704088" cy="493776"/>
          </a:xfrm>
          <a:prstGeom prst="rect">
            <a:avLst/>
          </a:prstGeom>
          <a:noFill/>
        </p:spPr>
        <p:txBody>
          <a:bodyPr wrap="square">
            <a:spAutoFit/>
          </a:bodyPr>
          <a:lstStyle/>
          <a:p>
            <a:pPr algn="l"/>
            <a:r>
              <a:rPr sz="750" b="0" i="0">
                <a:solidFill>
                  <a:srgbClr val="2C3E50"/>
                </a:solidFill>
              </a:rPr>
              <a:t>9F, 10F</a:t>
            </a:r>
          </a:p>
        </p:txBody>
      </p:sp>
      <p:sp>
        <p:nvSpPr>
          <p:cNvPr id="93" name="Rectangle 92"/>
          <p:cNvSpPr/>
          <p:nvPr/>
        </p:nvSpPr>
        <p:spPr>
          <a:xfrm>
            <a:off x="2468880" y="358444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514600" y="3621024"/>
            <a:ext cx="841248" cy="493776"/>
          </a:xfrm>
          <a:prstGeom prst="rect">
            <a:avLst/>
          </a:prstGeom>
          <a:noFill/>
        </p:spPr>
        <p:txBody>
          <a:bodyPr wrap="square">
            <a:spAutoFit/>
          </a:bodyPr>
          <a:lstStyle/>
          <a:p>
            <a:pPr algn="l"/>
            <a:r>
              <a:rPr sz="750" b="0" i="0">
                <a:solidFill>
                  <a:srgbClr val="2C3E50"/>
                </a:solidFill>
              </a:rPr>
              <a:t>Plumbing
(Shafts)</a:t>
            </a:r>
          </a:p>
        </p:txBody>
      </p:sp>
      <p:sp>
        <p:nvSpPr>
          <p:cNvPr id="95" name="Rectangle 94"/>
          <p:cNvSpPr/>
          <p:nvPr/>
        </p:nvSpPr>
        <p:spPr>
          <a:xfrm>
            <a:off x="3383280" y="358444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429000" y="3621024"/>
            <a:ext cx="2670048" cy="493776"/>
          </a:xfrm>
          <a:prstGeom prst="rect">
            <a:avLst/>
          </a:prstGeom>
          <a:noFill/>
        </p:spPr>
        <p:txBody>
          <a:bodyPr wrap="square">
            <a:spAutoFit/>
          </a:bodyPr>
          <a:lstStyle/>
          <a:p>
            <a:pPr algn="l"/>
            <a:r>
              <a:rPr sz="750" b="0" i="0">
                <a:solidFill>
                  <a:srgbClr val="2C3E50"/>
                </a:solidFill>
              </a:rPr>
              <a:t>Follow ARC_040 solution. Tiling coordination required at shaft perimeter on both floors.</a:t>
            </a:r>
          </a:p>
        </p:txBody>
      </p:sp>
      <p:sp>
        <p:nvSpPr>
          <p:cNvPr id="97" name="Rectangle 96"/>
          <p:cNvSpPr/>
          <p:nvPr/>
        </p:nvSpPr>
        <p:spPr>
          <a:xfrm>
            <a:off x="6126480" y="358444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72200" y="3621024"/>
            <a:ext cx="1161288" cy="493776"/>
          </a:xfrm>
          <a:prstGeom prst="rect">
            <a:avLst/>
          </a:prstGeom>
          <a:noFill/>
        </p:spPr>
        <p:txBody>
          <a:bodyPr wrap="square">
            <a:spAutoFit/>
          </a:bodyPr>
          <a:lstStyle/>
          <a:p>
            <a:pPr algn="l"/>
            <a:r>
              <a:rPr sz="750" b="0" i="0">
                <a:solidFill>
                  <a:srgbClr val="2C3E50"/>
                </a:solidFill>
              </a:rPr>
              <a:t>✅ Cond. Approved</a:t>
            </a:r>
          </a:p>
        </p:txBody>
      </p:sp>
      <p:sp>
        <p:nvSpPr>
          <p:cNvPr id="99" name="Rectangle 98"/>
          <p:cNvSpPr/>
          <p:nvPr/>
        </p:nvSpPr>
        <p:spPr>
          <a:xfrm>
            <a:off x="7360920" y="358444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06640" y="3621024"/>
            <a:ext cx="612648" cy="493776"/>
          </a:xfrm>
          <a:prstGeom prst="rect">
            <a:avLst/>
          </a:prstGeom>
          <a:noFill/>
        </p:spPr>
        <p:txBody>
          <a:bodyPr wrap="square">
            <a:spAutoFit/>
          </a:bodyPr>
          <a:lstStyle/>
          <a:p>
            <a:pPr algn="l"/>
            <a:r>
              <a:rPr sz="750" b="0" i="0">
                <a:solidFill>
                  <a:srgbClr val="1E8756"/>
                </a:solidFill>
              </a:rPr>
              <a:t>LOW</a:t>
            </a:r>
          </a:p>
        </p:txBody>
      </p:sp>
      <p:sp>
        <p:nvSpPr>
          <p:cNvPr id="101" name="Rectangle 100"/>
          <p:cNvSpPr/>
          <p:nvPr/>
        </p:nvSpPr>
        <p:spPr>
          <a:xfrm>
            <a:off x="8046720" y="358444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92440" y="3621024"/>
            <a:ext cx="612648" cy="493776"/>
          </a:xfrm>
          <a:prstGeom prst="rect">
            <a:avLst/>
          </a:prstGeom>
          <a:noFill/>
        </p:spPr>
        <p:txBody>
          <a:bodyPr wrap="square">
            <a:spAutoFit/>
          </a:bodyPr>
          <a:lstStyle/>
          <a:p>
            <a:pPr algn="l"/>
            <a:r>
              <a:rPr sz="750" b="0" i="0">
                <a:solidFill>
                  <a:srgbClr val="1E8756"/>
                </a:solidFill>
              </a:rPr>
              <a:t>LOW</a:t>
            </a:r>
          </a:p>
        </p:txBody>
      </p:sp>
      <p:sp>
        <p:nvSpPr>
          <p:cNvPr id="103" name="Rectangle 102"/>
          <p:cNvSpPr/>
          <p:nvPr/>
        </p:nvSpPr>
        <p:spPr>
          <a:xfrm>
            <a:off x="8732520" y="358444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778240" y="3621024"/>
            <a:ext cx="1965960" cy="493776"/>
          </a:xfrm>
          <a:prstGeom prst="rect">
            <a:avLst/>
          </a:prstGeom>
          <a:noFill/>
        </p:spPr>
        <p:txBody>
          <a:bodyPr wrap="square">
            <a:spAutoFit/>
          </a:bodyPr>
          <a:lstStyle/>
          <a:p>
            <a:pPr algn="l"/>
            <a:r>
              <a:rPr sz="750" b="0" i="0">
                <a:solidFill>
                  <a:srgbClr val="2C3E50"/>
                </a:solidFill>
              </a:rPr>
              <a:t>Coordinate with tiling contractor; mark shaft edges on tile drawings</a:t>
            </a:r>
          </a:p>
        </p:txBody>
      </p:sp>
      <p:sp>
        <p:nvSpPr>
          <p:cNvPr id="105" name="Rectangle 104"/>
          <p:cNvSpPr/>
          <p:nvPr/>
        </p:nvSpPr>
        <p:spPr>
          <a:xfrm>
            <a:off x="274320" y="413308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20040" y="4169664"/>
            <a:ext cx="1344168" cy="493776"/>
          </a:xfrm>
          <a:prstGeom prst="rect">
            <a:avLst/>
          </a:prstGeom>
          <a:noFill/>
        </p:spPr>
        <p:txBody>
          <a:bodyPr wrap="square">
            <a:spAutoFit/>
          </a:bodyPr>
          <a:lstStyle/>
          <a:p>
            <a:pPr algn="l"/>
            <a:r>
              <a:rPr sz="750" b="0" i="0">
                <a:solidFill>
                  <a:srgbClr val="2C3E50"/>
                </a:solidFill>
              </a:rPr>
              <a:t>ARC_CRC_KA_063</a:t>
            </a:r>
          </a:p>
        </p:txBody>
      </p:sp>
      <p:sp>
        <p:nvSpPr>
          <p:cNvPr id="107" name="Rectangle 106"/>
          <p:cNvSpPr/>
          <p:nvPr/>
        </p:nvSpPr>
        <p:spPr>
          <a:xfrm>
            <a:off x="1691640" y="413308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737360" y="4169664"/>
            <a:ext cx="704088" cy="493776"/>
          </a:xfrm>
          <a:prstGeom prst="rect">
            <a:avLst/>
          </a:prstGeom>
          <a:noFill/>
        </p:spPr>
        <p:txBody>
          <a:bodyPr wrap="square">
            <a:spAutoFit/>
          </a:bodyPr>
          <a:lstStyle/>
          <a:p>
            <a:pPr algn="l"/>
            <a:r>
              <a:rPr sz="750" b="0" i="0">
                <a:solidFill>
                  <a:srgbClr val="2C3E50"/>
                </a:solidFill>
              </a:rPr>
              <a:t>Multiple</a:t>
            </a:r>
          </a:p>
        </p:txBody>
      </p:sp>
      <p:sp>
        <p:nvSpPr>
          <p:cNvPr id="109" name="Rectangle 108"/>
          <p:cNvSpPr/>
          <p:nvPr/>
        </p:nvSpPr>
        <p:spPr>
          <a:xfrm>
            <a:off x="2468880" y="413308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514600" y="4169664"/>
            <a:ext cx="841248" cy="493776"/>
          </a:xfrm>
          <a:prstGeom prst="rect">
            <a:avLst/>
          </a:prstGeom>
          <a:noFill/>
        </p:spPr>
        <p:txBody>
          <a:bodyPr wrap="square">
            <a:spAutoFit/>
          </a:bodyPr>
          <a:lstStyle/>
          <a:p>
            <a:pPr algn="l"/>
            <a:r>
              <a:rPr sz="750" b="0" i="0">
                <a:solidFill>
                  <a:srgbClr val="2C3E50"/>
                </a:solidFill>
              </a:rPr>
              <a:t>Plumbing
(Floor Drains)</a:t>
            </a:r>
          </a:p>
        </p:txBody>
      </p:sp>
      <p:sp>
        <p:nvSpPr>
          <p:cNvPr id="111" name="Rectangle 110"/>
          <p:cNvSpPr/>
          <p:nvPr/>
        </p:nvSpPr>
        <p:spPr>
          <a:xfrm>
            <a:off x="3383280" y="413308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429000" y="4169664"/>
            <a:ext cx="2670048" cy="493776"/>
          </a:xfrm>
          <a:prstGeom prst="rect">
            <a:avLst/>
          </a:prstGeom>
          <a:noFill/>
        </p:spPr>
        <p:txBody>
          <a:bodyPr wrap="square">
            <a:spAutoFit/>
          </a:bodyPr>
          <a:lstStyle/>
          <a:p>
            <a:pPr algn="l"/>
            <a:r>
              <a:rPr sz="750" b="0" i="0">
                <a:solidFill>
                  <a:srgbClr val="2C3E50"/>
                </a:solidFill>
              </a:rPr>
              <a:t>Floor drain new locations clash with tile joint layout. Shifts required; tile layout approval is a prerequisite.</a:t>
            </a:r>
          </a:p>
        </p:txBody>
      </p:sp>
      <p:sp>
        <p:nvSpPr>
          <p:cNvPr id="113" name="Rectangle 112"/>
          <p:cNvSpPr/>
          <p:nvPr/>
        </p:nvSpPr>
        <p:spPr>
          <a:xfrm>
            <a:off x="6126480" y="413308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72200" y="4169664"/>
            <a:ext cx="1161288" cy="493776"/>
          </a:xfrm>
          <a:prstGeom prst="rect">
            <a:avLst/>
          </a:prstGeom>
          <a:noFill/>
        </p:spPr>
        <p:txBody>
          <a:bodyPr wrap="square">
            <a:spAutoFit/>
          </a:bodyPr>
          <a:lstStyle/>
          <a:p>
            <a:pPr algn="l"/>
            <a:r>
              <a:rPr sz="750" b="0" i="0">
                <a:solidFill>
                  <a:srgbClr val="2C3E50"/>
                </a:solidFill>
              </a:rPr>
              <a:t>✅ Cond. Approved</a:t>
            </a:r>
          </a:p>
        </p:txBody>
      </p:sp>
      <p:sp>
        <p:nvSpPr>
          <p:cNvPr id="115" name="Rectangle 114"/>
          <p:cNvSpPr/>
          <p:nvPr/>
        </p:nvSpPr>
        <p:spPr>
          <a:xfrm>
            <a:off x="7360920" y="413308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4169664"/>
            <a:ext cx="612648" cy="493776"/>
          </a:xfrm>
          <a:prstGeom prst="rect">
            <a:avLst/>
          </a:prstGeom>
          <a:noFill/>
        </p:spPr>
        <p:txBody>
          <a:bodyPr wrap="square">
            <a:spAutoFit/>
          </a:bodyPr>
          <a:lstStyle/>
          <a:p>
            <a:pPr algn="l"/>
            <a:r>
              <a:rPr sz="750" b="1" i="0">
                <a:solidFill>
                  <a:srgbClr val="F39C12"/>
                </a:solidFill>
              </a:rPr>
              <a:t>MEDIUM</a:t>
            </a:r>
          </a:p>
        </p:txBody>
      </p:sp>
      <p:sp>
        <p:nvSpPr>
          <p:cNvPr id="117" name="Rectangle 116"/>
          <p:cNvSpPr/>
          <p:nvPr/>
        </p:nvSpPr>
        <p:spPr>
          <a:xfrm>
            <a:off x="8046720" y="413308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092440" y="4169664"/>
            <a:ext cx="612648" cy="493776"/>
          </a:xfrm>
          <a:prstGeom prst="rect">
            <a:avLst/>
          </a:prstGeom>
          <a:noFill/>
        </p:spPr>
        <p:txBody>
          <a:bodyPr wrap="square">
            <a:spAutoFit/>
          </a:bodyPr>
          <a:lstStyle/>
          <a:p>
            <a:pPr algn="l"/>
            <a:r>
              <a:rPr sz="750" b="0" i="0">
                <a:solidFill>
                  <a:srgbClr val="1E8756"/>
                </a:solidFill>
              </a:rPr>
              <a:t>LOW-MEDIUM</a:t>
            </a:r>
          </a:p>
        </p:txBody>
      </p:sp>
      <p:sp>
        <p:nvSpPr>
          <p:cNvPr id="119" name="Rectangle 118"/>
          <p:cNvSpPr/>
          <p:nvPr/>
        </p:nvSpPr>
        <p:spPr>
          <a:xfrm>
            <a:off x="8732520" y="413308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778240" y="4169664"/>
            <a:ext cx="1965960" cy="493776"/>
          </a:xfrm>
          <a:prstGeom prst="rect">
            <a:avLst/>
          </a:prstGeom>
          <a:noFill/>
        </p:spPr>
        <p:txBody>
          <a:bodyPr wrap="square">
            <a:spAutoFit/>
          </a:bodyPr>
          <a:lstStyle/>
          <a:p>
            <a:pPr algn="l"/>
            <a:r>
              <a:rPr sz="750" b="0" i="0">
                <a:solidFill>
                  <a:srgbClr val="2C3E50"/>
                </a:solidFill>
              </a:rPr>
              <a:t>Obtain approved tile layout before finalising floor drain positions</a:t>
            </a:r>
          </a:p>
        </p:txBody>
      </p:sp>
      <p:sp>
        <p:nvSpPr>
          <p:cNvPr id="121" name="Rectangle 120"/>
          <p:cNvSpPr/>
          <p:nvPr/>
        </p:nvSpPr>
        <p:spPr>
          <a:xfrm>
            <a:off x="274320" y="468172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20040" y="4718304"/>
            <a:ext cx="1344168" cy="493776"/>
          </a:xfrm>
          <a:prstGeom prst="rect">
            <a:avLst/>
          </a:prstGeom>
          <a:noFill/>
        </p:spPr>
        <p:txBody>
          <a:bodyPr wrap="square">
            <a:spAutoFit/>
          </a:bodyPr>
          <a:lstStyle/>
          <a:p>
            <a:pPr algn="l"/>
            <a:r>
              <a:rPr sz="750" b="0" i="0">
                <a:solidFill>
                  <a:srgbClr val="2C3E50"/>
                </a:solidFill>
              </a:rPr>
              <a:t>ARC_CRC_KA_064</a:t>
            </a:r>
          </a:p>
        </p:txBody>
      </p:sp>
      <p:sp>
        <p:nvSpPr>
          <p:cNvPr id="123" name="Rectangle 122"/>
          <p:cNvSpPr/>
          <p:nvPr/>
        </p:nvSpPr>
        <p:spPr>
          <a:xfrm>
            <a:off x="1691640" y="468172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737360" y="4718304"/>
            <a:ext cx="704088" cy="493776"/>
          </a:xfrm>
          <a:prstGeom prst="rect">
            <a:avLst/>
          </a:prstGeom>
          <a:noFill/>
        </p:spPr>
        <p:txBody>
          <a:bodyPr wrap="square">
            <a:spAutoFit/>
          </a:bodyPr>
          <a:lstStyle/>
          <a:p>
            <a:pPr algn="l"/>
            <a:r>
              <a:rPr sz="750" b="0" i="0">
                <a:solidFill>
                  <a:srgbClr val="2C3E50"/>
                </a:solidFill>
              </a:rPr>
              <a:t>11F, 12F</a:t>
            </a:r>
          </a:p>
        </p:txBody>
      </p:sp>
      <p:sp>
        <p:nvSpPr>
          <p:cNvPr id="125" name="Rectangle 124"/>
          <p:cNvSpPr/>
          <p:nvPr/>
        </p:nvSpPr>
        <p:spPr>
          <a:xfrm>
            <a:off x="2468880" y="468172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514600" y="4718304"/>
            <a:ext cx="841248" cy="493776"/>
          </a:xfrm>
          <a:prstGeom prst="rect">
            <a:avLst/>
          </a:prstGeom>
          <a:noFill/>
        </p:spPr>
        <p:txBody>
          <a:bodyPr wrap="square">
            <a:spAutoFit/>
          </a:bodyPr>
          <a:lstStyle/>
          <a:p>
            <a:pPr algn="l"/>
            <a:r>
              <a:rPr sz="750" b="0" i="0">
                <a:solidFill>
                  <a:srgbClr val="2C3E50"/>
                </a:solidFill>
              </a:rPr>
              <a:t>Plumbing
(Shaft)</a:t>
            </a:r>
          </a:p>
        </p:txBody>
      </p:sp>
      <p:sp>
        <p:nvSpPr>
          <p:cNvPr id="127" name="Rectangle 126"/>
          <p:cNvSpPr/>
          <p:nvPr/>
        </p:nvSpPr>
        <p:spPr>
          <a:xfrm>
            <a:off x="3383280" y="468172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3429000" y="4718304"/>
            <a:ext cx="2670048" cy="493776"/>
          </a:xfrm>
          <a:prstGeom prst="rect">
            <a:avLst/>
          </a:prstGeom>
          <a:noFill/>
        </p:spPr>
        <p:txBody>
          <a:bodyPr wrap="square">
            <a:spAutoFit/>
          </a:bodyPr>
          <a:lstStyle/>
          <a:p>
            <a:pPr algn="l"/>
            <a:r>
              <a:rPr sz="750" b="0" i="0">
                <a:solidFill>
                  <a:srgbClr val="2C3E50"/>
                </a:solidFill>
              </a:rPr>
              <a:t>Shaft undersized — extend to minimum 200×200mm clear internal.</a:t>
            </a:r>
          </a:p>
        </p:txBody>
      </p:sp>
      <p:sp>
        <p:nvSpPr>
          <p:cNvPr id="129" name="Rectangle 128"/>
          <p:cNvSpPr/>
          <p:nvPr/>
        </p:nvSpPr>
        <p:spPr>
          <a:xfrm>
            <a:off x="6126480" y="468172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172200" y="4718304"/>
            <a:ext cx="1161288" cy="493776"/>
          </a:xfrm>
          <a:prstGeom prst="rect">
            <a:avLst/>
          </a:prstGeom>
          <a:noFill/>
        </p:spPr>
        <p:txBody>
          <a:bodyPr wrap="square">
            <a:spAutoFit/>
          </a:bodyPr>
          <a:lstStyle/>
          <a:p>
            <a:pPr algn="l"/>
            <a:r>
              <a:rPr sz="750" b="0" i="0">
                <a:solidFill>
                  <a:srgbClr val="2C3E50"/>
                </a:solidFill>
              </a:rPr>
              <a:t>✅ Approved</a:t>
            </a:r>
          </a:p>
        </p:txBody>
      </p:sp>
      <p:sp>
        <p:nvSpPr>
          <p:cNvPr id="131" name="Rectangle 130"/>
          <p:cNvSpPr/>
          <p:nvPr/>
        </p:nvSpPr>
        <p:spPr>
          <a:xfrm>
            <a:off x="7360920" y="468172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406640" y="4718304"/>
            <a:ext cx="612648" cy="493776"/>
          </a:xfrm>
          <a:prstGeom prst="rect">
            <a:avLst/>
          </a:prstGeom>
          <a:noFill/>
        </p:spPr>
        <p:txBody>
          <a:bodyPr wrap="square">
            <a:spAutoFit/>
          </a:bodyPr>
          <a:lstStyle/>
          <a:p>
            <a:pPr algn="l"/>
            <a:r>
              <a:rPr sz="750" b="0" i="0">
                <a:solidFill>
                  <a:srgbClr val="1E8756"/>
                </a:solidFill>
              </a:rPr>
              <a:t>LOW</a:t>
            </a:r>
          </a:p>
        </p:txBody>
      </p:sp>
      <p:sp>
        <p:nvSpPr>
          <p:cNvPr id="133" name="Rectangle 132"/>
          <p:cNvSpPr/>
          <p:nvPr/>
        </p:nvSpPr>
        <p:spPr>
          <a:xfrm>
            <a:off x="8046720" y="468172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092440" y="4718304"/>
            <a:ext cx="612648" cy="493776"/>
          </a:xfrm>
          <a:prstGeom prst="rect">
            <a:avLst/>
          </a:prstGeom>
          <a:noFill/>
        </p:spPr>
        <p:txBody>
          <a:bodyPr wrap="square">
            <a:spAutoFit/>
          </a:bodyPr>
          <a:lstStyle/>
          <a:p>
            <a:pPr algn="l"/>
            <a:r>
              <a:rPr sz="750" b="0" i="0">
                <a:solidFill>
                  <a:srgbClr val="1E8756"/>
                </a:solidFill>
              </a:rPr>
              <a:t>LOW</a:t>
            </a:r>
          </a:p>
        </p:txBody>
      </p:sp>
      <p:sp>
        <p:nvSpPr>
          <p:cNvPr id="135" name="Rectangle 134"/>
          <p:cNvSpPr/>
          <p:nvPr/>
        </p:nvSpPr>
        <p:spPr>
          <a:xfrm>
            <a:off x="8732520" y="468172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778240" y="4718304"/>
            <a:ext cx="1965960" cy="493776"/>
          </a:xfrm>
          <a:prstGeom prst="rect">
            <a:avLst/>
          </a:prstGeom>
          <a:noFill/>
        </p:spPr>
        <p:txBody>
          <a:bodyPr wrap="square">
            <a:spAutoFit/>
          </a:bodyPr>
          <a:lstStyle/>
          <a:p>
            <a:pPr algn="l"/>
            <a:r>
              <a:rPr sz="750" b="0" i="0">
                <a:solidFill>
                  <a:srgbClr val="2C3E50"/>
                </a:solidFill>
              </a:rPr>
              <a:t>Revise formwork drawings; confirm with MEP contractor</a:t>
            </a:r>
          </a:p>
        </p:txBody>
      </p:sp>
      <p:sp>
        <p:nvSpPr>
          <p:cNvPr id="137" name="Rectangle 136"/>
          <p:cNvSpPr/>
          <p:nvPr/>
        </p:nvSpPr>
        <p:spPr>
          <a:xfrm>
            <a:off x="274320" y="523036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20040" y="5266944"/>
            <a:ext cx="1344168" cy="493776"/>
          </a:xfrm>
          <a:prstGeom prst="rect">
            <a:avLst/>
          </a:prstGeom>
          <a:noFill/>
        </p:spPr>
        <p:txBody>
          <a:bodyPr wrap="square">
            <a:spAutoFit/>
          </a:bodyPr>
          <a:lstStyle/>
          <a:p>
            <a:pPr algn="l"/>
            <a:r>
              <a:rPr sz="750" b="0" i="0">
                <a:solidFill>
                  <a:srgbClr val="2C3E50"/>
                </a:solidFill>
              </a:rPr>
              <a:t>ARC_CRC_KA_068</a:t>
            </a:r>
          </a:p>
        </p:txBody>
      </p:sp>
      <p:sp>
        <p:nvSpPr>
          <p:cNvPr id="139" name="Rectangle 138"/>
          <p:cNvSpPr/>
          <p:nvPr/>
        </p:nvSpPr>
        <p:spPr>
          <a:xfrm>
            <a:off x="1691640" y="523036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737360" y="5266944"/>
            <a:ext cx="704088" cy="493776"/>
          </a:xfrm>
          <a:prstGeom prst="rect">
            <a:avLst/>
          </a:prstGeom>
          <a:noFill/>
        </p:spPr>
        <p:txBody>
          <a:bodyPr wrap="square">
            <a:spAutoFit/>
          </a:bodyPr>
          <a:lstStyle/>
          <a:p>
            <a:pPr algn="l"/>
            <a:r>
              <a:rPr sz="750" b="0" i="0">
                <a:solidFill>
                  <a:srgbClr val="2C3E50"/>
                </a:solidFill>
              </a:rPr>
              <a:t>6F</a:t>
            </a:r>
          </a:p>
        </p:txBody>
      </p:sp>
      <p:sp>
        <p:nvSpPr>
          <p:cNvPr id="141" name="Rectangle 140"/>
          <p:cNvSpPr/>
          <p:nvPr/>
        </p:nvSpPr>
        <p:spPr>
          <a:xfrm>
            <a:off x="2468880" y="523036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514600" y="5266944"/>
            <a:ext cx="841248" cy="493776"/>
          </a:xfrm>
          <a:prstGeom prst="rect">
            <a:avLst/>
          </a:prstGeom>
          <a:noFill/>
        </p:spPr>
        <p:txBody>
          <a:bodyPr wrap="square">
            <a:spAutoFit/>
          </a:bodyPr>
          <a:lstStyle/>
          <a:p>
            <a:pPr algn="l"/>
            <a:r>
              <a:rPr sz="750" b="0" i="0">
                <a:solidFill>
                  <a:srgbClr val="2C3E50"/>
                </a:solidFill>
              </a:rPr>
              <a:t>MEP
(All Services)</a:t>
            </a:r>
          </a:p>
        </p:txBody>
      </p:sp>
      <p:sp>
        <p:nvSpPr>
          <p:cNvPr id="143" name="Rectangle 142"/>
          <p:cNvSpPr/>
          <p:nvPr/>
        </p:nvSpPr>
        <p:spPr>
          <a:xfrm>
            <a:off x="3383280" y="523036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429000" y="5266944"/>
            <a:ext cx="2670048" cy="493776"/>
          </a:xfrm>
          <a:prstGeom prst="rect">
            <a:avLst/>
          </a:prstGeom>
          <a:noFill/>
        </p:spPr>
        <p:txBody>
          <a:bodyPr wrap="square">
            <a:spAutoFit/>
          </a:bodyPr>
          <a:lstStyle/>
          <a:p>
            <a:pPr algn="l"/>
            <a:r>
              <a:rPr sz="750" b="0" i="0">
                <a:solidFill>
                  <a:srgbClr val="2C3E50"/>
                </a:solidFill>
              </a:rPr>
              <a:t>MEP sub-contractor must verify constructability and functionality before any work proceeds.</a:t>
            </a:r>
          </a:p>
        </p:txBody>
      </p:sp>
      <p:sp>
        <p:nvSpPr>
          <p:cNvPr id="145" name="Rectangle 144"/>
          <p:cNvSpPr/>
          <p:nvPr/>
        </p:nvSpPr>
        <p:spPr>
          <a:xfrm>
            <a:off x="6126480" y="523036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6172200" y="5266944"/>
            <a:ext cx="1161288" cy="493776"/>
          </a:xfrm>
          <a:prstGeom prst="rect">
            <a:avLst/>
          </a:prstGeom>
          <a:noFill/>
        </p:spPr>
        <p:txBody>
          <a:bodyPr wrap="square">
            <a:spAutoFit/>
          </a:bodyPr>
          <a:lstStyle/>
          <a:p>
            <a:pPr algn="l"/>
            <a:r>
              <a:rPr sz="750" b="0" i="0">
                <a:solidFill>
                  <a:srgbClr val="2C3E50"/>
                </a:solidFill>
              </a:rPr>
              <a:t>⚠️ Pending MEP</a:t>
            </a:r>
          </a:p>
        </p:txBody>
      </p:sp>
      <p:sp>
        <p:nvSpPr>
          <p:cNvPr id="147" name="Rectangle 146"/>
          <p:cNvSpPr/>
          <p:nvPr/>
        </p:nvSpPr>
        <p:spPr>
          <a:xfrm>
            <a:off x="7360920" y="523036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406640" y="5266944"/>
            <a:ext cx="612648" cy="493776"/>
          </a:xfrm>
          <a:prstGeom prst="rect">
            <a:avLst/>
          </a:prstGeom>
          <a:noFill/>
        </p:spPr>
        <p:txBody>
          <a:bodyPr wrap="square">
            <a:spAutoFit/>
          </a:bodyPr>
          <a:lstStyle/>
          <a:p>
            <a:pPr algn="l"/>
            <a:r>
              <a:rPr sz="750" b="1" i="0">
                <a:solidFill>
                  <a:srgbClr val="F39C12"/>
                </a:solidFill>
              </a:rPr>
              <a:t>MEDIUM</a:t>
            </a:r>
          </a:p>
        </p:txBody>
      </p:sp>
      <p:sp>
        <p:nvSpPr>
          <p:cNvPr id="149" name="Rectangle 148"/>
          <p:cNvSpPr/>
          <p:nvPr/>
        </p:nvSpPr>
        <p:spPr>
          <a:xfrm>
            <a:off x="8046720" y="523036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8092440" y="5266944"/>
            <a:ext cx="612648" cy="493776"/>
          </a:xfrm>
          <a:prstGeom prst="rect">
            <a:avLst/>
          </a:prstGeom>
          <a:noFill/>
        </p:spPr>
        <p:txBody>
          <a:bodyPr wrap="square">
            <a:spAutoFit/>
          </a:bodyPr>
          <a:lstStyle/>
          <a:p>
            <a:pPr algn="l"/>
            <a:r>
              <a:rPr sz="750" b="1" i="0">
                <a:solidFill>
                  <a:srgbClr val="F39C12"/>
                </a:solidFill>
              </a:rPr>
              <a:t>MEDIUM</a:t>
            </a:r>
          </a:p>
        </p:txBody>
      </p:sp>
      <p:sp>
        <p:nvSpPr>
          <p:cNvPr id="151" name="Rectangle 150"/>
          <p:cNvSpPr/>
          <p:nvPr/>
        </p:nvSpPr>
        <p:spPr>
          <a:xfrm>
            <a:off x="8732520" y="523036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778240" y="5266944"/>
            <a:ext cx="1965960" cy="493776"/>
          </a:xfrm>
          <a:prstGeom prst="rect">
            <a:avLst/>
          </a:prstGeom>
          <a:noFill/>
        </p:spPr>
        <p:txBody>
          <a:bodyPr wrap="square">
            <a:spAutoFit/>
          </a:bodyPr>
          <a:lstStyle/>
          <a:p>
            <a:pPr algn="l"/>
            <a:r>
              <a:rPr sz="750" b="0" i="0">
                <a:solidFill>
                  <a:srgbClr val="2C3E50"/>
                </a:solidFill>
              </a:rPr>
              <a:t>Formally instruct MEP sub-contractor to submit verification within 7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Table 2 — MEP-Specific RFIs (Part 2 of 2)</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Schedule &amp; Cost Impact Summary  |  Project P159</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141732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344168" cy="237744"/>
          </a:xfrm>
          <a:prstGeom prst="rect">
            <a:avLst/>
          </a:prstGeom>
          <a:noFill/>
        </p:spPr>
        <p:txBody>
          <a:bodyPr wrap="square">
            <a:spAutoFit/>
          </a:bodyPr>
          <a:lstStyle/>
          <a:p>
            <a:pPr algn="ctr"/>
            <a:r>
              <a:rPr sz="850" b="1" i="0">
                <a:solidFill>
                  <a:srgbClr val="FFFFFF"/>
                </a:solidFill>
              </a:rPr>
              <a:t>RFI NUMBER</a:t>
            </a:r>
          </a:p>
        </p:txBody>
      </p:sp>
      <p:sp>
        <p:nvSpPr>
          <p:cNvPr id="11" name="Rectangle 10"/>
          <p:cNvSpPr/>
          <p:nvPr/>
        </p:nvSpPr>
        <p:spPr>
          <a:xfrm>
            <a:off x="1691640" y="1078992"/>
            <a:ext cx="77724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1115568"/>
            <a:ext cx="704088" cy="237744"/>
          </a:xfrm>
          <a:prstGeom prst="rect">
            <a:avLst/>
          </a:prstGeom>
          <a:noFill/>
        </p:spPr>
        <p:txBody>
          <a:bodyPr wrap="square">
            <a:spAutoFit/>
          </a:bodyPr>
          <a:lstStyle/>
          <a:p>
            <a:pPr algn="ctr"/>
            <a:r>
              <a:rPr sz="850" b="1" i="0">
                <a:solidFill>
                  <a:srgbClr val="FFFFFF"/>
                </a:solidFill>
              </a:rPr>
              <a:t>LOCATION</a:t>
            </a:r>
          </a:p>
        </p:txBody>
      </p:sp>
      <p:sp>
        <p:nvSpPr>
          <p:cNvPr id="13" name="Rectangle 12"/>
          <p:cNvSpPr/>
          <p:nvPr/>
        </p:nvSpPr>
        <p:spPr>
          <a:xfrm>
            <a:off x="2468880" y="1078992"/>
            <a:ext cx="9144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115568"/>
            <a:ext cx="841248" cy="237744"/>
          </a:xfrm>
          <a:prstGeom prst="rect">
            <a:avLst/>
          </a:prstGeom>
          <a:noFill/>
        </p:spPr>
        <p:txBody>
          <a:bodyPr wrap="square">
            <a:spAutoFit/>
          </a:bodyPr>
          <a:lstStyle/>
          <a:p>
            <a:pPr algn="ctr"/>
            <a:r>
              <a:rPr sz="850" b="1" i="0">
                <a:solidFill>
                  <a:srgbClr val="FFFFFF"/>
                </a:solidFill>
              </a:rPr>
              <a:t>DISCIPLINE</a:t>
            </a:r>
          </a:p>
        </p:txBody>
      </p:sp>
      <p:sp>
        <p:nvSpPr>
          <p:cNvPr id="15" name="Rectangle 14"/>
          <p:cNvSpPr/>
          <p:nvPr/>
        </p:nvSpPr>
        <p:spPr>
          <a:xfrm>
            <a:off x="3383280" y="1078992"/>
            <a:ext cx="27432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115568"/>
            <a:ext cx="2670048" cy="237744"/>
          </a:xfrm>
          <a:prstGeom prst="rect">
            <a:avLst/>
          </a:prstGeom>
          <a:noFill/>
        </p:spPr>
        <p:txBody>
          <a:bodyPr wrap="square">
            <a:spAutoFit/>
          </a:bodyPr>
          <a:lstStyle/>
          <a:p>
            <a:pPr algn="ctr"/>
            <a:r>
              <a:rPr sz="850" b="1" i="0">
                <a:solidFill>
                  <a:srgbClr val="FFFFFF"/>
                </a:solidFill>
              </a:rPr>
              <a:t>ISSUE SUMMARY</a:t>
            </a:r>
          </a:p>
        </p:txBody>
      </p:sp>
      <p:sp>
        <p:nvSpPr>
          <p:cNvPr id="17" name="Rectangle 16"/>
          <p:cNvSpPr/>
          <p:nvPr/>
        </p:nvSpPr>
        <p:spPr>
          <a:xfrm>
            <a:off x="6126480" y="1078992"/>
            <a:ext cx="123444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115568"/>
            <a:ext cx="1161288" cy="237744"/>
          </a:xfrm>
          <a:prstGeom prst="rect">
            <a:avLst/>
          </a:prstGeom>
          <a:noFill/>
        </p:spPr>
        <p:txBody>
          <a:bodyPr wrap="square">
            <a:spAutoFit/>
          </a:bodyPr>
          <a:lstStyle/>
          <a:p>
            <a:pPr algn="ctr"/>
            <a:r>
              <a:rPr sz="850" b="1" i="0">
                <a:solidFill>
                  <a:srgbClr val="FFFFFF"/>
                </a:solidFill>
              </a:rPr>
              <a:t>STATUS</a:t>
            </a:r>
          </a:p>
        </p:txBody>
      </p:sp>
      <p:sp>
        <p:nvSpPr>
          <p:cNvPr id="19" name="Rectangle 18"/>
          <p:cNvSpPr/>
          <p:nvPr/>
        </p:nvSpPr>
        <p:spPr>
          <a:xfrm>
            <a:off x="7360920" y="1078992"/>
            <a:ext cx="6858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1115568"/>
            <a:ext cx="612648" cy="237744"/>
          </a:xfrm>
          <a:prstGeom prst="rect">
            <a:avLst/>
          </a:prstGeom>
          <a:noFill/>
        </p:spPr>
        <p:txBody>
          <a:bodyPr wrap="square">
            <a:spAutoFit/>
          </a:bodyPr>
          <a:lstStyle/>
          <a:p>
            <a:pPr algn="ctr"/>
            <a:r>
              <a:rPr sz="850" b="1" i="0">
                <a:solidFill>
                  <a:srgbClr val="FFFFFF"/>
                </a:solidFill>
              </a:rPr>
              <a:t>SCHED.</a:t>
            </a:r>
          </a:p>
        </p:txBody>
      </p:sp>
      <p:sp>
        <p:nvSpPr>
          <p:cNvPr id="21" name="Rectangle 20"/>
          <p:cNvSpPr/>
          <p:nvPr/>
        </p:nvSpPr>
        <p:spPr>
          <a:xfrm>
            <a:off x="8046720" y="1078992"/>
            <a:ext cx="6858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1115568"/>
            <a:ext cx="612648" cy="237744"/>
          </a:xfrm>
          <a:prstGeom prst="rect">
            <a:avLst/>
          </a:prstGeom>
          <a:noFill/>
        </p:spPr>
        <p:txBody>
          <a:bodyPr wrap="square">
            <a:spAutoFit/>
          </a:bodyPr>
          <a:lstStyle/>
          <a:p>
            <a:pPr algn="ctr"/>
            <a:r>
              <a:rPr sz="850" b="1" i="0">
                <a:solidFill>
                  <a:srgbClr val="FFFFFF"/>
                </a:solidFill>
              </a:rPr>
              <a:t>COST</a:t>
            </a:r>
          </a:p>
        </p:txBody>
      </p:sp>
      <p:sp>
        <p:nvSpPr>
          <p:cNvPr id="23" name="Rectangle 22"/>
          <p:cNvSpPr/>
          <p:nvPr/>
        </p:nvSpPr>
        <p:spPr>
          <a:xfrm>
            <a:off x="8732520" y="1078992"/>
            <a:ext cx="2039112"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0" y="1115568"/>
            <a:ext cx="1965960" cy="237744"/>
          </a:xfrm>
          <a:prstGeom prst="rect">
            <a:avLst/>
          </a:prstGeom>
          <a:noFill/>
        </p:spPr>
        <p:txBody>
          <a:bodyPr wrap="square">
            <a:spAutoFit/>
          </a:bodyPr>
          <a:lstStyle/>
          <a:p>
            <a:pPr algn="ctr"/>
            <a:r>
              <a:rPr sz="850" b="1" i="0">
                <a:solidFill>
                  <a:srgbClr val="FFFFFF"/>
                </a:solidFill>
              </a:rPr>
              <a:t>ACTION</a:t>
            </a:r>
          </a:p>
        </p:txBody>
      </p:sp>
      <p:sp>
        <p:nvSpPr>
          <p:cNvPr id="25" name="Rectangle 24"/>
          <p:cNvSpPr/>
          <p:nvPr/>
        </p:nvSpPr>
        <p:spPr>
          <a:xfrm>
            <a:off x="274320" y="138988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1426464"/>
            <a:ext cx="1344168" cy="493776"/>
          </a:xfrm>
          <a:prstGeom prst="rect">
            <a:avLst/>
          </a:prstGeom>
          <a:noFill/>
        </p:spPr>
        <p:txBody>
          <a:bodyPr wrap="square">
            <a:spAutoFit/>
          </a:bodyPr>
          <a:lstStyle/>
          <a:p>
            <a:pPr algn="l"/>
            <a:r>
              <a:rPr sz="750" b="0" i="0">
                <a:solidFill>
                  <a:srgbClr val="2C3E50"/>
                </a:solidFill>
              </a:rPr>
              <a:t>ARC_CRC_KA_065</a:t>
            </a:r>
          </a:p>
        </p:txBody>
      </p:sp>
      <p:sp>
        <p:nvSpPr>
          <p:cNvPr id="27" name="Rectangle 26"/>
          <p:cNvSpPr/>
          <p:nvPr/>
        </p:nvSpPr>
        <p:spPr>
          <a:xfrm>
            <a:off x="1691640" y="138988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37360" y="1426464"/>
            <a:ext cx="704088" cy="493776"/>
          </a:xfrm>
          <a:prstGeom prst="rect">
            <a:avLst/>
          </a:prstGeom>
          <a:noFill/>
        </p:spPr>
        <p:txBody>
          <a:bodyPr wrap="square">
            <a:spAutoFit/>
          </a:bodyPr>
          <a:lstStyle/>
          <a:p>
            <a:pPr algn="l"/>
            <a:r>
              <a:rPr sz="750" b="0" i="0">
                <a:solidFill>
                  <a:srgbClr val="2C3E50"/>
                </a:solidFill>
              </a:rPr>
              <a:t>11F, 12F</a:t>
            </a:r>
          </a:p>
        </p:txBody>
      </p:sp>
      <p:sp>
        <p:nvSpPr>
          <p:cNvPr id="29" name="Rectangle 28"/>
          <p:cNvSpPr/>
          <p:nvPr/>
        </p:nvSpPr>
        <p:spPr>
          <a:xfrm>
            <a:off x="2468880" y="138988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1426464"/>
            <a:ext cx="841248" cy="493776"/>
          </a:xfrm>
          <a:prstGeom prst="rect">
            <a:avLst/>
          </a:prstGeom>
          <a:noFill/>
        </p:spPr>
        <p:txBody>
          <a:bodyPr wrap="square">
            <a:spAutoFit/>
          </a:bodyPr>
          <a:lstStyle/>
          <a:p>
            <a:pPr algn="l"/>
            <a:r>
              <a:rPr sz="750" b="0" i="0">
                <a:solidFill>
                  <a:srgbClr val="2C3E50"/>
                </a:solidFill>
              </a:rPr>
              <a:t>Plumbing</a:t>
            </a:r>
          </a:p>
        </p:txBody>
      </p:sp>
      <p:sp>
        <p:nvSpPr>
          <p:cNvPr id="31" name="Rectangle 30"/>
          <p:cNvSpPr/>
          <p:nvPr/>
        </p:nvSpPr>
        <p:spPr>
          <a:xfrm>
            <a:off x="3383280" y="138988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29000" y="1426464"/>
            <a:ext cx="2670048" cy="493776"/>
          </a:xfrm>
          <a:prstGeom prst="rect">
            <a:avLst/>
          </a:prstGeom>
          <a:noFill/>
        </p:spPr>
        <p:txBody>
          <a:bodyPr wrap="square">
            <a:spAutoFit/>
          </a:bodyPr>
          <a:lstStyle/>
          <a:p>
            <a:pPr algn="l"/>
            <a:r>
              <a:rPr sz="750" b="0" i="0">
                <a:solidFill>
                  <a:srgbClr val="2C3E50"/>
                </a:solidFill>
              </a:rPr>
              <a:t>Follow GEN_CRC_KA_026 solution and comments — cross-reference approval.</a:t>
            </a:r>
          </a:p>
        </p:txBody>
      </p:sp>
      <p:sp>
        <p:nvSpPr>
          <p:cNvPr id="33" name="Rectangle 32"/>
          <p:cNvSpPr/>
          <p:nvPr/>
        </p:nvSpPr>
        <p:spPr>
          <a:xfrm>
            <a:off x="6126480" y="138988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0" y="1426464"/>
            <a:ext cx="1161288" cy="493776"/>
          </a:xfrm>
          <a:prstGeom prst="rect">
            <a:avLst/>
          </a:prstGeom>
          <a:noFill/>
        </p:spPr>
        <p:txBody>
          <a:bodyPr wrap="square">
            <a:spAutoFit/>
          </a:bodyPr>
          <a:lstStyle/>
          <a:p>
            <a:pPr algn="l"/>
            <a:r>
              <a:rPr sz="750" b="0" i="0">
                <a:solidFill>
                  <a:srgbClr val="2C3E50"/>
                </a:solidFill>
              </a:rPr>
              <a:t>✅ Approved
(by ref.)</a:t>
            </a:r>
          </a:p>
        </p:txBody>
      </p:sp>
      <p:sp>
        <p:nvSpPr>
          <p:cNvPr id="35" name="Rectangle 34"/>
          <p:cNvSpPr/>
          <p:nvPr/>
        </p:nvSpPr>
        <p:spPr>
          <a:xfrm>
            <a:off x="7360920" y="138988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0" y="1426464"/>
            <a:ext cx="612648" cy="493776"/>
          </a:xfrm>
          <a:prstGeom prst="rect">
            <a:avLst/>
          </a:prstGeom>
          <a:noFill/>
        </p:spPr>
        <p:txBody>
          <a:bodyPr wrap="square">
            <a:spAutoFit/>
          </a:bodyPr>
          <a:lstStyle/>
          <a:p>
            <a:pPr algn="l"/>
            <a:r>
              <a:rPr sz="750" b="0" i="0">
                <a:solidFill>
                  <a:srgbClr val="1E8756"/>
                </a:solidFill>
              </a:rPr>
              <a:t>LOW</a:t>
            </a:r>
          </a:p>
        </p:txBody>
      </p:sp>
      <p:sp>
        <p:nvSpPr>
          <p:cNvPr id="37" name="Rectangle 36"/>
          <p:cNvSpPr/>
          <p:nvPr/>
        </p:nvSpPr>
        <p:spPr>
          <a:xfrm>
            <a:off x="8046720" y="138988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92440" y="1426464"/>
            <a:ext cx="612648" cy="493776"/>
          </a:xfrm>
          <a:prstGeom prst="rect">
            <a:avLst/>
          </a:prstGeom>
          <a:noFill/>
        </p:spPr>
        <p:txBody>
          <a:bodyPr wrap="square">
            <a:spAutoFit/>
          </a:bodyPr>
          <a:lstStyle/>
          <a:p>
            <a:pPr algn="l"/>
            <a:r>
              <a:rPr sz="750" b="0" i="0">
                <a:solidFill>
                  <a:srgbClr val="1E8756"/>
                </a:solidFill>
              </a:rPr>
              <a:t>LOW</a:t>
            </a:r>
          </a:p>
        </p:txBody>
      </p:sp>
      <p:sp>
        <p:nvSpPr>
          <p:cNvPr id="39" name="Rectangle 38"/>
          <p:cNvSpPr/>
          <p:nvPr/>
        </p:nvSpPr>
        <p:spPr>
          <a:xfrm>
            <a:off x="8732520" y="138988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78240" y="1426464"/>
            <a:ext cx="1965960" cy="493776"/>
          </a:xfrm>
          <a:prstGeom prst="rect">
            <a:avLst/>
          </a:prstGeom>
          <a:noFill/>
        </p:spPr>
        <p:txBody>
          <a:bodyPr wrap="square">
            <a:spAutoFit/>
          </a:bodyPr>
          <a:lstStyle/>
          <a:p>
            <a:pPr algn="l"/>
            <a:r>
              <a:rPr sz="750" b="0" i="0">
                <a:solidFill>
                  <a:srgbClr val="2C3E50"/>
                </a:solidFill>
              </a:rPr>
              <a:t>Apply GEN_026 solution; confirm applicability with MEP sub-contractor</a:t>
            </a:r>
          </a:p>
        </p:txBody>
      </p:sp>
      <p:sp>
        <p:nvSpPr>
          <p:cNvPr id="41" name="Rectangle 40"/>
          <p:cNvSpPr/>
          <p:nvPr/>
        </p:nvSpPr>
        <p:spPr>
          <a:xfrm>
            <a:off x="274320" y="193852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1975104"/>
            <a:ext cx="1344168" cy="493776"/>
          </a:xfrm>
          <a:prstGeom prst="rect">
            <a:avLst/>
          </a:prstGeom>
          <a:noFill/>
        </p:spPr>
        <p:txBody>
          <a:bodyPr wrap="square">
            <a:spAutoFit/>
          </a:bodyPr>
          <a:lstStyle/>
          <a:p>
            <a:pPr algn="l"/>
            <a:r>
              <a:rPr sz="750" b="0" i="0">
                <a:solidFill>
                  <a:srgbClr val="2C3E50"/>
                </a:solidFill>
              </a:rPr>
              <a:t>ARC_CRC_KA_066</a:t>
            </a:r>
          </a:p>
        </p:txBody>
      </p:sp>
      <p:sp>
        <p:nvSpPr>
          <p:cNvPr id="43" name="Rectangle 42"/>
          <p:cNvSpPr/>
          <p:nvPr/>
        </p:nvSpPr>
        <p:spPr>
          <a:xfrm>
            <a:off x="1691640" y="193852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737360" y="1975104"/>
            <a:ext cx="704088" cy="493776"/>
          </a:xfrm>
          <a:prstGeom prst="rect">
            <a:avLst/>
          </a:prstGeom>
          <a:noFill/>
        </p:spPr>
        <p:txBody>
          <a:bodyPr wrap="square">
            <a:spAutoFit/>
          </a:bodyPr>
          <a:lstStyle/>
          <a:p>
            <a:pPr algn="l"/>
            <a:r>
              <a:rPr sz="750" b="0" i="0">
                <a:solidFill>
                  <a:srgbClr val="2C3E50"/>
                </a:solidFill>
              </a:rPr>
              <a:t>11F</a:t>
            </a:r>
          </a:p>
        </p:txBody>
      </p:sp>
      <p:sp>
        <p:nvSpPr>
          <p:cNvPr id="45" name="Rectangle 44"/>
          <p:cNvSpPr/>
          <p:nvPr/>
        </p:nvSpPr>
        <p:spPr>
          <a:xfrm>
            <a:off x="2468880" y="193852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14600" y="1975104"/>
            <a:ext cx="841248" cy="493776"/>
          </a:xfrm>
          <a:prstGeom prst="rect">
            <a:avLst/>
          </a:prstGeom>
          <a:noFill/>
        </p:spPr>
        <p:txBody>
          <a:bodyPr wrap="square">
            <a:spAutoFit/>
          </a:bodyPr>
          <a:lstStyle/>
          <a:p>
            <a:pPr algn="l"/>
            <a:r>
              <a:rPr sz="750" b="0" i="0">
                <a:solidFill>
                  <a:srgbClr val="2C3E50"/>
                </a:solidFill>
              </a:rPr>
              <a:t>Plumbing
(FT)</a:t>
            </a:r>
          </a:p>
        </p:txBody>
      </p:sp>
      <p:sp>
        <p:nvSpPr>
          <p:cNvPr id="47" name="Rectangle 46"/>
          <p:cNvSpPr/>
          <p:nvPr/>
        </p:nvSpPr>
        <p:spPr>
          <a:xfrm>
            <a:off x="3383280" y="193852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29000" y="1975104"/>
            <a:ext cx="2670048" cy="493776"/>
          </a:xfrm>
          <a:prstGeom prst="rect">
            <a:avLst/>
          </a:prstGeom>
          <a:noFill/>
        </p:spPr>
        <p:txBody>
          <a:bodyPr wrap="square">
            <a:spAutoFit/>
          </a:bodyPr>
          <a:lstStyle/>
          <a:p>
            <a:pPr algn="l"/>
            <a:r>
              <a:rPr sz="750" b="0" i="0">
                <a:solidFill>
                  <a:srgbClr val="2C3E50"/>
                </a:solidFill>
              </a:rPr>
              <a:t>6" sleeve required for floor trap provision before slab pour.</a:t>
            </a:r>
          </a:p>
        </p:txBody>
      </p:sp>
      <p:sp>
        <p:nvSpPr>
          <p:cNvPr id="49" name="Rectangle 48"/>
          <p:cNvSpPr/>
          <p:nvPr/>
        </p:nvSpPr>
        <p:spPr>
          <a:xfrm>
            <a:off x="6126480" y="193852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72200" y="1975104"/>
            <a:ext cx="1161288" cy="493776"/>
          </a:xfrm>
          <a:prstGeom prst="rect">
            <a:avLst/>
          </a:prstGeom>
          <a:noFill/>
        </p:spPr>
        <p:txBody>
          <a:bodyPr wrap="square">
            <a:spAutoFit/>
          </a:bodyPr>
          <a:lstStyle/>
          <a:p>
            <a:pPr algn="l"/>
            <a:r>
              <a:rPr sz="750" b="0" i="0">
                <a:solidFill>
                  <a:srgbClr val="2C3E50"/>
                </a:solidFill>
              </a:rPr>
              <a:t>✅ Approved</a:t>
            </a:r>
          </a:p>
        </p:txBody>
      </p:sp>
      <p:sp>
        <p:nvSpPr>
          <p:cNvPr id="51" name="Rectangle 50"/>
          <p:cNvSpPr/>
          <p:nvPr/>
        </p:nvSpPr>
        <p:spPr>
          <a:xfrm>
            <a:off x="7360920" y="193852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06640" y="1975104"/>
            <a:ext cx="612648" cy="493776"/>
          </a:xfrm>
          <a:prstGeom prst="rect">
            <a:avLst/>
          </a:prstGeom>
          <a:noFill/>
        </p:spPr>
        <p:txBody>
          <a:bodyPr wrap="square">
            <a:spAutoFit/>
          </a:bodyPr>
          <a:lstStyle/>
          <a:p>
            <a:pPr algn="l"/>
            <a:r>
              <a:rPr sz="750" b="0" i="0">
                <a:solidFill>
                  <a:srgbClr val="1E8756"/>
                </a:solidFill>
              </a:rPr>
              <a:t>LOW</a:t>
            </a:r>
          </a:p>
        </p:txBody>
      </p:sp>
      <p:sp>
        <p:nvSpPr>
          <p:cNvPr id="53" name="Rectangle 52"/>
          <p:cNvSpPr/>
          <p:nvPr/>
        </p:nvSpPr>
        <p:spPr>
          <a:xfrm>
            <a:off x="8046720" y="193852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92440" y="1975104"/>
            <a:ext cx="612648" cy="493776"/>
          </a:xfrm>
          <a:prstGeom prst="rect">
            <a:avLst/>
          </a:prstGeom>
          <a:noFill/>
        </p:spPr>
        <p:txBody>
          <a:bodyPr wrap="square">
            <a:spAutoFit/>
          </a:bodyPr>
          <a:lstStyle/>
          <a:p>
            <a:pPr algn="l"/>
            <a:r>
              <a:rPr sz="750" b="0" i="0">
                <a:solidFill>
                  <a:srgbClr val="1E8756"/>
                </a:solidFill>
              </a:rPr>
              <a:t>LOW</a:t>
            </a:r>
          </a:p>
        </p:txBody>
      </p:sp>
      <p:sp>
        <p:nvSpPr>
          <p:cNvPr id="55" name="Rectangle 54"/>
          <p:cNvSpPr/>
          <p:nvPr/>
        </p:nvSpPr>
        <p:spPr>
          <a:xfrm>
            <a:off x="8732520" y="193852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78240" y="1975104"/>
            <a:ext cx="1965960" cy="493776"/>
          </a:xfrm>
          <a:prstGeom prst="rect">
            <a:avLst/>
          </a:prstGeom>
          <a:noFill/>
        </p:spPr>
        <p:txBody>
          <a:bodyPr wrap="square">
            <a:spAutoFit/>
          </a:bodyPr>
          <a:lstStyle/>
          <a:p>
            <a:pPr algn="l"/>
            <a:r>
              <a:rPr sz="750" b="0" i="0">
                <a:solidFill>
                  <a:srgbClr val="2C3E50"/>
                </a:solidFill>
              </a:rPr>
              <a:t>Procure and install sleeve before slab pour</a:t>
            </a:r>
          </a:p>
        </p:txBody>
      </p:sp>
      <p:sp>
        <p:nvSpPr>
          <p:cNvPr id="57" name="Rectangle 56"/>
          <p:cNvSpPr/>
          <p:nvPr/>
        </p:nvSpPr>
        <p:spPr>
          <a:xfrm>
            <a:off x="274320" y="248716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0040" y="2523744"/>
            <a:ext cx="1344168" cy="493776"/>
          </a:xfrm>
          <a:prstGeom prst="rect">
            <a:avLst/>
          </a:prstGeom>
          <a:noFill/>
        </p:spPr>
        <p:txBody>
          <a:bodyPr wrap="square">
            <a:spAutoFit/>
          </a:bodyPr>
          <a:lstStyle/>
          <a:p>
            <a:pPr algn="l"/>
            <a:r>
              <a:rPr sz="750" b="0" i="0">
                <a:solidFill>
                  <a:srgbClr val="2C3E50"/>
                </a:solidFill>
              </a:rPr>
              <a:t>ARC_CRC_KA_044</a:t>
            </a:r>
          </a:p>
        </p:txBody>
      </p:sp>
      <p:sp>
        <p:nvSpPr>
          <p:cNvPr id="59" name="Rectangle 58"/>
          <p:cNvSpPr/>
          <p:nvPr/>
        </p:nvSpPr>
        <p:spPr>
          <a:xfrm>
            <a:off x="1691640" y="248716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737360" y="2523744"/>
            <a:ext cx="704088" cy="493776"/>
          </a:xfrm>
          <a:prstGeom prst="rect">
            <a:avLst/>
          </a:prstGeom>
          <a:noFill/>
        </p:spPr>
        <p:txBody>
          <a:bodyPr wrap="square">
            <a:spAutoFit/>
          </a:bodyPr>
          <a:lstStyle/>
          <a:p>
            <a:pPr algn="l"/>
            <a:r>
              <a:rPr sz="750" b="0" i="0">
                <a:solidFill>
                  <a:srgbClr val="2C3E50"/>
                </a:solidFill>
              </a:rPr>
              <a:t>7F–10F</a:t>
            </a:r>
          </a:p>
        </p:txBody>
      </p:sp>
      <p:sp>
        <p:nvSpPr>
          <p:cNvPr id="61" name="Rectangle 60"/>
          <p:cNvSpPr/>
          <p:nvPr/>
        </p:nvSpPr>
        <p:spPr>
          <a:xfrm>
            <a:off x="2468880" y="248716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514600" y="2523744"/>
            <a:ext cx="841248" cy="493776"/>
          </a:xfrm>
          <a:prstGeom prst="rect">
            <a:avLst/>
          </a:prstGeom>
          <a:noFill/>
        </p:spPr>
        <p:txBody>
          <a:bodyPr wrap="square">
            <a:spAutoFit/>
          </a:bodyPr>
          <a:lstStyle/>
          <a:p>
            <a:pPr algn="l"/>
            <a:r>
              <a:rPr sz="750" b="0" i="0">
                <a:solidFill>
                  <a:srgbClr val="2C3E50"/>
                </a:solidFill>
              </a:rPr>
              <a:t>Plumbing
(Powder Rm)</a:t>
            </a:r>
          </a:p>
        </p:txBody>
      </p:sp>
      <p:sp>
        <p:nvSpPr>
          <p:cNvPr id="63" name="Rectangle 62"/>
          <p:cNvSpPr/>
          <p:nvPr/>
        </p:nvSpPr>
        <p:spPr>
          <a:xfrm>
            <a:off x="3383280" y="248716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9000" y="2523744"/>
            <a:ext cx="2670048" cy="493776"/>
          </a:xfrm>
          <a:prstGeom prst="rect">
            <a:avLst/>
          </a:prstGeom>
          <a:noFill/>
        </p:spPr>
        <p:txBody>
          <a:bodyPr wrap="square">
            <a:spAutoFit/>
          </a:bodyPr>
          <a:lstStyle/>
          <a:p>
            <a:pPr algn="l"/>
            <a:r>
              <a:rPr sz="750" b="0" i="0">
                <a:solidFill>
                  <a:srgbClr val="2C3E50"/>
                </a:solidFill>
              </a:rPr>
              <a:t>Powder room drainage approved subject to coordination with ID specialist. Include in IFC drawings.</a:t>
            </a:r>
          </a:p>
        </p:txBody>
      </p:sp>
      <p:sp>
        <p:nvSpPr>
          <p:cNvPr id="65" name="Rectangle 64"/>
          <p:cNvSpPr/>
          <p:nvPr/>
        </p:nvSpPr>
        <p:spPr>
          <a:xfrm>
            <a:off x="6126480" y="248716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72200" y="2523744"/>
            <a:ext cx="1161288" cy="493776"/>
          </a:xfrm>
          <a:prstGeom prst="rect">
            <a:avLst/>
          </a:prstGeom>
          <a:noFill/>
        </p:spPr>
        <p:txBody>
          <a:bodyPr wrap="square">
            <a:spAutoFit/>
          </a:bodyPr>
          <a:lstStyle/>
          <a:p>
            <a:pPr algn="l"/>
            <a:r>
              <a:rPr sz="750" b="0" i="0">
                <a:solidFill>
                  <a:srgbClr val="2C3E50"/>
                </a:solidFill>
              </a:rPr>
              <a:t>✅ No Objection</a:t>
            </a:r>
          </a:p>
        </p:txBody>
      </p:sp>
      <p:sp>
        <p:nvSpPr>
          <p:cNvPr id="67" name="Rectangle 66"/>
          <p:cNvSpPr/>
          <p:nvPr/>
        </p:nvSpPr>
        <p:spPr>
          <a:xfrm>
            <a:off x="7360920" y="248716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06640" y="2523744"/>
            <a:ext cx="612648" cy="493776"/>
          </a:xfrm>
          <a:prstGeom prst="rect">
            <a:avLst/>
          </a:prstGeom>
          <a:noFill/>
        </p:spPr>
        <p:txBody>
          <a:bodyPr wrap="square">
            <a:spAutoFit/>
          </a:bodyPr>
          <a:lstStyle/>
          <a:p>
            <a:pPr algn="l"/>
            <a:r>
              <a:rPr sz="750" b="0" i="0">
                <a:solidFill>
                  <a:srgbClr val="1E8756"/>
                </a:solidFill>
              </a:rPr>
              <a:t>LOW-MEDIUM</a:t>
            </a:r>
          </a:p>
        </p:txBody>
      </p:sp>
      <p:sp>
        <p:nvSpPr>
          <p:cNvPr id="69" name="Rectangle 68"/>
          <p:cNvSpPr/>
          <p:nvPr/>
        </p:nvSpPr>
        <p:spPr>
          <a:xfrm>
            <a:off x="8046720" y="248716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92440" y="2523744"/>
            <a:ext cx="612648" cy="493776"/>
          </a:xfrm>
          <a:prstGeom prst="rect">
            <a:avLst/>
          </a:prstGeom>
          <a:noFill/>
        </p:spPr>
        <p:txBody>
          <a:bodyPr wrap="square">
            <a:spAutoFit/>
          </a:bodyPr>
          <a:lstStyle/>
          <a:p>
            <a:pPr algn="l"/>
            <a:r>
              <a:rPr sz="750" b="0" i="0">
                <a:solidFill>
                  <a:srgbClr val="1E8756"/>
                </a:solidFill>
              </a:rPr>
              <a:t>LOW</a:t>
            </a:r>
          </a:p>
        </p:txBody>
      </p:sp>
      <p:sp>
        <p:nvSpPr>
          <p:cNvPr id="71" name="Rectangle 70"/>
          <p:cNvSpPr/>
          <p:nvPr/>
        </p:nvSpPr>
        <p:spPr>
          <a:xfrm>
            <a:off x="8732520" y="248716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78240" y="2523744"/>
            <a:ext cx="1965960" cy="493776"/>
          </a:xfrm>
          <a:prstGeom prst="rect">
            <a:avLst/>
          </a:prstGeom>
          <a:noFill/>
        </p:spPr>
        <p:txBody>
          <a:bodyPr wrap="square">
            <a:spAutoFit/>
          </a:bodyPr>
          <a:lstStyle/>
          <a:p>
            <a:pPr algn="l"/>
            <a:r>
              <a:rPr sz="750" b="0" i="0">
                <a:solidFill>
                  <a:srgbClr val="2C3E50"/>
                </a:solidFill>
              </a:rPr>
              <a:t>Issue coordination instruction to ID; incorporate in IFC</a:t>
            </a:r>
          </a:p>
        </p:txBody>
      </p:sp>
      <p:sp>
        <p:nvSpPr>
          <p:cNvPr id="73" name="Rectangle 72"/>
          <p:cNvSpPr/>
          <p:nvPr/>
        </p:nvSpPr>
        <p:spPr>
          <a:xfrm>
            <a:off x="274320" y="303580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 y="3072384"/>
            <a:ext cx="1344168" cy="493776"/>
          </a:xfrm>
          <a:prstGeom prst="rect">
            <a:avLst/>
          </a:prstGeom>
          <a:noFill/>
        </p:spPr>
        <p:txBody>
          <a:bodyPr wrap="square">
            <a:spAutoFit/>
          </a:bodyPr>
          <a:lstStyle/>
          <a:p>
            <a:pPr algn="l"/>
            <a:r>
              <a:rPr sz="750" b="0" i="0">
                <a:solidFill>
                  <a:srgbClr val="2C3E50"/>
                </a:solidFill>
              </a:rPr>
              <a:t>GEN_CRC_KA_023</a:t>
            </a:r>
          </a:p>
        </p:txBody>
      </p:sp>
      <p:sp>
        <p:nvSpPr>
          <p:cNvPr id="75" name="Rectangle 74"/>
          <p:cNvSpPr/>
          <p:nvPr/>
        </p:nvSpPr>
        <p:spPr>
          <a:xfrm>
            <a:off x="1691640" y="303580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37360" y="3072384"/>
            <a:ext cx="704088" cy="493776"/>
          </a:xfrm>
          <a:prstGeom prst="rect">
            <a:avLst/>
          </a:prstGeom>
          <a:noFill/>
        </p:spPr>
        <p:txBody>
          <a:bodyPr wrap="square">
            <a:spAutoFit/>
          </a:bodyPr>
          <a:lstStyle/>
          <a:p>
            <a:pPr algn="l"/>
            <a:r>
              <a:rPr sz="750" b="0" i="0">
                <a:solidFill>
                  <a:srgbClr val="2C3E50"/>
                </a:solidFill>
              </a:rPr>
              <a:t>1F–6F</a:t>
            </a:r>
          </a:p>
        </p:txBody>
      </p:sp>
      <p:sp>
        <p:nvSpPr>
          <p:cNvPr id="77" name="Rectangle 76"/>
          <p:cNvSpPr/>
          <p:nvPr/>
        </p:nvSpPr>
        <p:spPr>
          <a:xfrm>
            <a:off x="2468880" y="303580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514600" y="3072384"/>
            <a:ext cx="841248" cy="493776"/>
          </a:xfrm>
          <a:prstGeom prst="rect">
            <a:avLst/>
          </a:prstGeom>
          <a:noFill/>
        </p:spPr>
        <p:txBody>
          <a:bodyPr wrap="square">
            <a:spAutoFit/>
          </a:bodyPr>
          <a:lstStyle/>
          <a:p>
            <a:pPr algn="l"/>
            <a:r>
              <a:rPr sz="750" b="0" i="0">
                <a:solidFill>
                  <a:srgbClr val="2C3E50"/>
                </a:solidFill>
              </a:rPr>
              <a:t>Plumbing
(Floor Drains)</a:t>
            </a:r>
          </a:p>
        </p:txBody>
      </p:sp>
      <p:sp>
        <p:nvSpPr>
          <p:cNvPr id="79" name="Rectangle 78"/>
          <p:cNvSpPr/>
          <p:nvPr/>
        </p:nvSpPr>
        <p:spPr>
          <a:xfrm>
            <a:off x="3383280" y="303580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429000" y="3072384"/>
            <a:ext cx="2670048" cy="493776"/>
          </a:xfrm>
          <a:prstGeom prst="rect">
            <a:avLst/>
          </a:prstGeom>
          <a:noFill/>
        </p:spPr>
        <p:txBody>
          <a:bodyPr wrap="square">
            <a:spAutoFit/>
          </a:bodyPr>
          <a:lstStyle/>
          <a:p>
            <a:pPr algn="l"/>
            <a:r>
              <a:rPr sz="750" b="0" i="0">
                <a:solidFill>
                  <a:srgbClr val="2C3E50"/>
                </a:solidFill>
              </a:rPr>
              <a:t>Floor drain repositioning across 5 floors. Multi-trade coordination with ID and flooring required.</a:t>
            </a:r>
          </a:p>
        </p:txBody>
      </p:sp>
      <p:sp>
        <p:nvSpPr>
          <p:cNvPr id="81" name="Rectangle 80"/>
          <p:cNvSpPr/>
          <p:nvPr/>
        </p:nvSpPr>
        <p:spPr>
          <a:xfrm>
            <a:off x="6126480" y="303580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72200" y="3072384"/>
            <a:ext cx="1161288" cy="493776"/>
          </a:xfrm>
          <a:prstGeom prst="rect">
            <a:avLst/>
          </a:prstGeom>
          <a:noFill/>
        </p:spPr>
        <p:txBody>
          <a:bodyPr wrap="square">
            <a:spAutoFit/>
          </a:bodyPr>
          <a:lstStyle/>
          <a:p>
            <a:pPr algn="l"/>
            <a:r>
              <a:rPr sz="750" b="0" i="0">
                <a:solidFill>
                  <a:srgbClr val="2C3E50"/>
                </a:solidFill>
              </a:rPr>
              <a:t>✅ No Objection</a:t>
            </a:r>
          </a:p>
        </p:txBody>
      </p:sp>
      <p:sp>
        <p:nvSpPr>
          <p:cNvPr id="83" name="Rectangle 82"/>
          <p:cNvSpPr/>
          <p:nvPr/>
        </p:nvSpPr>
        <p:spPr>
          <a:xfrm>
            <a:off x="7360920" y="303580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06640" y="3072384"/>
            <a:ext cx="612648" cy="493776"/>
          </a:xfrm>
          <a:prstGeom prst="rect">
            <a:avLst/>
          </a:prstGeom>
          <a:noFill/>
        </p:spPr>
        <p:txBody>
          <a:bodyPr wrap="square">
            <a:spAutoFit/>
          </a:bodyPr>
          <a:lstStyle/>
          <a:p>
            <a:pPr algn="l"/>
            <a:r>
              <a:rPr sz="750" b="1" i="0">
                <a:solidFill>
                  <a:srgbClr val="F39C12"/>
                </a:solidFill>
              </a:rPr>
              <a:t>MEDIUM</a:t>
            </a:r>
          </a:p>
        </p:txBody>
      </p:sp>
      <p:sp>
        <p:nvSpPr>
          <p:cNvPr id="85" name="Rectangle 84"/>
          <p:cNvSpPr/>
          <p:nvPr/>
        </p:nvSpPr>
        <p:spPr>
          <a:xfrm>
            <a:off x="8046720" y="303580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92440" y="3072384"/>
            <a:ext cx="612648" cy="493776"/>
          </a:xfrm>
          <a:prstGeom prst="rect">
            <a:avLst/>
          </a:prstGeom>
          <a:noFill/>
        </p:spPr>
        <p:txBody>
          <a:bodyPr wrap="square">
            <a:spAutoFit/>
          </a:bodyPr>
          <a:lstStyle/>
          <a:p>
            <a:pPr algn="l"/>
            <a:r>
              <a:rPr sz="750" b="0" i="0">
                <a:solidFill>
                  <a:srgbClr val="1E8756"/>
                </a:solidFill>
              </a:rPr>
              <a:t>LOW-MEDIUM</a:t>
            </a:r>
          </a:p>
        </p:txBody>
      </p:sp>
      <p:sp>
        <p:nvSpPr>
          <p:cNvPr id="87" name="Rectangle 86"/>
          <p:cNvSpPr/>
          <p:nvPr/>
        </p:nvSpPr>
        <p:spPr>
          <a:xfrm>
            <a:off x="8732520" y="303580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778240" y="3072384"/>
            <a:ext cx="1965960" cy="493776"/>
          </a:xfrm>
          <a:prstGeom prst="rect">
            <a:avLst/>
          </a:prstGeom>
          <a:noFill/>
        </p:spPr>
        <p:txBody>
          <a:bodyPr wrap="square">
            <a:spAutoFit/>
          </a:bodyPr>
          <a:lstStyle/>
          <a:p>
            <a:pPr algn="l"/>
            <a:r>
              <a:rPr sz="750" b="0" i="0">
                <a:solidFill>
                  <a:srgbClr val="2C3E50"/>
                </a:solidFill>
              </a:rPr>
              <a:t>Convene multi-trade meeting; lock drain positions before tiling</a:t>
            </a:r>
          </a:p>
        </p:txBody>
      </p:sp>
      <p:sp>
        <p:nvSpPr>
          <p:cNvPr id="89" name="Rectangle 88"/>
          <p:cNvSpPr/>
          <p:nvPr/>
        </p:nvSpPr>
        <p:spPr>
          <a:xfrm>
            <a:off x="274320" y="358444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0040" y="3621024"/>
            <a:ext cx="1344168" cy="493776"/>
          </a:xfrm>
          <a:prstGeom prst="rect">
            <a:avLst/>
          </a:prstGeom>
          <a:noFill/>
        </p:spPr>
        <p:txBody>
          <a:bodyPr wrap="square">
            <a:spAutoFit/>
          </a:bodyPr>
          <a:lstStyle/>
          <a:p>
            <a:pPr algn="l"/>
            <a:r>
              <a:rPr sz="750" b="0" i="0">
                <a:solidFill>
                  <a:srgbClr val="2C3E50"/>
                </a:solidFill>
              </a:rPr>
              <a:t>GEN_CRC_KA_024</a:t>
            </a:r>
          </a:p>
        </p:txBody>
      </p:sp>
      <p:sp>
        <p:nvSpPr>
          <p:cNvPr id="91" name="Rectangle 90"/>
          <p:cNvSpPr/>
          <p:nvPr/>
        </p:nvSpPr>
        <p:spPr>
          <a:xfrm>
            <a:off x="1691640" y="358444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737360" y="3621024"/>
            <a:ext cx="704088" cy="493776"/>
          </a:xfrm>
          <a:prstGeom prst="rect">
            <a:avLst/>
          </a:prstGeom>
          <a:noFill/>
        </p:spPr>
        <p:txBody>
          <a:bodyPr wrap="square">
            <a:spAutoFit/>
          </a:bodyPr>
          <a:lstStyle/>
          <a:p>
            <a:pPr algn="l"/>
            <a:r>
              <a:rPr sz="750" b="0" i="0">
                <a:solidFill>
                  <a:srgbClr val="2C3E50"/>
                </a:solidFill>
              </a:rPr>
              <a:t>2F–6F,
11F–12F</a:t>
            </a:r>
          </a:p>
        </p:txBody>
      </p:sp>
      <p:sp>
        <p:nvSpPr>
          <p:cNvPr id="93" name="Rectangle 92"/>
          <p:cNvSpPr/>
          <p:nvPr/>
        </p:nvSpPr>
        <p:spPr>
          <a:xfrm>
            <a:off x="2468880" y="358444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514600" y="3621024"/>
            <a:ext cx="841248" cy="493776"/>
          </a:xfrm>
          <a:prstGeom prst="rect">
            <a:avLst/>
          </a:prstGeom>
          <a:noFill/>
        </p:spPr>
        <p:txBody>
          <a:bodyPr wrap="square">
            <a:spAutoFit/>
          </a:bodyPr>
          <a:lstStyle/>
          <a:p>
            <a:pPr algn="l"/>
            <a:r>
              <a:rPr sz="750" b="0" i="0">
                <a:solidFill>
                  <a:srgbClr val="2C3E50"/>
                </a:solidFill>
              </a:rPr>
              <a:t>Plumbing
(Floor Drains)</a:t>
            </a:r>
          </a:p>
        </p:txBody>
      </p:sp>
      <p:sp>
        <p:nvSpPr>
          <p:cNvPr id="95" name="Rectangle 94"/>
          <p:cNvSpPr/>
          <p:nvPr/>
        </p:nvSpPr>
        <p:spPr>
          <a:xfrm>
            <a:off x="3383280" y="358444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429000" y="3621024"/>
            <a:ext cx="2670048" cy="493776"/>
          </a:xfrm>
          <a:prstGeom prst="rect">
            <a:avLst/>
          </a:prstGeom>
          <a:noFill/>
        </p:spPr>
        <p:txBody>
          <a:bodyPr wrap="square">
            <a:spAutoFit/>
          </a:bodyPr>
          <a:lstStyle/>
          <a:p>
            <a:pPr algn="l"/>
            <a:r>
              <a:rPr sz="750" b="0" i="0">
                <a:solidFill>
                  <a:srgbClr val="2C3E50"/>
                </a:solidFill>
              </a:rPr>
              <a:t>8-point floor drain relocation programme across 7 floors — subject to final approval.</a:t>
            </a:r>
          </a:p>
        </p:txBody>
      </p:sp>
      <p:sp>
        <p:nvSpPr>
          <p:cNvPr id="97" name="Rectangle 96"/>
          <p:cNvSpPr/>
          <p:nvPr/>
        </p:nvSpPr>
        <p:spPr>
          <a:xfrm>
            <a:off x="6126480" y="358444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72200" y="3621024"/>
            <a:ext cx="1161288" cy="493776"/>
          </a:xfrm>
          <a:prstGeom prst="rect">
            <a:avLst/>
          </a:prstGeom>
          <a:noFill/>
        </p:spPr>
        <p:txBody>
          <a:bodyPr wrap="square">
            <a:spAutoFit/>
          </a:bodyPr>
          <a:lstStyle/>
          <a:p>
            <a:pPr algn="l"/>
            <a:r>
              <a:rPr sz="750" b="0" i="0">
                <a:solidFill>
                  <a:srgbClr val="2C3E50"/>
                </a:solidFill>
              </a:rPr>
              <a:t>✅ Cond. Approved</a:t>
            </a:r>
          </a:p>
        </p:txBody>
      </p:sp>
      <p:sp>
        <p:nvSpPr>
          <p:cNvPr id="99" name="Rectangle 98"/>
          <p:cNvSpPr/>
          <p:nvPr/>
        </p:nvSpPr>
        <p:spPr>
          <a:xfrm>
            <a:off x="7360920" y="358444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06640" y="3621024"/>
            <a:ext cx="612648" cy="493776"/>
          </a:xfrm>
          <a:prstGeom prst="rect">
            <a:avLst/>
          </a:prstGeom>
          <a:noFill/>
        </p:spPr>
        <p:txBody>
          <a:bodyPr wrap="square">
            <a:spAutoFit/>
          </a:bodyPr>
          <a:lstStyle/>
          <a:p>
            <a:pPr algn="l"/>
            <a:r>
              <a:rPr sz="750" b="1" i="0">
                <a:solidFill>
                  <a:srgbClr val="E84C3C"/>
                </a:solidFill>
              </a:rPr>
              <a:t>HIGH</a:t>
            </a:r>
          </a:p>
        </p:txBody>
      </p:sp>
      <p:sp>
        <p:nvSpPr>
          <p:cNvPr id="101" name="Rectangle 100"/>
          <p:cNvSpPr/>
          <p:nvPr/>
        </p:nvSpPr>
        <p:spPr>
          <a:xfrm>
            <a:off x="8046720" y="358444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92440" y="3621024"/>
            <a:ext cx="612648" cy="493776"/>
          </a:xfrm>
          <a:prstGeom prst="rect">
            <a:avLst/>
          </a:prstGeom>
          <a:noFill/>
        </p:spPr>
        <p:txBody>
          <a:bodyPr wrap="square">
            <a:spAutoFit/>
          </a:bodyPr>
          <a:lstStyle/>
          <a:p>
            <a:pPr algn="l"/>
            <a:r>
              <a:rPr sz="750" b="1" i="0">
                <a:solidFill>
                  <a:srgbClr val="F39C12"/>
                </a:solidFill>
              </a:rPr>
              <a:t>MEDIUM</a:t>
            </a:r>
          </a:p>
        </p:txBody>
      </p:sp>
      <p:sp>
        <p:nvSpPr>
          <p:cNvPr id="103" name="Rectangle 102"/>
          <p:cNvSpPr/>
          <p:nvPr/>
        </p:nvSpPr>
        <p:spPr>
          <a:xfrm>
            <a:off x="8732520" y="358444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778240" y="3621024"/>
            <a:ext cx="1965960" cy="493776"/>
          </a:xfrm>
          <a:prstGeom prst="rect">
            <a:avLst/>
          </a:prstGeom>
          <a:noFill/>
        </p:spPr>
        <p:txBody>
          <a:bodyPr wrap="square">
            <a:spAutoFit/>
          </a:bodyPr>
          <a:lstStyle/>
          <a:p>
            <a:pPr algn="l"/>
            <a:r>
              <a:rPr sz="750" b="0" i="0">
                <a:solidFill>
                  <a:srgbClr val="2C3E50"/>
                </a:solidFill>
              </a:rPr>
              <a:t>Submit coordinated drain layout drawing; assign dedicated coordinator</a:t>
            </a:r>
          </a:p>
        </p:txBody>
      </p:sp>
      <p:sp>
        <p:nvSpPr>
          <p:cNvPr id="105" name="Rectangle 104"/>
          <p:cNvSpPr/>
          <p:nvPr/>
        </p:nvSpPr>
        <p:spPr>
          <a:xfrm>
            <a:off x="274320" y="413308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20040" y="4169664"/>
            <a:ext cx="1344168" cy="493776"/>
          </a:xfrm>
          <a:prstGeom prst="rect">
            <a:avLst/>
          </a:prstGeom>
          <a:noFill/>
        </p:spPr>
        <p:txBody>
          <a:bodyPr wrap="square">
            <a:spAutoFit/>
          </a:bodyPr>
          <a:lstStyle/>
          <a:p>
            <a:pPr algn="l"/>
            <a:r>
              <a:rPr sz="750" b="0" i="0">
                <a:solidFill>
                  <a:srgbClr val="2C3E50"/>
                </a:solidFill>
              </a:rPr>
              <a:t>GEN_CRC_KA_026</a:t>
            </a:r>
          </a:p>
        </p:txBody>
      </p:sp>
      <p:sp>
        <p:nvSpPr>
          <p:cNvPr id="107" name="Rectangle 106"/>
          <p:cNvSpPr/>
          <p:nvPr/>
        </p:nvSpPr>
        <p:spPr>
          <a:xfrm>
            <a:off x="1691640" y="413308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737360" y="4169664"/>
            <a:ext cx="704088" cy="493776"/>
          </a:xfrm>
          <a:prstGeom prst="rect">
            <a:avLst/>
          </a:prstGeom>
          <a:noFill/>
        </p:spPr>
        <p:txBody>
          <a:bodyPr wrap="square">
            <a:spAutoFit/>
          </a:bodyPr>
          <a:lstStyle/>
          <a:p>
            <a:pPr algn="l"/>
            <a:r>
              <a:rPr sz="750" b="0" i="0">
                <a:solidFill>
                  <a:srgbClr val="2C3E50"/>
                </a:solidFill>
              </a:rPr>
              <a:t>3F, 4F, 5F</a:t>
            </a:r>
          </a:p>
        </p:txBody>
      </p:sp>
      <p:sp>
        <p:nvSpPr>
          <p:cNvPr id="109" name="Rectangle 108"/>
          <p:cNvSpPr/>
          <p:nvPr/>
        </p:nvSpPr>
        <p:spPr>
          <a:xfrm>
            <a:off x="2468880" y="413308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514600" y="4169664"/>
            <a:ext cx="841248" cy="493776"/>
          </a:xfrm>
          <a:prstGeom prst="rect">
            <a:avLst/>
          </a:prstGeom>
          <a:noFill/>
        </p:spPr>
        <p:txBody>
          <a:bodyPr wrap="square">
            <a:spAutoFit/>
          </a:bodyPr>
          <a:lstStyle/>
          <a:p>
            <a:pPr algn="l"/>
            <a:r>
              <a:rPr sz="750" b="0" i="0">
                <a:solidFill>
                  <a:srgbClr val="2C3E50"/>
                </a:solidFill>
              </a:rPr>
              <a:t>MEP General</a:t>
            </a:r>
          </a:p>
        </p:txBody>
      </p:sp>
      <p:sp>
        <p:nvSpPr>
          <p:cNvPr id="111" name="Rectangle 110"/>
          <p:cNvSpPr/>
          <p:nvPr/>
        </p:nvSpPr>
        <p:spPr>
          <a:xfrm>
            <a:off x="3383280" y="413308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429000" y="4169664"/>
            <a:ext cx="2670048" cy="493776"/>
          </a:xfrm>
          <a:prstGeom prst="rect">
            <a:avLst/>
          </a:prstGeom>
          <a:noFill/>
        </p:spPr>
        <p:txBody>
          <a:bodyPr wrap="square">
            <a:spAutoFit/>
          </a:bodyPr>
          <a:lstStyle/>
          <a:p>
            <a:pPr algn="l"/>
            <a:r>
              <a:rPr sz="750" b="0" i="0">
                <a:solidFill>
                  <a:srgbClr val="2C3E50"/>
                </a:solidFill>
              </a:rPr>
              <a:t>Updated layout with extra space submitted. Contractor must confirm clash is cleared.</a:t>
            </a:r>
          </a:p>
        </p:txBody>
      </p:sp>
      <p:sp>
        <p:nvSpPr>
          <p:cNvPr id="113" name="Rectangle 112"/>
          <p:cNvSpPr/>
          <p:nvPr/>
        </p:nvSpPr>
        <p:spPr>
          <a:xfrm>
            <a:off x="6126480" y="413308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72200" y="4169664"/>
            <a:ext cx="1161288" cy="493776"/>
          </a:xfrm>
          <a:prstGeom prst="rect">
            <a:avLst/>
          </a:prstGeom>
          <a:noFill/>
        </p:spPr>
        <p:txBody>
          <a:bodyPr wrap="square">
            <a:spAutoFit/>
          </a:bodyPr>
          <a:lstStyle/>
          <a:p>
            <a:pPr algn="l"/>
            <a:r>
              <a:rPr sz="750" b="0" i="0">
                <a:solidFill>
                  <a:srgbClr val="2C3E50"/>
                </a:solidFill>
              </a:rPr>
              <a:t>✅ Cond. Approved</a:t>
            </a:r>
          </a:p>
        </p:txBody>
      </p:sp>
      <p:sp>
        <p:nvSpPr>
          <p:cNvPr id="115" name="Rectangle 114"/>
          <p:cNvSpPr/>
          <p:nvPr/>
        </p:nvSpPr>
        <p:spPr>
          <a:xfrm>
            <a:off x="7360920" y="413308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06640" y="4169664"/>
            <a:ext cx="612648" cy="493776"/>
          </a:xfrm>
          <a:prstGeom prst="rect">
            <a:avLst/>
          </a:prstGeom>
          <a:noFill/>
        </p:spPr>
        <p:txBody>
          <a:bodyPr wrap="square">
            <a:spAutoFit/>
          </a:bodyPr>
          <a:lstStyle/>
          <a:p>
            <a:pPr algn="l"/>
            <a:r>
              <a:rPr sz="750" b="0" i="0">
                <a:solidFill>
                  <a:srgbClr val="1E8756"/>
                </a:solidFill>
              </a:rPr>
              <a:t>LOW-MEDIUM</a:t>
            </a:r>
          </a:p>
        </p:txBody>
      </p:sp>
      <p:sp>
        <p:nvSpPr>
          <p:cNvPr id="117" name="Rectangle 116"/>
          <p:cNvSpPr/>
          <p:nvPr/>
        </p:nvSpPr>
        <p:spPr>
          <a:xfrm>
            <a:off x="8046720" y="413308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092440" y="4169664"/>
            <a:ext cx="612648" cy="493776"/>
          </a:xfrm>
          <a:prstGeom prst="rect">
            <a:avLst/>
          </a:prstGeom>
          <a:noFill/>
        </p:spPr>
        <p:txBody>
          <a:bodyPr wrap="square">
            <a:spAutoFit/>
          </a:bodyPr>
          <a:lstStyle/>
          <a:p>
            <a:pPr algn="l"/>
            <a:r>
              <a:rPr sz="750" b="0" i="0">
                <a:solidFill>
                  <a:srgbClr val="1E8756"/>
                </a:solidFill>
              </a:rPr>
              <a:t>LOW</a:t>
            </a:r>
          </a:p>
        </p:txBody>
      </p:sp>
      <p:sp>
        <p:nvSpPr>
          <p:cNvPr id="119" name="Rectangle 118"/>
          <p:cNvSpPr/>
          <p:nvPr/>
        </p:nvSpPr>
        <p:spPr>
          <a:xfrm>
            <a:off x="8732520" y="413308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778240" y="4169664"/>
            <a:ext cx="1965960" cy="493776"/>
          </a:xfrm>
          <a:prstGeom prst="rect">
            <a:avLst/>
          </a:prstGeom>
          <a:noFill/>
        </p:spPr>
        <p:txBody>
          <a:bodyPr wrap="square">
            <a:spAutoFit/>
          </a:bodyPr>
          <a:lstStyle/>
          <a:p>
            <a:pPr algn="l"/>
            <a:r>
              <a:rPr sz="750" b="0" i="0">
                <a:solidFill>
                  <a:srgbClr val="2C3E50"/>
                </a:solidFill>
              </a:rPr>
              <a:t>Contractor to formally close out clash clearance check</a:t>
            </a:r>
          </a:p>
        </p:txBody>
      </p:sp>
      <p:sp>
        <p:nvSpPr>
          <p:cNvPr id="121" name="Rectangle 120"/>
          <p:cNvSpPr/>
          <p:nvPr/>
        </p:nvSpPr>
        <p:spPr>
          <a:xfrm>
            <a:off x="274320" y="4681728"/>
            <a:ext cx="141732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20040" y="4718304"/>
            <a:ext cx="1344168" cy="493776"/>
          </a:xfrm>
          <a:prstGeom prst="rect">
            <a:avLst/>
          </a:prstGeom>
          <a:noFill/>
        </p:spPr>
        <p:txBody>
          <a:bodyPr wrap="square">
            <a:spAutoFit/>
          </a:bodyPr>
          <a:lstStyle/>
          <a:p>
            <a:pPr algn="l"/>
            <a:r>
              <a:rPr sz="750" b="0" i="0">
                <a:solidFill>
                  <a:srgbClr val="2C3E50"/>
                </a:solidFill>
              </a:rPr>
              <a:t>GEN_CRC_KA_027</a:t>
            </a:r>
          </a:p>
        </p:txBody>
      </p:sp>
      <p:sp>
        <p:nvSpPr>
          <p:cNvPr id="123" name="Rectangle 122"/>
          <p:cNvSpPr/>
          <p:nvPr/>
        </p:nvSpPr>
        <p:spPr>
          <a:xfrm>
            <a:off x="1691640" y="4681728"/>
            <a:ext cx="7772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737360" y="4718304"/>
            <a:ext cx="704088" cy="493776"/>
          </a:xfrm>
          <a:prstGeom prst="rect">
            <a:avLst/>
          </a:prstGeom>
          <a:noFill/>
        </p:spPr>
        <p:txBody>
          <a:bodyPr wrap="square">
            <a:spAutoFit/>
          </a:bodyPr>
          <a:lstStyle/>
          <a:p>
            <a:pPr algn="l"/>
            <a:r>
              <a:rPr sz="750" b="0" i="0">
                <a:solidFill>
                  <a:srgbClr val="2C3E50"/>
                </a:solidFill>
              </a:rPr>
              <a:t>2F–6F,
11F–12F</a:t>
            </a:r>
          </a:p>
        </p:txBody>
      </p:sp>
      <p:sp>
        <p:nvSpPr>
          <p:cNvPr id="125" name="Rectangle 124"/>
          <p:cNvSpPr/>
          <p:nvPr/>
        </p:nvSpPr>
        <p:spPr>
          <a:xfrm>
            <a:off x="2468880" y="4681728"/>
            <a:ext cx="9144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514600" y="4718304"/>
            <a:ext cx="841248" cy="493776"/>
          </a:xfrm>
          <a:prstGeom prst="rect">
            <a:avLst/>
          </a:prstGeom>
          <a:noFill/>
        </p:spPr>
        <p:txBody>
          <a:bodyPr wrap="square">
            <a:spAutoFit/>
          </a:bodyPr>
          <a:lstStyle/>
          <a:p>
            <a:pPr algn="l"/>
            <a:r>
              <a:rPr sz="750" b="0" i="0">
                <a:solidFill>
                  <a:srgbClr val="2C3E50"/>
                </a:solidFill>
              </a:rPr>
              <a:t>MEP General /
Façade</a:t>
            </a:r>
          </a:p>
        </p:txBody>
      </p:sp>
      <p:sp>
        <p:nvSpPr>
          <p:cNvPr id="127" name="Rectangle 126"/>
          <p:cNvSpPr/>
          <p:nvPr/>
        </p:nvSpPr>
        <p:spPr>
          <a:xfrm>
            <a:off x="3383280" y="4681728"/>
            <a:ext cx="27432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3429000" y="4718304"/>
            <a:ext cx="2670048" cy="493776"/>
          </a:xfrm>
          <a:prstGeom prst="rect">
            <a:avLst/>
          </a:prstGeom>
          <a:noFill/>
        </p:spPr>
        <p:txBody>
          <a:bodyPr wrap="square">
            <a:spAutoFit/>
          </a:bodyPr>
          <a:lstStyle/>
          <a:p>
            <a:pPr algn="l"/>
            <a:r>
              <a:rPr sz="750" b="0" i="0">
                <a:solidFill>
                  <a:srgbClr val="2C3E50"/>
                </a:solidFill>
              </a:rPr>
              <a:t>Contractor proposals approved subject to ID and façade coordination across 4 points.</a:t>
            </a:r>
          </a:p>
        </p:txBody>
      </p:sp>
      <p:sp>
        <p:nvSpPr>
          <p:cNvPr id="129" name="Rectangle 128"/>
          <p:cNvSpPr/>
          <p:nvPr/>
        </p:nvSpPr>
        <p:spPr>
          <a:xfrm>
            <a:off x="6126480" y="4681728"/>
            <a:ext cx="123444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172200" y="4718304"/>
            <a:ext cx="1161288" cy="493776"/>
          </a:xfrm>
          <a:prstGeom prst="rect">
            <a:avLst/>
          </a:prstGeom>
          <a:noFill/>
        </p:spPr>
        <p:txBody>
          <a:bodyPr wrap="square">
            <a:spAutoFit/>
          </a:bodyPr>
          <a:lstStyle/>
          <a:p>
            <a:pPr algn="l"/>
            <a:r>
              <a:rPr sz="750" b="0" i="0">
                <a:solidFill>
                  <a:srgbClr val="2C3E50"/>
                </a:solidFill>
              </a:rPr>
              <a:t>✅ No Objection</a:t>
            </a:r>
          </a:p>
        </p:txBody>
      </p:sp>
      <p:sp>
        <p:nvSpPr>
          <p:cNvPr id="131" name="Rectangle 130"/>
          <p:cNvSpPr/>
          <p:nvPr/>
        </p:nvSpPr>
        <p:spPr>
          <a:xfrm>
            <a:off x="7360920" y="468172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406640" y="4718304"/>
            <a:ext cx="612648" cy="493776"/>
          </a:xfrm>
          <a:prstGeom prst="rect">
            <a:avLst/>
          </a:prstGeom>
          <a:noFill/>
        </p:spPr>
        <p:txBody>
          <a:bodyPr wrap="square">
            <a:spAutoFit/>
          </a:bodyPr>
          <a:lstStyle/>
          <a:p>
            <a:pPr algn="l"/>
            <a:r>
              <a:rPr sz="750" b="1" i="0">
                <a:solidFill>
                  <a:srgbClr val="F39C12"/>
                </a:solidFill>
              </a:rPr>
              <a:t>MEDIUM</a:t>
            </a:r>
          </a:p>
        </p:txBody>
      </p:sp>
      <p:sp>
        <p:nvSpPr>
          <p:cNvPr id="133" name="Rectangle 132"/>
          <p:cNvSpPr/>
          <p:nvPr/>
        </p:nvSpPr>
        <p:spPr>
          <a:xfrm>
            <a:off x="8046720" y="4681728"/>
            <a:ext cx="685800"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092440" y="4718304"/>
            <a:ext cx="612648" cy="493776"/>
          </a:xfrm>
          <a:prstGeom prst="rect">
            <a:avLst/>
          </a:prstGeom>
          <a:noFill/>
        </p:spPr>
        <p:txBody>
          <a:bodyPr wrap="square">
            <a:spAutoFit/>
          </a:bodyPr>
          <a:lstStyle/>
          <a:p>
            <a:pPr algn="l"/>
            <a:r>
              <a:rPr sz="750" b="1" i="0">
                <a:solidFill>
                  <a:srgbClr val="F39C12"/>
                </a:solidFill>
              </a:rPr>
              <a:t>MEDIUM</a:t>
            </a:r>
          </a:p>
        </p:txBody>
      </p:sp>
      <p:sp>
        <p:nvSpPr>
          <p:cNvPr id="135" name="Rectangle 134"/>
          <p:cNvSpPr/>
          <p:nvPr/>
        </p:nvSpPr>
        <p:spPr>
          <a:xfrm>
            <a:off x="8732520" y="4681728"/>
            <a:ext cx="2039112" cy="548640"/>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778240" y="4718304"/>
            <a:ext cx="1965960" cy="493776"/>
          </a:xfrm>
          <a:prstGeom prst="rect">
            <a:avLst/>
          </a:prstGeom>
          <a:noFill/>
        </p:spPr>
        <p:txBody>
          <a:bodyPr wrap="square">
            <a:spAutoFit/>
          </a:bodyPr>
          <a:lstStyle/>
          <a:p>
            <a:pPr algn="l"/>
            <a:r>
              <a:rPr sz="750" b="0" i="0">
                <a:solidFill>
                  <a:srgbClr val="2C3E50"/>
                </a:solidFill>
              </a:rPr>
              <a:t>Initiate tri-party meeting: MEP + ID + Façade contractor</a:t>
            </a:r>
          </a:p>
        </p:txBody>
      </p:sp>
      <p:sp>
        <p:nvSpPr>
          <p:cNvPr id="137" name="Rectangle 136"/>
          <p:cNvSpPr/>
          <p:nvPr/>
        </p:nvSpPr>
        <p:spPr>
          <a:xfrm>
            <a:off x="274320" y="5230368"/>
            <a:ext cx="141732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20040" y="5266944"/>
            <a:ext cx="1344168" cy="493776"/>
          </a:xfrm>
          <a:prstGeom prst="rect">
            <a:avLst/>
          </a:prstGeom>
          <a:noFill/>
        </p:spPr>
        <p:txBody>
          <a:bodyPr wrap="square">
            <a:spAutoFit/>
          </a:bodyPr>
          <a:lstStyle/>
          <a:p>
            <a:pPr algn="l"/>
            <a:r>
              <a:rPr sz="750" b="0" i="0">
                <a:solidFill>
                  <a:srgbClr val="2C3E50"/>
                </a:solidFill>
              </a:rPr>
              <a:t>GEN_CRC_KA_029</a:t>
            </a:r>
          </a:p>
        </p:txBody>
      </p:sp>
      <p:sp>
        <p:nvSpPr>
          <p:cNvPr id="139" name="Rectangle 138"/>
          <p:cNvSpPr/>
          <p:nvPr/>
        </p:nvSpPr>
        <p:spPr>
          <a:xfrm>
            <a:off x="1691640" y="5230368"/>
            <a:ext cx="7772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737360" y="5266944"/>
            <a:ext cx="704088" cy="493776"/>
          </a:xfrm>
          <a:prstGeom prst="rect">
            <a:avLst/>
          </a:prstGeom>
          <a:noFill/>
        </p:spPr>
        <p:txBody>
          <a:bodyPr wrap="square">
            <a:spAutoFit/>
          </a:bodyPr>
          <a:lstStyle/>
          <a:p>
            <a:pPr algn="l"/>
            <a:r>
              <a:rPr sz="750" b="0" i="0">
                <a:solidFill>
                  <a:srgbClr val="2C3E50"/>
                </a:solidFill>
              </a:rPr>
              <a:t>Multiple</a:t>
            </a:r>
          </a:p>
        </p:txBody>
      </p:sp>
      <p:sp>
        <p:nvSpPr>
          <p:cNvPr id="141" name="Rectangle 140"/>
          <p:cNvSpPr/>
          <p:nvPr/>
        </p:nvSpPr>
        <p:spPr>
          <a:xfrm>
            <a:off x="2468880" y="5230368"/>
            <a:ext cx="9144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514600" y="5266944"/>
            <a:ext cx="841248" cy="493776"/>
          </a:xfrm>
          <a:prstGeom prst="rect">
            <a:avLst/>
          </a:prstGeom>
          <a:noFill/>
        </p:spPr>
        <p:txBody>
          <a:bodyPr wrap="square">
            <a:spAutoFit/>
          </a:bodyPr>
          <a:lstStyle/>
          <a:p>
            <a:pPr algn="l"/>
            <a:r>
              <a:rPr sz="750" b="0" i="0">
                <a:solidFill>
                  <a:srgbClr val="2C3E50"/>
                </a:solidFill>
              </a:rPr>
              <a:t>MEP General</a:t>
            </a:r>
          </a:p>
        </p:txBody>
      </p:sp>
      <p:sp>
        <p:nvSpPr>
          <p:cNvPr id="143" name="Rectangle 142"/>
          <p:cNvSpPr/>
          <p:nvPr/>
        </p:nvSpPr>
        <p:spPr>
          <a:xfrm>
            <a:off x="3383280" y="5230368"/>
            <a:ext cx="27432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429000" y="5266944"/>
            <a:ext cx="2670048" cy="493776"/>
          </a:xfrm>
          <a:prstGeom prst="rect">
            <a:avLst/>
          </a:prstGeom>
          <a:noFill/>
        </p:spPr>
        <p:txBody>
          <a:bodyPr wrap="square">
            <a:spAutoFit/>
          </a:bodyPr>
          <a:lstStyle/>
          <a:p>
            <a:pPr algn="l"/>
            <a:r>
              <a:rPr sz="750" b="0" i="0">
                <a:solidFill>
                  <a:srgbClr val="2C3E50"/>
                </a:solidFill>
              </a:rPr>
              <a:t>General coordination required with ID and all other disciplines. 2 open points.</a:t>
            </a:r>
          </a:p>
        </p:txBody>
      </p:sp>
      <p:sp>
        <p:nvSpPr>
          <p:cNvPr id="145" name="Rectangle 144"/>
          <p:cNvSpPr/>
          <p:nvPr/>
        </p:nvSpPr>
        <p:spPr>
          <a:xfrm>
            <a:off x="6126480" y="5230368"/>
            <a:ext cx="123444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6172200" y="5266944"/>
            <a:ext cx="1161288" cy="493776"/>
          </a:xfrm>
          <a:prstGeom prst="rect">
            <a:avLst/>
          </a:prstGeom>
          <a:noFill/>
        </p:spPr>
        <p:txBody>
          <a:bodyPr wrap="square">
            <a:spAutoFit/>
          </a:bodyPr>
          <a:lstStyle/>
          <a:p>
            <a:pPr algn="l"/>
            <a:r>
              <a:rPr sz="750" b="0" i="0">
                <a:solidFill>
                  <a:srgbClr val="2C3E50"/>
                </a:solidFill>
              </a:rPr>
              <a:t>✅ No Objection</a:t>
            </a:r>
          </a:p>
        </p:txBody>
      </p:sp>
      <p:sp>
        <p:nvSpPr>
          <p:cNvPr id="147" name="Rectangle 146"/>
          <p:cNvSpPr/>
          <p:nvPr/>
        </p:nvSpPr>
        <p:spPr>
          <a:xfrm>
            <a:off x="7360920" y="523036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7406640" y="5266944"/>
            <a:ext cx="612648" cy="493776"/>
          </a:xfrm>
          <a:prstGeom prst="rect">
            <a:avLst/>
          </a:prstGeom>
          <a:noFill/>
        </p:spPr>
        <p:txBody>
          <a:bodyPr wrap="square">
            <a:spAutoFit/>
          </a:bodyPr>
          <a:lstStyle/>
          <a:p>
            <a:pPr algn="l"/>
            <a:r>
              <a:rPr sz="750" b="0" i="0">
                <a:solidFill>
                  <a:srgbClr val="1E8756"/>
                </a:solidFill>
              </a:rPr>
              <a:t>LOW</a:t>
            </a:r>
          </a:p>
        </p:txBody>
      </p:sp>
      <p:sp>
        <p:nvSpPr>
          <p:cNvPr id="149" name="Rectangle 148"/>
          <p:cNvSpPr/>
          <p:nvPr/>
        </p:nvSpPr>
        <p:spPr>
          <a:xfrm>
            <a:off x="8046720" y="5230368"/>
            <a:ext cx="685800"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8092440" y="5266944"/>
            <a:ext cx="612648" cy="493776"/>
          </a:xfrm>
          <a:prstGeom prst="rect">
            <a:avLst/>
          </a:prstGeom>
          <a:noFill/>
        </p:spPr>
        <p:txBody>
          <a:bodyPr wrap="square">
            <a:spAutoFit/>
          </a:bodyPr>
          <a:lstStyle/>
          <a:p>
            <a:pPr algn="l"/>
            <a:r>
              <a:rPr sz="750" b="0" i="0">
                <a:solidFill>
                  <a:srgbClr val="1E8756"/>
                </a:solidFill>
              </a:rPr>
              <a:t>LOW</a:t>
            </a:r>
          </a:p>
        </p:txBody>
      </p:sp>
      <p:sp>
        <p:nvSpPr>
          <p:cNvPr id="151" name="Rectangle 150"/>
          <p:cNvSpPr/>
          <p:nvPr/>
        </p:nvSpPr>
        <p:spPr>
          <a:xfrm>
            <a:off x="8732520" y="5230368"/>
            <a:ext cx="2039112" cy="548640"/>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778240" y="5266944"/>
            <a:ext cx="1965960" cy="493776"/>
          </a:xfrm>
          <a:prstGeom prst="rect">
            <a:avLst/>
          </a:prstGeom>
          <a:noFill/>
        </p:spPr>
        <p:txBody>
          <a:bodyPr wrap="square">
            <a:spAutoFit/>
          </a:bodyPr>
          <a:lstStyle/>
          <a:p>
            <a:pPr algn="l"/>
            <a:r>
              <a:rPr sz="750" b="0" i="0">
                <a:solidFill>
                  <a:srgbClr val="2C3E50"/>
                </a:solidFill>
              </a:rPr>
              <a:t>Issue coordination instruction; track on weekly RFI register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Priority Action Register</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7 Actions — Ranked P1 to P4 with Target Dates  |  Project P159</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713232"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640080" cy="237744"/>
          </a:xfrm>
          <a:prstGeom prst="rect">
            <a:avLst/>
          </a:prstGeom>
          <a:noFill/>
        </p:spPr>
        <p:txBody>
          <a:bodyPr wrap="square">
            <a:spAutoFit/>
          </a:bodyPr>
          <a:lstStyle/>
          <a:p>
            <a:pPr algn="ctr"/>
            <a:r>
              <a:rPr sz="850" b="1" i="0">
                <a:solidFill>
                  <a:srgbClr val="FFFFFF"/>
                </a:solidFill>
              </a:rPr>
              <a:t>PRIORITY</a:t>
            </a:r>
          </a:p>
        </p:txBody>
      </p:sp>
      <p:sp>
        <p:nvSpPr>
          <p:cNvPr id="11" name="Rectangle 10"/>
          <p:cNvSpPr/>
          <p:nvPr/>
        </p:nvSpPr>
        <p:spPr>
          <a:xfrm>
            <a:off x="987552" y="1078992"/>
            <a:ext cx="41148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1115568"/>
            <a:ext cx="4041648" cy="237744"/>
          </a:xfrm>
          <a:prstGeom prst="rect">
            <a:avLst/>
          </a:prstGeom>
          <a:noFill/>
        </p:spPr>
        <p:txBody>
          <a:bodyPr wrap="square">
            <a:spAutoFit/>
          </a:bodyPr>
          <a:lstStyle/>
          <a:p>
            <a:pPr algn="ctr"/>
            <a:r>
              <a:rPr sz="850" b="1" i="0">
                <a:solidFill>
                  <a:srgbClr val="FFFFFF"/>
                </a:solidFill>
              </a:rPr>
              <a:t>ACTION</a:t>
            </a:r>
          </a:p>
        </p:txBody>
      </p:sp>
      <p:sp>
        <p:nvSpPr>
          <p:cNvPr id="13" name="Rectangle 12"/>
          <p:cNvSpPr/>
          <p:nvPr/>
        </p:nvSpPr>
        <p:spPr>
          <a:xfrm>
            <a:off x="5102352" y="1078992"/>
            <a:ext cx="146304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8072" y="1115568"/>
            <a:ext cx="1389888" cy="237744"/>
          </a:xfrm>
          <a:prstGeom prst="rect">
            <a:avLst/>
          </a:prstGeom>
          <a:noFill/>
        </p:spPr>
        <p:txBody>
          <a:bodyPr wrap="square">
            <a:spAutoFit/>
          </a:bodyPr>
          <a:lstStyle/>
          <a:p>
            <a:pPr algn="ctr"/>
            <a:r>
              <a:rPr sz="850" b="1" i="0">
                <a:solidFill>
                  <a:srgbClr val="FFFFFF"/>
                </a:solidFill>
              </a:rPr>
              <a:t>RFIs</a:t>
            </a:r>
          </a:p>
        </p:txBody>
      </p:sp>
      <p:sp>
        <p:nvSpPr>
          <p:cNvPr id="15" name="Rectangle 14"/>
          <p:cNvSpPr/>
          <p:nvPr/>
        </p:nvSpPr>
        <p:spPr>
          <a:xfrm>
            <a:off x="6565392" y="1078992"/>
            <a:ext cx="201168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11112" y="1115568"/>
            <a:ext cx="1938528" cy="237744"/>
          </a:xfrm>
          <a:prstGeom prst="rect">
            <a:avLst/>
          </a:prstGeom>
          <a:noFill/>
        </p:spPr>
        <p:txBody>
          <a:bodyPr wrap="square">
            <a:spAutoFit/>
          </a:bodyPr>
          <a:lstStyle/>
          <a:p>
            <a:pPr algn="ctr"/>
            <a:r>
              <a:rPr sz="850" b="1" i="0">
                <a:solidFill>
                  <a:srgbClr val="FFFFFF"/>
                </a:solidFill>
              </a:rPr>
              <a:t>OWNER</a:t>
            </a:r>
          </a:p>
        </p:txBody>
      </p:sp>
      <p:sp>
        <p:nvSpPr>
          <p:cNvPr id="17" name="Rectangle 16"/>
          <p:cNvSpPr/>
          <p:nvPr/>
        </p:nvSpPr>
        <p:spPr>
          <a:xfrm>
            <a:off x="8577072" y="1078992"/>
            <a:ext cx="132588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22792" y="1115568"/>
            <a:ext cx="1252728" cy="237744"/>
          </a:xfrm>
          <a:prstGeom prst="rect">
            <a:avLst/>
          </a:prstGeom>
          <a:noFill/>
        </p:spPr>
        <p:txBody>
          <a:bodyPr wrap="square">
            <a:spAutoFit/>
          </a:bodyPr>
          <a:lstStyle/>
          <a:p>
            <a:pPr algn="ctr"/>
            <a:r>
              <a:rPr sz="850" b="1" i="0">
                <a:solidFill>
                  <a:srgbClr val="FFFFFF"/>
                </a:solidFill>
              </a:rPr>
              <a:t>TARGET</a:t>
            </a:r>
          </a:p>
        </p:txBody>
      </p:sp>
      <p:sp>
        <p:nvSpPr>
          <p:cNvPr id="19" name="Rectangle 18"/>
          <p:cNvSpPr/>
          <p:nvPr/>
        </p:nvSpPr>
        <p:spPr>
          <a:xfrm>
            <a:off x="9902951" y="1078992"/>
            <a:ext cx="2286000" cy="29260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48672" y="1115568"/>
            <a:ext cx="2212848" cy="237744"/>
          </a:xfrm>
          <a:prstGeom prst="rect">
            <a:avLst/>
          </a:prstGeom>
          <a:noFill/>
        </p:spPr>
        <p:txBody>
          <a:bodyPr wrap="square">
            <a:spAutoFit/>
          </a:bodyPr>
          <a:lstStyle/>
          <a:p>
            <a:pPr algn="ctr"/>
            <a:r>
              <a:rPr sz="850" b="1" i="0">
                <a:solidFill>
                  <a:srgbClr val="FFFFFF"/>
                </a:solidFill>
              </a:rPr>
              <a:t>STATUS</a:t>
            </a:r>
          </a:p>
        </p:txBody>
      </p:sp>
      <p:sp>
        <p:nvSpPr>
          <p:cNvPr id="21" name="Rectangle 20"/>
          <p:cNvSpPr/>
          <p:nvPr/>
        </p:nvSpPr>
        <p:spPr>
          <a:xfrm>
            <a:off x="274320" y="1389888"/>
            <a:ext cx="713232" cy="649224"/>
          </a:xfrm>
          <a:prstGeom prst="rect">
            <a:avLst/>
          </a:prstGeom>
          <a:solidFill>
            <a:srgbClr val="E84C3C"/>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 y="1435608"/>
            <a:ext cx="621792" cy="576072"/>
          </a:xfrm>
          <a:prstGeom prst="rect">
            <a:avLst/>
          </a:prstGeom>
          <a:noFill/>
        </p:spPr>
        <p:txBody>
          <a:bodyPr wrap="square">
            <a:spAutoFit/>
          </a:bodyPr>
          <a:lstStyle/>
          <a:p>
            <a:pPr algn="l"/>
            <a:r>
              <a:rPr sz="780" b="1" i="0">
                <a:solidFill>
                  <a:srgbClr val="FFFFFF"/>
                </a:solidFill>
              </a:rPr>
              <a:t>P1 — URGENT</a:t>
            </a:r>
          </a:p>
        </p:txBody>
      </p:sp>
      <p:sp>
        <p:nvSpPr>
          <p:cNvPr id="23" name="Rectangle 22"/>
          <p:cNvSpPr/>
          <p:nvPr/>
        </p:nvSpPr>
        <p:spPr>
          <a:xfrm>
            <a:off x="987552" y="1389888"/>
            <a:ext cx="41148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 y="1435608"/>
            <a:ext cx="4023360" cy="576072"/>
          </a:xfrm>
          <a:prstGeom prst="rect">
            <a:avLst/>
          </a:prstGeom>
          <a:noFill/>
        </p:spPr>
        <p:txBody>
          <a:bodyPr wrap="square">
            <a:spAutoFit/>
          </a:bodyPr>
          <a:lstStyle/>
          <a:p>
            <a:pPr algn="l"/>
            <a:r>
              <a:rPr sz="780" b="0" i="0">
                <a:solidFill>
                  <a:srgbClr val="2C3E50"/>
                </a:solidFill>
              </a:rPr>
              <a:t>Escalate ARC_042 &amp; ARC_054 — formal design instruction from consultant required to unblock beam relocation decision</a:t>
            </a:r>
          </a:p>
        </p:txBody>
      </p:sp>
      <p:sp>
        <p:nvSpPr>
          <p:cNvPr id="25" name="Rectangle 24"/>
          <p:cNvSpPr/>
          <p:nvPr/>
        </p:nvSpPr>
        <p:spPr>
          <a:xfrm>
            <a:off x="5102352" y="1389888"/>
            <a:ext cx="146304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57216" y="1435608"/>
            <a:ext cx="1371600" cy="576072"/>
          </a:xfrm>
          <a:prstGeom prst="rect">
            <a:avLst/>
          </a:prstGeom>
          <a:noFill/>
        </p:spPr>
        <p:txBody>
          <a:bodyPr wrap="square">
            <a:spAutoFit/>
          </a:bodyPr>
          <a:lstStyle/>
          <a:p>
            <a:pPr algn="l"/>
            <a:r>
              <a:rPr sz="780" b="0" i="0">
                <a:solidFill>
                  <a:srgbClr val="2C3E50"/>
                </a:solidFill>
              </a:rPr>
              <a:t>ARC_042
ARC_054</a:t>
            </a:r>
          </a:p>
        </p:txBody>
      </p:sp>
      <p:sp>
        <p:nvSpPr>
          <p:cNvPr id="27" name="Rectangle 26"/>
          <p:cNvSpPr/>
          <p:nvPr/>
        </p:nvSpPr>
        <p:spPr>
          <a:xfrm>
            <a:off x="6565392" y="1389888"/>
            <a:ext cx="20116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0255" y="1435608"/>
            <a:ext cx="1920240" cy="576072"/>
          </a:xfrm>
          <a:prstGeom prst="rect">
            <a:avLst/>
          </a:prstGeom>
          <a:noFill/>
        </p:spPr>
        <p:txBody>
          <a:bodyPr wrap="square">
            <a:spAutoFit/>
          </a:bodyPr>
          <a:lstStyle/>
          <a:p>
            <a:pPr algn="l"/>
            <a:r>
              <a:rPr sz="780" b="0" i="0">
                <a:solidFill>
                  <a:srgbClr val="2C3E50"/>
                </a:solidFill>
              </a:rPr>
              <a:t>Project Manager
+ Design Manager</a:t>
            </a:r>
          </a:p>
        </p:txBody>
      </p:sp>
      <p:sp>
        <p:nvSpPr>
          <p:cNvPr id="29" name="Rectangle 28"/>
          <p:cNvSpPr/>
          <p:nvPr/>
        </p:nvSpPr>
        <p:spPr>
          <a:xfrm>
            <a:off x="8577072" y="1389888"/>
            <a:ext cx="13258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31936" y="1435608"/>
            <a:ext cx="1234439" cy="576072"/>
          </a:xfrm>
          <a:prstGeom prst="rect">
            <a:avLst/>
          </a:prstGeom>
          <a:noFill/>
        </p:spPr>
        <p:txBody>
          <a:bodyPr wrap="square">
            <a:spAutoFit/>
          </a:bodyPr>
          <a:lstStyle/>
          <a:p>
            <a:pPr algn="l"/>
            <a:r>
              <a:rPr sz="780" b="0" i="0">
                <a:solidFill>
                  <a:srgbClr val="2C3E50"/>
                </a:solidFill>
              </a:rPr>
              <a:t>3 working
days</a:t>
            </a:r>
          </a:p>
        </p:txBody>
      </p:sp>
      <p:sp>
        <p:nvSpPr>
          <p:cNvPr id="31" name="Rectangle 30"/>
          <p:cNvSpPr/>
          <p:nvPr/>
        </p:nvSpPr>
        <p:spPr>
          <a:xfrm>
            <a:off x="9902951" y="1389888"/>
            <a:ext cx="22860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57815" y="1435608"/>
            <a:ext cx="2194560" cy="576072"/>
          </a:xfrm>
          <a:prstGeom prst="rect">
            <a:avLst/>
          </a:prstGeom>
          <a:noFill/>
        </p:spPr>
        <p:txBody>
          <a:bodyPr wrap="square">
            <a:spAutoFit/>
          </a:bodyPr>
          <a:lstStyle/>
          <a:p>
            <a:pPr algn="l"/>
            <a:r>
              <a:rPr sz="780" b="0" i="0">
                <a:solidFill>
                  <a:srgbClr val="2C3E50"/>
                </a:solidFill>
              </a:rPr>
              <a:t>🔴 Immediate Escalation Required</a:t>
            </a:r>
          </a:p>
        </p:txBody>
      </p:sp>
      <p:sp>
        <p:nvSpPr>
          <p:cNvPr id="33" name="Rectangle 32"/>
          <p:cNvSpPr/>
          <p:nvPr/>
        </p:nvSpPr>
        <p:spPr>
          <a:xfrm>
            <a:off x="274320" y="2039112"/>
            <a:ext cx="713232" cy="649224"/>
          </a:xfrm>
          <a:prstGeom prst="rect">
            <a:avLst/>
          </a:prstGeom>
          <a:solidFill>
            <a:srgbClr val="E84C3C"/>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 y="2084831"/>
            <a:ext cx="621792" cy="576072"/>
          </a:xfrm>
          <a:prstGeom prst="rect">
            <a:avLst/>
          </a:prstGeom>
          <a:noFill/>
        </p:spPr>
        <p:txBody>
          <a:bodyPr wrap="square">
            <a:spAutoFit/>
          </a:bodyPr>
          <a:lstStyle/>
          <a:p>
            <a:pPr algn="l"/>
            <a:r>
              <a:rPr sz="780" b="1" i="0">
                <a:solidFill>
                  <a:srgbClr val="FFFFFF"/>
                </a:solidFill>
              </a:rPr>
              <a:t>P1 — URGENT</a:t>
            </a:r>
          </a:p>
        </p:txBody>
      </p:sp>
      <p:sp>
        <p:nvSpPr>
          <p:cNvPr id="35" name="Rectangle 34"/>
          <p:cNvSpPr/>
          <p:nvPr/>
        </p:nvSpPr>
        <p:spPr>
          <a:xfrm>
            <a:off x="987552" y="2039112"/>
            <a:ext cx="411480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6" y="2084831"/>
            <a:ext cx="4023360" cy="576072"/>
          </a:xfrm>
          <a:prstGeom prst="rect">
            <a:avLst/>
          </a:prstGeom>
          <a:noFill/>
        </p:spPr>
        <p:txBody>
          <a:bodyPr wrap="square">
            <a:spAutoFit/>
          </a:bodyPr>
          <a:lstStyle/>
          <a:p>
            <a:pPr algn="l"/>
            <a:r>
              <a:rPr sz="780" b="0" i="0">
                <a:solidFill>
                  <a:srgbClr val="2C3E50"/>
                </a:solidFill>
              </a:rPr>
              <a:t>Convene multi-party coordination meeting (MEP sub-contractor, Structural Engineer, Tiling Contractor) for drop panel sleeve package</a:t>
            </a:r>
          </a:p>
        </p:txBody>
      </p:sp>
      <p:sp>
        <p:nvSpPr>
          <p:cNvPr id="37" name="Rectangle 36"/>
          <p:cNvSpPr/>
          <p:nvPr/>
        </p:nvSpPr>
        <p:spPr>
          <a:xfrm>
            <a:off x="5102352" y="2039112"/>
            <a:ext cx="146304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57216" y="2084831"/>
            <a:ext cx="1371600" cy="576072"/>
          </a:xfrm>
          <a:prstGeom prst="rect">
            <a:avLst/>
          </a:prstGeom>
          <a:noFill/>
        </p:spPr>
        <p:txBody>
          <a:bodyPr wrap="square">
            <a:spAutoFit/>
          </a:bodyPr>
          <a:lstStyle/>
          <a:p>
            <a:pPr algn="l"/>
            <a:r>
              <a:rPr sz="780" b="0" i="0">
                <a:solidFill>
                  <a:srgbClr val="2C3E50"/>
                </a:solidFill>
              </a:rPr>
              <a:t>ARC_058</a:t>
            </a:r>
          </a:p>
        </p:txBody>
      </p:sp>
      <p:sp>
        <p:nvSpPr>
          <p:cNvPr id="39" name="Rectangle 38"/>
          <p:cNvSpPr/>
          <p:nvPr/>
        </p:nvSpPr>
        <p:spPr>
          <a:xfrm>
            <a:off x="6565392" y="2039112"/>
            <a:ext cx="201168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0255" y="2084831"/>
            <a:ext cx="1920240" cy="576072"/>
          </a:xfrm>
          <a:prstGeom prst="rect">
            <a:avLst/>
          </a:prstGeom>
          <a:noFill/>
        </p:spPr>
        <p:txBody>
          <a:bodyPr wrap="square">
            <a:spAutoFit/>
          </a:bodyPr>
          <a:lstStyle/>
          <a:p>
            <a:pPr algn="l"/>
            <a:r>
              <a:rPr sz="780" b="0" i="0">
                <a:solidFill>
                  <a:srgbClr val="2C3E50"/>
                </a:solidFill>
              </a:rPr>
              <a:t>Construction
Manager</a:t>
            </a:r>
          </a:p>
        </p:txBody>
      </p:sp>
      <p:sp>
        <p:nvSpPr>
          <p:cNvPr id="41" name="Rectangle 40"/>
          <p:cNvSpPr/>
          <p:nvPr/>
        </p:nvSpPr>
        <p:spPr>
          <a:xfrm>
            <a:off x="8577072" y="2039112"/>
            <a:ext cx="132588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31936" y="2084831"/>
            <a:ext cx="1234439" cy="576072"/>
          </a:xfrm>
          <a:prstGeom prst="rect">
            <a:avLst/>
          </a:prstGeom>
          <a:noFill/>
        </p:spPr>
        <p:txBody>
          <a:bodyPr wrap="square">
            <a:spAutoFit/>
          </a:bodyPr>
          <a:lstStyle/>
          <a:p>
            <a:pPr algn="l"/>
            <a:r>
              <a:rPr sz="780" b="0" i="0">
                <a:solidFill>
                  <a:srgbClr val="2C3E50"/>
                </a:solidFill>
              </a:rPr>
              <a:t>5 working
days</a:t>
            </a:r>
          </a:p>
        </p:txBody>
      </p:sp>
      <p:sp>
        <p:nvSpPr>
          <p:cNvPr id="43" name="Rectangle 42"/>
          <p:cNvSpPr/>
          <p:nvPr/>
        </p:nvSpPr>
        <p:spPr>
          <a:xfrm>
            <a:off x="9902951" y="2039112"/>
            <a:ext cx="228600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57815" y="2084831"/>
            <a:ext cx="2194560" cy="576072"/>
          </a:xfrm>
          <a:prstGeom prst="rect">
            <a:avLst/>
          </a:prstGeom>
          <a:noFill/>
        </p:spPr>
        <p:txBody>
          <a:bodyPr wrap="square">
            <a:spAutoFit/>
          </a:bodyPr>
          <a:lstStyle/>
          <a:p>
            <a:pPr algn="l"/>
            <a:r>
              <a:rPr sz="780" b="0" i="0">
                <a:solidFill>
                  <a:srgbClr val="2C3E50"/>
                </a:solidFill>
              </a:rPr>
              <a:t>🔴 Meeting Not Yet Scheduled</a:t>
            </a:r>
          </a:p>
        </p:txBody>
      </p:sp>
      <p:sp>
        <p:nvSpPr>
          <p:cNvPr id="45" name="Rectangle 44"/>
          <p:cNvSpPr/>
          <p:nvPr/>
        </p:nvSpPr>
        <p:spPr>
          <a:xfrm>
            <a:off x="274320" y="2688336"/>
            <a:ext cx="713232" cy="649224"/>
          </a:xfrm>
          <a:prstGeom prst="rect">
            <a:avLst/>
          </a:prstGeom>
          <a:solidFill>
            <a:srgbClr val="F39C12"/>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184" y="2734056"/>
            <a:ext cx="621792" cy="576072"/>
          </a:xfrm>
          <a:prstGeom prst="rect">
            <a:avLst/>
          </a:prstGeom>
          <a:noFill/>
        </p:spPr>
        <p:txBody>
          <a:bodyPr wrap="square">
            <a:spAutoFit/>
          </a:bodyPr>
          <a:lstStyle/>
          <a:p>
            <a:pPr algn="l"/>
            <a:r>
              <a:rPr sz="780" b="1" i="0">
                <a:solidFill>
                  <a:srgbClr val="FFFFFF"/>
                </a:solidFill>
              </a:rPr>
              <a:t>P2 — HIGH</a:t>
            </a:r>
          </a:p>
        </p:txBody>
      </p:sp>
      <p:sp>
        <p:nvSpPr>
          <p:cNvPr id="47" name="Rectangle 46"/>
          <p:cNvSpPr/>
          <p:nvPr/>
        </p:nvSpPr>
        <p:spPr>
          <a:xfrm>
            <a:off x="987552" y="2688336"/>
            <a:ext cx="41148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2416" y="2734056"/>
            <a:ext cx="4023360" cy="576072"/>
          </a:xfrm>
          <a:prstGeom prst="rect">
            <a:avLst/>
          </a:prstGeom>
          <a:noFill/>
        </p:spPr>
        <p:txBody>
          <a:bodyPr wrap="square">
            <a:spAutoFit/>
          </a:bodyPr>
          <a:lstStyle/>
          <a:p>
            <a:pPr algn="l"/>
            <a:r>
              <a:rPr sz="780" b="0" i="0">
                <a:solidFill>
                  <a:srgbClr val="2C3E50"/>
                </a:solidFill>
              </a:rPr>
              <a:t>Re-submit revised beam penetration proposals with correct 6" sleeve and approved structural reinforcement detail</a:t>
            </a:r>
          </a:p>
        </p:txBody>
      </p:sp>
      <p:sp>
        <p:nvSpPr>
          <p:cNvPr id="49" name="Rectangle 48"/>
          <p:cNvSpPr/>
          <p:nvPr/>
        </p:nvSpPr>
        <p:spPr>
          <a:xfrm>
            <a:off x="5102352" y="2688336"/>
            <a:ext cx="146304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57216" y="2734056"/>
            <a:ext cx="1371600" cy="576072"/>
          </a:xfrm>
          <a:prstGeom prst="rect">
            <a:avLst/>
          </a:prstGeom>
          <a:noFill/>
        </p:spPr>
        <p:txBody>
          <a:bodyPr wrap="square">
            <a:spAutoFit/>
          </a:bodyPr>
          <a:lstStyle/>
          <a:p>
            <a:pPr algn="l"/>
            <a:r>
              <a:rPr sz="780" b="0" i="0">
                <a:solidFill>
                  <a:srgbClr val="2C3E50"/>
                </a:solidFill>
              </a:rPr>
              <a:t>ARC_056
ARC_057</a:t>
            </a:r>
          </a:p>
        </p:txBody>
      </p:sp>
      <p:sp>
        <p:nvSpPr>
          <p:cNvPr id="51" name="Rectangle 50"/>
          <p:cNvSpPr/>
          <p:nvPr/>
        </p:nvSpPr>
        <p:spPr>
          <a:xfrm>
            <a:off x="6565392" y="2688336"/>
            <a:ext cx="20116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20255" y="2734056"/>
            <a:ext cx="1920240" cy="576072"/>
          </a:xfrm>
          <a:prstGeom prst="rect">
            <a:avLst/>
          </a:prstGeom>
          <a:noFill/>
        </p:spPr>
        <p:txBody>
          <a:bodyPr wrap="square">
            <a:spAutoFit/>
          </a:bodyPr>
          <a:lstStyle/>
          <a:p>
            <a:pPr algn="l"/>
            <a:r>
              <a:rPr sz="780" b="0" i="0">
                <a:solidFill>
                  <a:srgbClr val="2C3E50"/>
                </a:solidFill>
              </a:rPr>
              <a:t>MEP Sub-contractor
+ Struct. Engineer</a:t>
            </a:r>
          </a:p>
        </p:txBody>
      </p:sp>
      <p:sp>
        <p:nvSpPr>
          <p:cNvPr id="53" name="Rectangle 52"/>
          <p:cNvSpPr/>
          <p:nvPr/>
        </p:nvSpPr>
        <p:spPr>
          <a:xfrm>
            <a:off x="8577072" y="2688336"/>
            <a:ext cx="13258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31936" y="2734056"/>
            <a:ext cx="1234439" cy="576072"/>
          </a:xfrm>
          <a:prstGeom prst="rect">
            <a:avLst/>
          </a:prstGeom>
          <a:noFill/>
        </p:spPr>
        <p:txBody>
          <a:bodyPr wrap="square">
            <a:spAutoFit/>
          </a:bodyPr>
          <a:lstStyle/>
          <a:p>
            <a:pPr algn="l"/>
            <a:r>
              <a:rPr sz="780" b="0" i="0">
                <a:solidFill>
                  <a:srgbClr val="2C3E50"/>
                </a:solidFill>
              </a:rPr>
              <a:t>7 working
days</a:t>
            </a:r>
          </a:p>
        </p:txBody>
      </p:sp>
      <p:sp>
        <p:nvSpPr>
          <p:cNvPr id="55" name="Rectangle 54"/>
          <p:cNvSpPr/>
          <p:nvPr/>
        </p:nvSpPr>
        <p:spPr>
          <a:xfrm>
            <a:off x="9902951" y="2688336"/>
            <a:ext cx="22860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57815" y="2734056"/>
            <a:ext cx="2194560" cy="576072"/>
          </a:xfrm>
          <a:prstGeom prst="rect">
            <a:avLst/>
          </a:prstGeom>
          <a:noFill/>
        </p:spPr>
        <p:txBody>
          <a:bodyPr wrap="square">
            <a:spAutoFit/>
          </a:bodyPr>
          <a:lstStyle/>
          <a:p>
            <a:pPr algn="l"/>
            <a:r>
              <a:rPr sz="780" b="0" i="0">
                <a:solidFill>
                  <a:srgbClr val="2C3E50"/>
                </a:solidFill>
              </a:rPr>
              <a:t>⚠️ Re-submission Pending</a:t>
            </a:r>
          </a:p>
        </p:txBody>
      </p:sp>
      <p:sp>
        <p:nvSpPr>
          <p:cNvPr id="57" name="Rectangle 56"/>
          <p:cNvSpPr/>
          <p:nvPr/>
        </p:nvSpPr>
        <p:spPr>
          <a:xfrm>
            <a:off x="274320" y="3337560"/>
            <a:ext cx="713232" cy="649224"/>
          </a:xfrm>
          <a:prstGeom prst="rect">
            <a:avLst/>
          </a:prstGeom>
          <a:solidFill>
            <a:srgbClr val="F39C12"/>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9184" y="3383279"/>
            <a:ext cx="621792" cy="576072"/>
          </a:xfrm>
          <a:prstGeom prst="rect">
            <a:avLst/>
          </a:prstGeom>
          <a:noFill/>
        </p:spPr>
        <p:txBody>
          <a:bodyPr wrap="square">
            <a:spAutoFit/>
          </a:bodyPr>
          <a:lstStyle/>
          <a:p>
            <a:pPr algn="l"/>
            <a:r>
              <a:rPr sz="780" b="1" i="0">
                <a:solidFill>
                  <a:srgbClr val="FFFFFF"/>
                </a:solidFill>
              </a:rPr>
              <a:t>P2 — HIGH</a:t>
            </a:r>
          </a:p>
        </p:txBody>
      </p:sp>
      <p:sp>
        <p:nvSpPr>
          <p:cNvPr id="59" name="Rectangle 58"/>
          <p:cNvSpPr/>
          <p:nvPr/>
        </p:nvSpPr>
        <p:spPr>
          <a:xfrm>
            <a:off x="987552" y="3337560"/>
            <a:ext cx="411480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2416" y="3383279"/>
            <a:ext cx="4023360" cy="576072"/>
          </a:xfrm>
          <a:prstGeom prst="rect">
            <a:avLst/>
          </a:prstGeom>
          <a:noFill/>
        </p:spPr>
        <p:txBody>
          <a:bodyPr wrap="square">
            <a:spAutoFit/>
          </a:bodyPr>
          <a:lstStyle/>
          <a:p>
            <a:pPr algn="l"/>
            <a:r>
              <a:rPr sz="780" b="0" i="0">
                <a:solidFill>
                  <a:srgbClr val="2C3E50"/>
                </a:solidFill>
              </a:rPr>
              <a:t>MEP sub-contractor to submit constructability and functionality verification report (6F)</a:t>
            </a:r>
          </a:p>
        </p:txBody>
      </p:sp>
      <p:sp>
        <p:nvSpPr>
          <p:cNvPr id="61" name="Rectangle 60"/>
          <p:cNvSpPr/>
          <p:nvPr/>
        </p:nvSpPr>
        <p:spPr>
          <a:xfrm>
            <a:off x="5102352" y="3337560"/>
            <a:ext cx="146304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157216" y="3383279"/>
            <a:ext cx="1371600" cy="576072"/>
          </a:xfrm>
          <a:prstGeom prst="rect">
            <a:avLst/>
          </a:prstGeom>
          <a:noFill/>
        </p:spPr>
        <p:txBody>
          <a:bodyPr wrap="square">
            <a:spAutoFit/>
          </a:bodyPr>
          <a:lstStyle/>
          <a:p>
            <a:pPr algn="l"/>
            <a:r>
              <a:rPr sz="780" b="0" i="0">
                <a:solidFill>
                  <a:srgbClr val="2C3E50"/>
                </a:solidFill>
              </a:rPr>
              <a:t>ARC_068</a:t>
            </a:r>
          </a:p>
        </p:txBody>
      </p:sp>
      <p:sp>
        <p:nvSpPr>
          <p:cNvPr id="63" name="Rectangle 62"/>
          <p:cNvSpPr/>
          <p:nvPr/>
        </p:nvSpPr>
        <p:spPr>
          <a:xfrm>
            <a:off x="6565392" y="3337560"/>
            <a:ext cx="201168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20255" y="3383279"/>
            <a:ext cx="1920240" cy="576072"/>
          </a:xfrm>
          <a:prstGeom prst="rect">
            <a:avLst/>
          </a:prstGeom>
          <a:noFill/>
        </p:spPr>
        <p:txBody>
          <a:bodyPr wrap="square">
            <a:spAutoFit/>
          </a:bodyPr>
          <a:lstStyle/>
          <a:p>
            <a:pPr algn="l"/>
            <a:r>
              <a:rPr sz="780" b="0" i="0">
                <a:solidFill>
                  <a:srgbClr val="2C3E50"/>
                </a:solidFill>
              </a:rPr>
              <a:t>MEP
Sub-contractor</a:t>
            </a:r>
          </a:p>
        </p:txBody>
      </p:sp>
      <p:sp>
        <p:nvSpPr>
          <p:cNvPr id="65" name="Rectangle 64"/>
          <p:cNvSpPr/>
          <p:nvPr/>
        </p:nvSpPr>
        <p:spPr>
          <a:xfrm>
            <a:off x="8577072" y="3337560"/>
            <a:ext cx="132588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31936" y="3383279"/>
            <a:ext cx="1234439" cy="576072"/>
          </a:xfrm>
          <a:prstGeom prst="rect">
            <a:avLst/>
          </a:prstGeom>
          <a:noFill/>
        </p:spPr>
        <p:txBody>
          <a:bodyPr wrap="square">
            <a:spAutoFit/>
          </a:bodyPr>
          <a:lstStyle/>
          <a:p>
            <a:pPr algn="l"/>
            <a:r>
              <a:rPr sz="780" b="0" i="0">
                <a:solidFill>
                  <a:srgbClr val="2C3E50"/>
                </a:solidFill>
              </a:rPr>
              <a:t>7 working
days</a:t>
            </a:r>
          </a:p>
        </p:txBody>
      </p:sp>
      <p:sp>
        <p:nvSpPr>
          <p:cNvPr id="67" name="Rectangle 66"/>
          <p:cNvSpPr/>
          <p:nvPr/>
        </p:nvSpPr>
        <p:spPr>
          <a:xfrm>
            <a:off x="9902951" y="3337560"/>
            <a:ext cx="228600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57815" y="3383279"/>
            <a:ext cx="2194560" cy="576072"/>
          </a:xfrm>
          <a:prstGeom prst="rect">
            <a:avLst/>
          </a:prstGeom>
          <a:noFill/>
        </p:spPr>
        <p:txBody>
          <a:bodyPr wrap="square">
            <a:spAutoFit/>
          </a:bodyPr>
          <a:lstStyle/>
          <a:p>
            <a:pPr algn="l"/>
            <a:r>
              <a:rPr sz="780" b="0" i="0">
                <a:solidFill>
                  <a:srgbClr val="2C3E50"/>
                </a:solidFill>
              </a:rPr>
              <a:t>⚠️ Report Not Submitted</a:t>
            </a:r>
          </a:p>
        </p:txBody>
      </p:sp>
      <p:sp>
        <p:nvSpPr>
          <p:cNvPr id="69" name="Rectangle 68"/>
          <p:cNvSpPr/>
          <p:nvPr/>
        </p:nvSpPr>
        <p:spPr>
          <a:xfrm>
            <a:off x="274320" y="3986783"/>
            <a:ext cx="713232" cy="649224"/>
          </a:xfrm>
          <a:prstGeom prst="rect">
            <a:avLst/>
          </a:prstGeom>
          <a:solidFill>
            <a:srgbClr val="1B4F72"/>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9184" y="4032503"/>
            <a:ext cx="621792" cy="576072"/>
          </a:xfrm>
          <a:prstGeom prst="rect">
            <a:avLst/>
          </a:prstGeom>
          <a:noFill/>
        </p:spPr>
        <p:txBody>
          <a:bodyPr wrap="square">
            <a:spAutoFit/>
          </a:bodyPr>
          <a:lstStyle/>
          <a:p>
            <a:pPr algn="l"/>
            <a:r>
              <a:rPr sz="780" b="1" i="0">
                <a:solidFill>
                  <a:srgbClr val="FFFFFF"/>
                </a:solidFill>
              </a:rPr>
              <a:t>P3 — MEDIUM</a:t>
            </a:r>
          </a:p>
        </p:txBody>
      </p:sp>
      <p:sp>
        <p:nvSpPr>
          <p:cNvPr id="71" name="Rectangle 70"/>
          <p:cNvSpPr/>
          <p:nvPr/>
        </p:nvSpPr>
        <p:spPr>
          <a:xfrm>
            <a:off x="987552" y="3986783"/>
            <a:ext cx="41148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42416" y="4032503"/>
            <a:ext cx="4023360" cy="576072"/>
          </a:xfrm>
          <a:prstGeom prst="rect">
            <a:avLst/>
          </a:prstGeom>
          <a:noFill/>
        </p:spPr>
        <p:txBody>
          <a:bodyPr wrap="square">
            <a:spAutoFit/>
          </a:bodyPr>
          <a:lstStyle/>
          <a:p>
            <a:pPr algn="l"/>
            <a:r>
              <a:rPr sz="780" b="0" i="0">
                <a:solidFill>
                  <a:srgbClr val="2C3E50"/>
                </a:solidFill>
              </a:rPr>
              <a:t>Submit separate Mezzanine/GF MEP clearance height RFI (split from ARC_053 — basements only currently approved)</a:t>
            </a:r>
          </a:p>
        </p:txBody>
      </p:sp>
      <p:sp>
        <p:nvSpPr>
          <p:cNvPr id="73" name="Rectangle 72"/>
          <p:cNvSpPr/>
          <p:nvPr/>
        </p:nvSpPr>
        <p:spPr>
          <a:xfrm>
            <a:off x="5102352" y="3986783"/>
            <a:ext cx="146304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57216" y="4032503"/>
            <a:ext cx="1371600" cy="576072"/>
          </a:xfrm>
          <a:prstGeom prst="rect">
            <a:avLst/>
          </a:prstGeom>
          <a:noFill/>
        </p:spPr>
        <p:txBody>
          <a:bodyPr wrap="square">
            <a:spAutoFit/>
          </a:bodyPr>
          <a:lstStyle/>
          <a:p>
            <a:pPr algn="l"/>
            <a:r>
              <a:rPr sz="780" b="0" i="0">
                <a:solidFill>
                  <a:srgbClr val="2C3E50"/>
                </a:solidFill>
              </a:rPr>
              <a:t>ARC_053</a:t>
            </a:r>
          </a:p>
        </p:txBody>
      </p:sp>
      <p:sp>
        <p:nvSpPr>
          <p:cNvPr id="75" name="Rectangle 74"/>
          <p:cNvSpPr/>
          <p:nvPr/>
        </p:nvSpPr>
        <p:spPr>
          <a:xfrm>
            <a:off x="6565392" y="3986783"/>
            <a:ext cx="20116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620255" y="4032503"/>
            <a:ext cx="1920240" cy="576072"/>
          </a:xfrm>
          <a:prstGeom prst="rect">
            <a:avLst/>
          </a:prstGeom>
          <a:noFill/>
        </p:spPr>
        <p:txBody>
          <a:bodyPr wrap="square">
            <a:spAutoFit/>
          </a:bodyPr>
          <a:lstStyle/>
          <a:p>
            <a:pPr algn="l"/>
            <a:r>
              <a:rPr sz="780" b="0" i="0">
                <a:solidFill>
                  <a:srgbClr val="2C3E50"/>
                </a:solidFill>
              </a:rPr>
              <a:t>MEP
Sub-contractor</a:t>
            </a:r>
          </a:p>
        </p:txBody>
      </p:sp>
      <p:sp>
        <p:nvSpPr>
          <p:cNvPr id="77" name="Rectangle 76"/>
          <p:cNvSpPr/>
          <p:nvPr/>
        </p:nvSpPr>
        <p:spPr>
          <a:xfrm>
            <a:off x="8577072" y="3986783"/>
            <a:ext cx="13258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31936" y="4032503"/>
            <a:ext cx="1234439" cy="576072"/>
          </a:xfrm>
          <a:prstGeom prst="rect">
            <a:avLst/>
          </a:prstGeom>
          <a:noFill/>
        </p:spPr>
        <p:txBody>
          <a:bodyPr wrap="square">
            <a:spAutoFit/>
          </a:bodyPr>
          <a:lstStyle/>
          <a:p>
            <a:pPr algn="l"/>
            <a:r>
              <a:rPr sz="780" b="0" i="0">
                <a:solidFill>
                  <a:srgbClr val="2C3E50"/>
                </a:solidFill>
              </a:rPr>
              <a:t>10 working
days</a:t>
            </a:r>
          </a:p>
        </p:txBody>
      </p:sp>
      <p:sp>
        <p:nvSpPr>
          <p:cNvPr id="79" name="Rectangle 78"/>
          <p:cNvSpPr/>
          <p:nvPr/>
        </p:nvSpPr>
        <p:spPr>
          <a:xfrm>
            <a:off x="9902951" y="3986783"/>
            <a:ext cx="22860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957815" y="4032503"/>
            <a:ext cx="2194560" cy="576072"/>
          </a:xfrm>
          <a:prstGeom prst="rect">
            <a:avLst/>
          </a:prstGeom>
          <a:noFill/>
        </p:spPr>
        <p:txBody>
          <a:bodyPr wrap="square">
            <a:spAutoFit/>
          </a:bodyPr>
          <a:lstStyle/>
          <a:p>
            <a:pPr algn="l"/>
            <a:r>
              <a:rPr sz="780" b="0" i="0">
                <a:solidFill>
                  <a:srgbClr val="2C3E50"/>
                </a:solidFill>
              </a:rPr>
              <a:t>⚠️ RFI Not Yet Submitted</a:t>
            </a:r>
          </a:p>
        </p:txBody>
      </p:sp>
      <p:sp>
        <p:nvSpPr>
          <p:cNvPr id="81" name="Rectangle 80"/>
          <p:cNvSpPr/>
          <p:nvPr/>
        </p:nvSpPr>
        <p:spPr>
          <a:xfrm>
            <a:off x="274320" y="4636007"/>
            <a:ext cx="713232" cy="649224"/>
          </a:xfrm>
          <a:prstGeom prst="rect">
            <a:avLst/>
          </a:prstGeom>
          <a:solidFill>
            <a:srgbClr val="1B4F72"/>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29184" y="4681727"/>
            <a:ext cx="621792" cy="576072"/>
          </a:xfrm>
          <a:prstGeom prst="rect">
            <a:avLst/>
          </a:prstGeom>
          <a:noFill/>
        </p:spPr>
        <p:txBody>
          <a:bodyPr wrap="square">
            <a:spAutoFit/>
          </a:bodyPr>
          <a:lstStyle/>
          <a:p>
            <a:pPr algn="l"/>
            <a:r>
              <a:rPr sz="780" b="1" i="0">
                <a:solidFill>
                  <a:srgbClr val="FFFFFF"/>
                </a:solidFill>
              </a:rPr>
              <a:t>P3 — MEDIUM</a:t>
            </a:r>
          </a:p>
        </p:txBody>
      </p:sp>
      <p:sp>
        <p:nvSpPr>
          <p:cNvPr id="83" name="Rectangle 82"/>
          <p:cNvSpPr/>
          <p:nvPr/>
        </p:nvSpPr>
        <p:spPr>
          <a:xfrm>
            <a:off x="987552" y="4636007"/>
            <a:ext cx="411480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42416" y="4681727"/>
            <a:ext cx="4023360" cy="576072"/>
          </a:xfrm>
          <a:prstGeom prst="rect">
            <a:avLst/>
          </a:prstGeom>
          <a:noFill/>
        </p:spPr>
        <p:txBody>
          <a:bodyPr wrap="square">
            <a:spAutoFit/>
          </a:bodyPr>
          <a:lstStyle/>
          <a:p>
            <a:pPr algn="l"/>
            <a:r>
              <a:rPr sz="780" b="0" i="0">
                <a:solidFill>
                  <a:srgbClr val="2C3E50"/>
                </a:solidFill>
              </a:rPr>
              <a:t>Finalise coordinated floor drain location drawings for 2F–12F; submit for consultant approval</a:t>
            </a:r>
          </a:p>
        </p:txBody>
      </p:sp>
      <p:sp>
        <p:nvSpPr>
          <p:cNvPr id="85" name="Rectangle 84"/>
          <p:cNvSpPr/>
          <p:nvPr/>
        </p:nvSpPr>
        <p:spPr>
          <a:xfrm>
            <a:off x="5102352" y="4636007"/>
            <a:ext cx="146304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157216" y="4681727"/>
            <a:ext cx="1371600" cy="576072"/>
          </a:xfrm>
          <a:prstGeom prst="rect">
            <a:avLst/>
          </a:prstGeom>
          <a:noFill/>
        </p:spPr>
        <p:txBody>
          <a:bodyPr wrap="square">
            <a:spAutoFit/>
          </a:bodyPr>
          <a:lstStyle/>
          <a:p>
            <a:pPr algn="l"/>
            <a:r>
              <a:rPr sz="780" b="0" i="0">
                <a:solidFill>
                  <a:srgbClr val="2C3E50"/>
                </a:solidFill>
              </a:rPr>
              <a:t>GEN_024
GEN_023</a:t>
            </a:r>
          </a:p>
        </p:txBody>
      </p:sp>
      <p:sp>
        <p:nvSpPr>
          <p:cNvPr id="87" name="Rectangle 86"/>
          <p:cNvSpPr/>
          <p:nvPr/>
        </p:nvSpPr>
        <p:spPr>
          <a:xfrm>
            <a:off x="6565392" y="4636007"/>
            <a:ext cx="201168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620255" y="4681727"/>
            <a:ext cx="1920240" cy="576072"/>
          </a:xfrm>
          <a:prstGeom prst="rect">
            <a:avLst/>
          </a:prstGeom>
          <a:noFill/>
        </p:spPr>
        <p:txBody>
          <a:bodyPr wrap="square">
            <a:spAutoFit/>
          </a:bodyPr>
          <a:lstStyle/>
          <a:p>
            <a:pPr algn="l"/>
            <a:r>
              <a:rPr sz="780" b="0" i="0">
                <a:solidFill>
                  <a:srgbClr val="2C3E50"/>
                </a:solidFill>
              </a:rPr>
              <a:t>MEP + Tiling
Coordinator</a:t>
            </a:r>
          </a:p>
        </p:txBody>
      </p:sp>
      <p:sp>
        <p:nvSpPr>
          <p:cNvPr id="89" name="Rectangle 88"/>
          <p:cNvSpPr/>
          <p:nvPr/>
        </p:nvSpPr>
        <p:spPr>
          <a:xfrm>
            <a:off x="8577072" y="4636007"/>
            <a:ext cx="132588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631936" y="4681727"/>
            <a:ext cx="1234439" cy="576072"/>
          </a:xfrm>
          <a:prstGeom prst="rect">
            <a:avLst/>
          </a:prstGeom>
          <a:noFill/>
        </p:spPr>
        <p:txBody>
          <a:bodyPr wrap="square">
            <a:spAutoFit/>
          </a:bodyPr>
          <a:lstStyle/>
          <a:p>
            <a:pPr algn="l"/>
            <a:r>
              <a:rPr sz="780" b="0" i="0">
                <a:solidFill>
                  <a:srgbClr val="2C3E50"/>
                </a:solidFill>
              </a:rPr>
              <a:t>14 working
days</a:t>
            </a:r>
          </a:p>
        </p:txBody>
      </p:sp>
      <p:sp>
        <p:nvSpPr>
          <p:cNvPr id="91" name="Rectangle 90"/>
          <p:cNvSpPr/>
          <p:nvPr/>
        </p:nvSpPr>
        <p:spPr>
          <a:xfrm>
            <a:off x="9902951" y="4636007"/>
            <a:ext cx="2286000" cy="649224"/>
          </a:xfrm>
          <a:prstGeom prst="rect">
            <a:avLst/>
          </a:prstGeom>
          <a:solidFill>
            <a:srgbClr val="F4F6F7"/>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957815" y="4681727"/>
            <a:ext cx="2194560" cy="576072"/>
          </a:xfrm>
          <a:prstGeom prst="rect">
            <a:avLst/>
          </a:prstGeom>
          <a:noFill/>
        </p:spPr>
        <p:txBody>
          <a:bodyPr wrap="square">
            <a:spAutoFit/>
          </a:bodyPr>
          <a:lstStyle/>
          <a:p>
            <a:pPr algn="l"/>
            <a:r>
              <a:rPr sz="780" b="0" i="0">
                <a:solidFill>
                  <a:srgbClr val="2C3E50"/>
                </a:solidFill>
              </a:rPr>
              <a:t>⚠️ Drawings Pending</a:t>
            </a:r>
          </a:p>
        </p:txBody>
      </p:sp>
      <p:sp>
        <p:nvSpPr>
          <p:cNvPr id="93" name="Rectangle 92"/>
          <p:cNvSpPr/>
          <p:nvPr/>
        </p:nvSpPr>
        <p:spPr>
          <a:xfrm>
            <a:off x="274320" y="5285231"/>
            <a:ext cx="713232" cy="649224"/>
          </a:xfrm>
          <a:prstGeom prst="rect">
            <a:avLst/>
          </a:prstGeom>
          <a:solidFill>
            <a:srgbClr val="1E8756"/>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29184" y="5330951"/>
            <a:ext cx="621792" cy="576072"/>
          </a:xfrm>
          <a:prstGeom prst="rect">
            <a:avLst/>
          </a:prstGeom>
          <a:noFill/>
        </p:spPr>
        <p:txBody>
          <a:bodyPr wrap="square">
            <a:spAutoFit/>
          </a:bodyPr>
          <a:lstStyle/>
          <a:p>
            <a:pPr algn="l"/>
            <a:r>
              <a:rPr sz="780" b="1" i="0">
                <a:solidFill>
                  <a:srgbClr val="FFFFFF"/>
                </a:solidFill>
              </a:rPr>
              <a:t>P4 — ROUTINE</a:t>
            </a:r>
          </a:p>
        </p:txBody>
      </p:sp>
      <p:sp>
        <p:nvSpPr>
          <p:cNvPr id="95" name="Rectangle 94"/>
          <p:cNvSpPr/>
          <p:nvPr/>
        </p:nvSpPr>
        <p:spPr>
          <a:xfrm>
            <a:off x="987552" y="5285231"/>
            <a:ext cx="41148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42416" y="5330951"/>
            <a:ext cx="4023360" cy="576072"/>
          </a:xfrm>
          <a:prstGeom prst="rect">
            <a:avLst/>
          </a:prstGeom>
          <a:noFill/>
        </p:spPr>
        <p:txBody>
          <a:bodyPr wrap="square">
            <a:spAutoFit/>
          </a:bodyPr>
          <a:lstStyle/>
          <a:p>
            <a:pPr algn="l"/>
            <a:r>
              <a:rPr sz="780" b="0" i="0">
                <a:solidFill>
                  <a:srgbClr val="2C3E50"/>
                </a:solidFill>
              </a:rPr>
              <a:t>Issue formal ID coordination instructions for all 'NEED TO COORDINATE WITH ID' RFIs — track on weekly register</a:t>
            </a:r>
          </a:p>
        </p:txBody>
      </p:sp>
      <p:sp>
        <p:nvSpPr>
          <p:cNvPr id="97" name="Rectangle 96"/>
          <p:cNvSpPr/>
          <p:nvPr/>
        </p:nvSpPr>
        <p:spPr>
          <a:xfrm>
            <a:off x="5102352" y="5285231"/>
            <a:ext cx="146304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157216" y="5330951"/>
            <a:ext cx="1371600" cy="576072"/>
          </a:xfrm>
          <a:prstGeom prst="rect">
            <a:avLst/>
          </a:prstGeom>
          <a:noFill/>
        </p:spPr>
        <p:txBody>
          <a:bodyPr wrap="square">
            <a:spAutoFit/>
          </a:bodyPr>
          <a:lstStyle/>
          <a:p>
            <a:pPr algn="l"/>
            <a:r>
              <a:rPr sz="780" b="0" i="0">
                <a:solidFill>
                  <a:srgbClr val="2C3E50"/>
                </a:solidFill>
              </a:rPr>
              <a:t>ARC_040
ARC_044
ARC_055
GEN_027</a:t>
            </a:r>
          </a:p>
        </p:txBody>
      </p:sp>
      <p:sp>
        <p:nvSpPr>
          <p:cNvPr id="99" name="Rectangle 98"/>
          <p:cNvSpPr/>
          <p:nvPr/>
        </p:nvSpPr>
        <p:spPr>
          <a:xfrm>
            <a:off x="6565392" y="5285231"/>
            <a:ext cx="20116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620255" y="5330951"/>
            <a:ext cx="1920240" cy="576072"/>
          </a:xfrm>
          <a:prstGeom prst="rect">
            <a:avLst/>
          </a:prstGeom>
          <a:noFill/>
        </p:spPr>
        <p:txBody>
          <a:bodyPr wrap="square">
            <a:spAutoFit/>
          </a:bodyPr>
          <a:lstStyle/>
          <a:p>
            <a:pPr algn="l"/>
            <a:r>
              <a:rPr sz="780" b="0" i="0">
                <a:solidFill>
                  <a:srgbClr val="2C3E50"/>
                </a:solidFill>
              </a:rPr>
              <a:t>Architect /
ID Manager</a:t>
            </a:r>
          </a:p>
        </p:txBody>
      </p:sp>
      <p:sp>
        <p:nvSpPr>
          <p:cNvPr id="101" name="Rectangle 100"/>
          <p:cNvSpPr/>
          <p:nvPr/>
        </p:nvSpPr>
        <p:spPr>
          <a:xfrm>
            <a:off x="8577072" y="5285231"/>
            <a:ext cx="132588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631936" y="5330951"/>
            <a:ext cx="1234439" cy="576072"/>
          </a:xfrm>
          <a:prstGeom prst="rect">
            <a:avLst/>
          </a:prstGeom>
          <a:noFill/>
        </p:spPr>
        <p:txBody>
          <a:bodyPr wrap="square">
            <a:spAutoFit/>
          </a:bodyPr>
          <a:lstStyle/>
          <a:p>
            <a:pPr algn="l"/>
            <a:r>
              <a:rPr sz="780" b="0" i="0">
                <a:solidFill>
                  <a:srgbClr val="2C3E50"/>
                </a:solidFill>
              </a:rPr>
              <a:t>Rolling —
weekly</a:t>
            </a:r>
          </a:p>
        </p:txBody>
      </p:sp>
      <p:sp>
        <p:nvSpPr>
          <p:cNvPr id="103" name="Rectangle 102"/>
          <p:cNvSpPr/>
          <p:nvPr/>
        </p:nvSpPr>
        <p:spPr>
          <a:xfrm>
            <a:off x="9902951" y="5285231"/>
            <a:ext cx="2286000" cy="649224"/>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957815" y="5330951"/>
            <a:ext cx="2194560" cy="576072"/>
          </a:xfrm>
          <a:prstGeom prst="rect">
            <a:avLst/>
          </a:prstGeom>
          <a:noFill/>
        </p:spPr>
        <p:txBody>
          <a:bodyPr wrap="square">
            <a:spAutoFit/>
          </a:bodyPr>
          <a:lstStyle/>
          <a:p>
            <a:pPr algn="l"/>
            <a:r>
              <a:rPr sz="780" b="0" i="0">
                <a:solidFill>
                  <a:srgbClr val="2C3E50"/>
                </a:solidFill>
              </a:rPr>
              <a:t>🟡 Ongoing Coordination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502920"/>
          </a:xfrm>
          <a:prstGeom prst="rect">
            <a:avLst/>
          </a:prstGeom>
          <a:noFill/>
        </p:spPr>
        <p:txBody>
          <a:bodyPr wrap="square">
            <a:spAutoFit/>
          </a:bodyPr>
          <a:lstStyle/>
          <a:p>
            <a:pPr algn="l"/>
            <a:r>
              <a:rPr sz="2400" b="1" i="0">
                <a:solidFill>
                  <a:srgbClr val="FFFFFF"/>
                </a:solidFill>
              </a:rPr>
              <a:t>Key Observations &amp; Strategic Recommendations</a:t>
            </a:r>
          </a:p>
        </p:txBody>
      </p:sp>
      <p:sp>
        <p:nvSpPr>
          <p:cNvPr id="4" name="TextBox 3"/>
          <p:cNvSpPr txBox="1"/>
          <p:nvPr/>
        </p:nvSpPr>
        <p:spPr>
          <a:xfrm>
            <a:off x="320040" y="594360"/>
            <a:ext cx="10058400" cy="347472"/>
          </a:xfrm>
          <a:prstGeom prst="rect">
            <a:avLst/>
          </a:prstGeom>
          <a:noFill/>
        </p:spPr>
        <p:txBody>
          <a:bodyPr wrap="square">
            <a:spAutoFit/>
          </a:bodyPr>
          <a:lstStyle/>
          <a:p>
            <a:pPr algn="l"/>
            <a:r>
              <a:rPr sz="1200" b="0" i="0">
                <a:solidFill>
                  <a:srgbClr val="AED6F1"/>
                </a:solidFill>
              </a:rPr>
              <a:t>Root Causes and Systemic Improvements  |  Project P159</a:t>
            </a:r>
          </a:p>
        </p:txBody>
      </p:sp>
      <p:sp>
        <p:nvSpPr>
          <p:cNvPr id="5" name="Rectangle 4"/>
          <p:cNvSpPr/>
          <p:nvPr/>
        </p:nvSpPr>
        <p:spPr>
          <a:xfrm>
            <a:off x="0" y="6492240"/>
            <a:ext cx="12188952" cy="3657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144000" cy="256032"/>
          </a:xfrm>
          <a:prstGeom prst="rect">
            <a:avLst/>
          </a:prstGeom>
          <a:noFill/>
        </p:spPr>
        <p:txBody>
          <a:bodyPr wrap="square">
            <a:spAutoFit/>
          </a:bodyPr>
          <a:lstStyle/>
          <a:p>
            <a:pPr algn="l"/>
            <a:r>
              <a:rPr sz="900" b="0" i="0">
                <a:solidFill>
                  <a:srgbClr val="FFFFFF"/>
                </a:solidFill>
              </a:rPr>
              <a:t>PROJECT P159  |  RFI EXECUTIVE SUMMARY  |  20 JUNE 2026</a:t>
            </a:r>
          </a:p>
        </p:txBody>
      </p:sp>
      <p:sp>
        <p:nvSpPr>
          <p:cNvPr id="7" name="TextBox 6"/>
          <p:cNvSpPr txBox="1"/>
          <p:nvPr/>
        </p:nvSpPr>
        <p:spPr>
          <a:xfrm>
            <a:off x="10058400" y="6519672"/>
            <a:ext cx="1828800" cy="256032"/>
          </a:xfrm>
          <a:prstGeom prst="rect">
            <a:avLst/>
          </a:prstGeom>
          <a:noFill/>
        </p:spPr>
        <p:txBody>
          <a:bodyPr wrap="square">
            <a:spAutoFit/>
          </a:bodyPr>
          <a:lstStyle/>
          <a:p>
            <a:pPr algn="r"/>
            <a:r>
              <a:rPr sz="900" b="0" i="0">
                <a:solidFill>
                  <a:srgbClr val="FFFFFF"/>
                </a:solidFill>
              </a:rPr>
              <a:t>CONFIDENTIAL</a:t>
            </a:r>
          </a:p>
        </p:txBody>
      </p:sp>
      <p:sp>
        <p:nvSpPr>
          <p:cNvPr id="8" name="Rectangle 7"/>
          <p:cNvSpPr/>
          <p:nvPr/>
        </p:nvSpPr>
        <p:spPr>
          <a:xfrm>
            <a:off x="0" y="1005840"/>
            <a:ext cx="12188952" cy="5468112"/>
          </a:xfrm>
          <a:prstGeom prst="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384048" cy="987552"/>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399032"/>
            <a:ext cx="384048" cy="457200"/>
          </a:xfrm>
          <a:prstGeom prst="rect">
            <a:avLst/>
          </a:prstGeom>
          <a:noFill/>
        </p:spPr>
        <p:txBody>
          <a:bodyPr wrap="square">
            <a:spAutoFit/>
          </a:bodyPr>
          <a:lstStyle/>
          <a:p>
            <a:pPr algn="ctr"/>
            <a:r>
              <a:rPr sz="2200" b="1" i="0">
                <a:solidFill>
                  <a:srgbClr val="FFFFFF"/>
                </a:solidFill>
              </a:rPr>
              <a:t>1</a:t>
            </a:r>
          </a:p>
        </p:txBody>
      </p:sp>
      <p:sp>
        <p:nvSpPr>
          <p:cNvPr id="11" name="Rectangle 10"/>
          <p:cNvSpPr/>
          <p:nvPr/>
        </p:nvSpPr>
        <p:spPr>
          <a:xfrm>
            <a:off x="685800" y="1143000"/>
            <a:ext cx="11228832" cy="987552"/>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143000"/>
            <a:ext cx="11228832" cy="237744"/>
          </a:xfrm>
          <a:prstGeom prst="rect">
            <a:avLst/>
          </a:prstGeom>
          <a:solidFill>
            <a:srgbClr val="EA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1170432"/>
            <a:ext cx="10972800" cy="201168"/>
          </a:xfrm>
          <a:prstGeom prst="rect">
            <a:avLst/>
          </a:prstGeom>
          <a:noFill/>
        </p:spPr>
        <p:txBody>
          <a:bodyPr wrap="square">
            <a:spAutoFit/>
          </a:bodyPr>
          <a:lstStyle/>
          <a:p>
            <a:pPr algn="l"/>
            <a:r>
              <a:rPr sz="950" b="1" i="0">
                <a:solidFill>
                  <a:srgbClr val="2C3E50"/>
                </a:solidFill>
              </a:rPr>
              <a:t>Systemic MEP–Civil Interface Failure</a:t>
            </a:r>
          </a:p>
        </p:txBody>
      </p:sp>
      <p:sp>
        <p:nvSpPr>
          <p:cNvPr id="14" name="TextBox 13"/>
          <p:cNvSpPr txBox="1"/>
          <p:nvPr/>
        </p:nvSpPr>
        <p:spPr>
          <a:xfrm>
            <a:off x="804672" y="1417320"/>
            <a:ext cx="11018520" cy="694944"/>
          </a:xfrm>
          <a:prstGeom prst="rect">
            <a:avLst/>
          </a:prstGeom>
          <a:noFill/>
        </p:spPr>
        <p:txBody>
          <a:bodyPr wrap="square">
            <a:spAutoFit/>
          </a:bodyPr>
          <a:lstStyle/>
          <a:p>
            <a:pPr algn="l"/>
            <a:r>
              <a:rPr sz="850" b="0" i="0">
                <a:solidFill>
                  <a:srgbClr val="2C3E50"/>
                </a:solidFill>
              </a:rPr>
              <a:t>The volume of beam penetration rejections (ARC_056, ARC_057, ARC_058) indicates that MEP shop drawings were not sufficiently coordinated with structural drawings before construction commenced. Recommendation: Conduct a formal BIM/Navisworks clash-detection workshop before proceeding to floors 13F and above to prevent the same pattern repeating.</a:t>
            </a:r>
          </a:p>
        </p:txBody>
      </p:sp>
      <p:sp>
        <p:nvSpPr>
          <p:cNvPr id="15" name="Rectangle 14"/>
          <p:cNvSpPr/>
          <p:nvPr/>
        </p:nvSpPr>
        <p:spPr>
          <a:xfrm>
            <a:off x="274320" y="2167128"/>
            <a:ext cx="384048" cy="987552"/>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423160"/>
            <a:ext cx="384048" cy="457200"/>
          </a:xfrm>
          <a:prstGeom prst="rect">
            <a:avLst/>
          </a:prstGeom>
          <a:noFill/>
        </p:spPr>
        <p:txBody>
          <a:bodyPr wrap="square">
            <a:spAutoFit/>
          </a:bodyPr>
          <a:lstStyle/>
          <a:p>
            <a:pPr algn="ctr"/>
            <a:r>
              <a:rPr sz="2200" b="1" i="0">
                <a:solidFill>
                  <a:srgbClr val="FFFFFF"/>
                </a:solidFill>
              </a:rPr>
              <a:t>2</a:t>
            </a:r>
          </a:p>
        </p:txBody>
      </p:sp>
      <p:sp>
        <p:nvSpPr>
          <p:cNvPr id="17" name="Rectangle 16"/>
          <p:cNvSpPr/>
          <p:nvPr/>
        </p:nvSpPr>
        <p:spPr>
          <a:xfrm>
            <a:off x="685800" y="2167128"/>
            <a:ext cx="11228832" cy="987552"/>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2167128"/>
            <a:ext cx="11228832" cy="237744"/>
          </a:xfrm>
          <a:prstGeom prst="rect">
            <a:avLst/>
          </a:prstGeom>
          <a:solidFill>
            <a:srgbClr val="EA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194560"/>
            <a:ext cx="10972800" cy="201168"/>
          </a:xfrm>
          <a:prstGeom prst="rect">
            <a:avLst/>
          </a:prstGeom>
          <a:noFill/>
        </p:spPr>
        <p:txBody>
          <a:bodyPr wrap="square">
            <a:spAutoFit/>
          </a:bodyPr>
          <a:lstStyle/>
          <a:p>
            <a:pPr algn="l"/>
            <a:r>
              <a:rPr sz="950" b="1" i="0">
                <a:solidFill>
                  <a:srgbClr val="2C3E50"/>
                </a:solidFill>
              </a:rPr>
              <a:t>Open Design Discussions During Construction</a:t>
            </a:r>
          </a:p>
        </p:txBody>
      </p:sp>
      <p:sp>
        <p:nvSpPr>
          <p:cNvPr id="20" name="TextBox 19"/>
          <p:cNvSpPr txBox="1"/>
          <p:nvPr/>
        </p:nvSpPr>
        <p:spPr>
          <a:xfrm>
            <a:off x="804672" y="2441448"/>
            <a:ext cx="11018520" cy="694944"/>
          </a:xfrm>
          <a:prstGeom prst="rect">
            <a:avLst/>
          </a:prstGeom>
          <a:noFill/>
        </p:spPr>
        <p:txBody>
          <a:bodyPr wrap="square">
            <a:spAutoFit/>
          </a:bodyPr>
          <a:lstStyle/>
          <a:p>
            <a:pPr algn="l"/>
            <a:r>
              <a:rPr sz="850" b="0" i="0">
                <a:solidFill>
                  <a:srgbClr val="2C3E50"/>
                </a:solidFill>
              </a:rPr>
              <a:t>RFIs ARC_042 and ARC_054 remain open with no resolution timeline — this is a primary cause of programme overruns in construction. Open design decisions must be formally closed with a consultant instruction within 72 hours of escalation. A weekly 'open design items' register should be maintained by the Design Manager.</a:t>
            </a:r>
          </a:p>
        </p:txBody>
      </p:sp>
      <p:sp>
        <p:nvSpPr>
          <p:cNvPr id="21" name="Rectangle 20"/>
          <p:cNvSpPr/>
          <p:nvPr/>
        </p:nvSpPr>
        <p:spPr>
          <a:xfrm>
            <a:off x="274320" y="3191256"/>
            <a:ext cx="384048" cy="9875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3447288"/>
            <a:ext cx="384048" cy="457200"/>
          </a:xfrm>
          <a:prstGeom prst="rect">
            <a:avLst/>
          </a:prstGeom>
          <a:noFill/>
        </p:spPr>
        <p:txBody>
          <a:bodyPr wrap="square">
            <a:spAutoFit/>
          </a:bodyPr>
          <a:lstStyle/>
          <a:p>
            <a:pPr algn="ctr"/>
            <a:r>
              <a:rPr sz="2200" b="1" i="0">
                <a:solidFill>
                  <a:srgbClr val="FFFFFF"/>
                </a:solidFill>
              </a:rPr>
              <a:t>3</a:t>
            </a:r>
          </a:p>
        </p:txBody>
      </p:sp>
      <p:sp>
        <p:nvSpPr>
          <p:cNvPr id="23" name="Rectangle 22"/>
          <p:cNvSpPr/>
          <p:nvPr/>
        </p:nvSpPr>
        <p:spPr>
          <a:xfrm>
            <a:off x="685800" y="3191256"/>
            <a:ext cx="11228832" cy="987552"/>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191256"/>
            <a:ext cx="11228832" cy="237744"/>
          </a:xfrm>
          <a:prstGeom prst="rect">
            <a:avLst/>
          </a:prstGeom>
          <a:solidFill>
            <a:srgbClr val="EA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218688"/>
            <a:ext cx="10972800" cy="201168"/>
          </a:xfrm>
          <a:prstGeom prst="rect">
            <a:avLst/>
          </a:prstGeom>
          <a:noFill/>
        </p:spPr>
        <p:txBody>
          <a:bodyPr wrap="square">
            <a:spAutoFit/>
          </a:bodyPr>
          <a:lstStyle/>
          <a:p>
            <a:pPr algn="l"/>
            <a:r>
              <a:rPr sz="950" b="1" i="0">
                <a:solidFill>
                  <a:srgbClr val="2C3E50"/>
                </a:solidFill>
              </a:rPr>
              <a:t>Chain-Reference Risk</a:t>
            </a:r>
          </a:p>
        </p:txBody>
      </p:sp>
      <p:sp>
        <p:nvSpPr>
          <p:cNvPr id="26" name="TextBox 25"/>
          <p:cNvSpPr txBox="1"/>
          <p:nvPr/>
        </p:nvSpPr>
        <p:spPr>
          <a:xfrm>
            <a:off x="804672" y="3465576"/>
            <a:ext cx="11018520" cy="694944"/>
          </a:xfrm>
          <a:prstGeom prst="rect">
            <a:avLst/>
          </a:prstGeom>
          <a:noFill/>
        </p:spPr>
        <p:txBody>
          <a:bodyPr wrap="square">
            <a:spAutoFit/>
          </a:bodyPr>
          <a:lstStyle/>
          <a:p>
            <a:pPr algn="l"/>
            <a:r>
              <a:rPr sz="850" b="0" i="0">
                <a:solidFill>
                  <a:srgbClr val="2C3E50"/>
                </a:solidFill>
              </a:rPr>
              <a:t>Several RFIs close by referencing earlier RFIs (ARC_055 → ARC_040; ARC_065 → GEN_026) without standalone resolution. An error in the base RFI propagates to all referencing floors. All cross-referenced solutions must be formally verified as applicable before acceptance, not assumed equivalent.</a:t>
            </a:r>
          </a:p>
        </p:txBody>
      </p:sp>
      <p:sp>
        <p:nvSpPr>
          <p:cNvPr id="27" name="Rectangle 26"/>
          <p:cNvSpPr/>
          <p:nvPr/>
        </p:nvSpPr>
        <p:spPr>
          <a:xfrm>
            <a:off x="274320" y="4215384"/>
            <a:ext cx="384048" cy="9875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471416"/>
            <a:ext cx="384048" cy="457200"/>
          </a:xfrm>
          <a:prstGeom prst="rect">
            <a:avLst/>
          </a:prstGeom>
          <a:noFill/>
        </p:spPr>
        <p:txBody>
          <a:bodyPr wrap="square">
            <a:spAutoFit/>
          </a:bodyPr>
          <a:lstStyle/>
          <a:p>
            <a:pPr algn="ctr"/>
            <a:r>
              <a:rPr sz="2200" b="1" i="0">
                <a:solidFill>
                  <a:srgbClr val="FFFFFF"/>
                </a:solidFill>
              </a:rPr>
              <a:t>4</a:t>
            </a:r>
          </a:p>
        </p:txBody>
      </p:sp>
      <p:sp>
        <p:nvSpPr>
          <p:cNvPr id="29" name="Rectangle 28"/>
          <p:cNvSpPr/>
          <p:nvPr/>
        </p:nvSpPr>
        <p:spPr>
          <a:xfrm>
            <a:off x="685800" y="4215384"/>
            <a:ext cx="11228832" cy="987552"/>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215384"/>
            <a:ext cx="11228832" cy="237744"/>
          </a:xfrm>
          <a:prstGeom prst="rect">
            <a:avLst/>
          </a:prstGeom>
          <a:solidFill>
            <a:srgbClr val="EA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242816"/>
            <a:ext cx="10972800" cy="201168"/>
          </a:xfrm>
          <a:prstGeom prst="rect">
            <a:avLst/>
          </a:prstGeom>
          <a:noFill/>
        </p:spPr>
        <p:txBody>
          <a:bodyPr wrap="square">
            <a:spAutoFit/>
          </a:bodyPr>
          <a:lstStyle/>
          <a:p>
            <a:pPr algn="l"/>
            <a:r>
              <a:rPr sz="950" b="1" i="0">
                <a:solidFill>
                  <a:srgbClr val="2C3E50"/>
                </a:solidFill>
              </a:rPr>
              <a:t>ID Coordination as a Blocking Factor</a:t>
            </a:r>
          </a:p>
        </p:txBody>
      </p:sp>
      <p:sp>
        <p:nvSpPr>
          <p:cNvPr id="32" name="TextBox 31"/>
          <p:cNvSpPr txBox="1"/>
          <p:nvPr/>
        </p:nvSpPr>
        <p:spPr>
          <a:xfrm>
            <a:off x="804672" y="4489704"/>
            <a:ext cx="11018520" cy="694944"/>
          </a:xfrm>
          <a:prstGeom prst="rect">
            <a:avLst/>
          </a:prstGeom>
          <a:noFill/>
        </p:spPr>
        <p:txBody>
          <a:bodyPr wrap="square">
            <a:spAutoFit/>
          </a:bodyPr>
          <a:lstStyle/>
          <a:p>
            <a:pPr algn="l"/>
            <a:r>
              <a:rPr sz="850" b="0" i="0">
                <a:solidFill>
                  <a:srgbClr val="2C3E50"/>
                </a:solidFill>
              </a:rPr>
              <a:t>"NEED TO COORDINATE WITH ID" appears in 14 of 27 RFIs (52%). Interior design approval is a prerequisite for MEP finalisation on every floor. A dedicated MEP–ID Weekly Coordination Register must be established immediately, with a named coordinator accountable for tracking each item to closure.</a:t>
            </a:r>
          </a:p>
        </p:txBody>
      </p:sp>
      <p:sp>
        <p:nvSpPr>
          <p:cNvPr id="33" name="Rectangle 32"/>
          <p:cNvSpPr/>
          <p:nvPr/>
        </p:nvSpPr>
        <p:spPr>
          <a:xfrm>
            <a:off x="274320" y="5239512"/>
            <a:ext cx="384048" cy="987552"/>
          </a:xfrm>
          <a:prstGeom prst="rect">
            <a:avLst/>
          </a:prstGeom>
          <a:solidFill>
            <a:srgbClr val="1E8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5495544"/>
            <a:ext cx="384048" cy="457200"/>
          </a:xfrm>
          <a:prstGeom prst="rect">
            <a:avLst/>
          </a:prstGeom>
          <a:noFill/>
        </p:spPr>
        <p:txBody>
          <a:bodyPr wrap="square">
            <a:spAutoFit/>
          </a:bodyPr>
          <a:lstStyle/>
          <a:p>
            <a:pPr algn="ctr"/>
            <a:r>
              <a:rPr sz="2200" b="1" i="0">
                <a:solidFill>
                  <a:srgbClr val="FFFFFF"/>
                </a:solidFill>
              </a:rPr>
              <a:t>5</a:t>
            </a:r>
          </a:p>
        </p:txBody>
      </p:sp>
      <p:sp>
        <p:nvSpPr>
          <p:cNvPr id="35" name="Rectangle 34"/>
          <p:cNvSpPr/>
          <p:nvPr/>
        </p:nvSpPr>
        <p:spPr>
          <a:xfrm>
            <a:off x="685800" y="5239512"/>
            <a:ext cx="11228832" cy="987552"/>
          </a:xfrm>
          <a:prstGeom prst="rect">
            <a:avLst/>
          </a:prstGeom>
          <a:solidFill>
            <a:srgbClr val="FFFFFF"/>
          </a:solidFill>
          <a:ln w="6350">
            <a:solidFill>
              <a:srgbClr val="D5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 y="5239512"/>
            <a:ext cx="11228832" cy="237744"/>
          </a:xfrm>
          <a:prstGeom prst="rect">
            <a:avLst/>
          </a:prstGeom>
          <a:solidFill>
            <a:srgbClr val="EA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66944"/>
            <a:ext cx="10972800" cy="201168"/>
          </a:xfrm>
          <a:prstGeom prst="rect">
            <a:avLst/>
          </a:prstGeom>
          <a:noFill/>
        </p:spPr>
        <p:txBody>
          <a:bodyPr wrap="square">
            <a:spAutoFit/>
          </a:bodyPr>
          <a:lstStyle/>
          <a:p>
            <a:pPr algn="l"/>
            <a:r>
              <a:rPr sz="950" b="1" i="0">
                <a:solidFill>
                  <a:srgbClr val="2C3E50"/>
                </a:solidFill>
              </a:rPr>
              <a:t>DM Submission at Risk</a:t>
            </a:r>
          </a:p>
        </p:txBody>
      </p:sp>
      <p:sp>
        <p:nvSpPr>
          <p:cNvPr id="38" name="TextBox 37"/>
          <p:cNvSpPr txBox="1"/>
          <p:nvPr/>
        </p:nvSpPr>
        <p:spPr>
          <a:xfrm>
            <a:off x="804672" y="5513832"/>
            <a:ext cx="11018520" cy="694944"/>
          </a:xfrm>
          <a:prstGeom prst="rect">
            <a:avLst/>
          </a:prstGeom>
          <a:noFill/>
        </p:spPr>
        <p:txBody>
          <a:bodyPr wrap="square">
            <a:spAutoFit/>
          </a:bodyPr>
          <a:lstStyle/>
          <a:p>
            <a:pPr algn="l"/>
            <a:r>
              <a:rPr sz="850" b="0" i="0">
                <a:solidFill>
                  <a:srgbClr val="2C3E50"/>
                </a:solidFill>
              </a:rPr>
              <a:t>RFI ARC_059 explicitly requires that sleeve locations and reinforcement be reflected in PT (Post-Tensioned) drawings PRIOR to DM submission. Any delay resolving structural sleeve positions will hold the DM approval cycle for the entire floor plate — a regulatory risk with potential project-wide programme implications.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88952" cy="73152"/>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62272"/>
            <a:ext cx="12188952" cy="239572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0"/>
            <a:ext cx="10515600" cy="548640"/>
          </a:xfrm>
          <a:prstGeom prst="rect">
            <a:avLst/>
          </a:prstGeom>
          <a:noFill/>
        </p:spPr>
        <p:txBody>
          <a:bodyPr wrap="square">
            <a:spAutoFit/>
          </a:bodyPr>
          <a:lstStyle/>
          <a:p>
            <a:pPr algn="ctr"/>
            <a:r>
              <a:rPr sz="1400" b="1" i="0">
                <a:solidFill>
                  <a:srgbClr val="AED6F1"/>
                </a:solidFill>
              </a:rPr>
              <a:t>SUMMARY</a:t>
            </a:r>
          </a:p>
        </p:txBody>
      </p:sp>
      <p:sp>
        <p:nvSpPr>
          <p:cNvPr id="6" name="TextBox 5"/>
          <p:cNvSpPr txBox="1"/>
          <p:nvPr/>
        </p:nvSpPr>
        <p:spPr>
          <a:xfrm>
            <a:off x="731520" y="1417320"/>
            <a:ext cx="10515600" cy="640080"/>
          </a:xfrm>
          <a:prstGeom prst="rect">
            <a:avLst/>
          </a:prstGeom>
          <a:noFill/>
        </p:spPr>
        <p:txBody>
          <a:bodyPr wrap="square">
            <a:spAutoFit/>
          </a:bodyPr>
          <a:lstStyle/>
          <a:p>
            <a:pPr algn="ctr"/>
            <a:r>
              <a:rPr sz="2800" b="1" i="0">
                <a:solidFill>
                  <a:srgbClr val="FFFFFF"/>
                </a:solidFill>
              </a:rPr>
              <a:t>Three RFIs Demand Immediate Escalation</a:t>
            </a:r>
          </a:p>
        </p:txBody>
      </p:sp>
      <p:sp>
        <p:nvSpPr>
          <p:cNvPr id="7" name="Rectangle 6"/>
          <p:cNvSpPr/>
          <p:nvPr/>
        </p:nvSpPr>
        <p:spPr>
          <a:xfrm>
            <a:off x="1371600" y="2331720"/>
            <a:ext cx="9445752" cy="475488"/>
          </a:xfrm>
          <a:prstGeom prst="rect">
            <a:avLst/>
          </a:prstGeom>
          <a:solidFill>
            <a:srgbClr val="173B6B"/>
          </a:solidFill>
          <a:ln w="19050">
            <a:solidFill>
              <a:srgbClr val="E8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404872"/>
            <a:ext cx="2011680" cy="347472"/>
          </a:xfrm>
          <a:prstGeom prst="rect">
            <a:avLst/>
          </a:prstGeom>
          <a:noFill/>
        </p:spPr>
        <p:txBody>
          <a:bodyPr wrap="square">
            <a:spAutoFit/>
          </a:bodyPr>
          <a:lstStyle/>
          <a:p>
            <a:pPr algn="l"/>
            <a:r>
              <a:rPr sz="1000" b="1" i="0">
                <a:solidFill>
                  <a:srgbClr val="E84C3C"/>
                </a:solidFill>
              </a:rPr>
              <a:t>ARC_042 + ARC_054</a:t>
            </a:r>
          </a:p>
        </p:txBody>
      </p:sp>
      <p:sp>
        <p:nvSpPr>
          <p:cNvPr id="9" name="TextBox 8"/>
          <p:cNvSpPr txBox="1"/>
          <p:nvPr/>
        </p:nvSpPr>
        <p:spPr>
          <a:xfrm>
            <a:off x="3611880" y="2404872"/>
            <a:ext cx="7040880" cy="347472"/>
          </a:xfrm>
          <a:prstGeom prst="rect">
            <a:avLst/>
          </a:prstGeom>
          <a:noFill/>
        </p:spPr>
        <p:txBody>
          <a:bodyPr wrap="square">
            <a:spAutoFit/>
          </a:bodyPr>
          <a:lstStyle/>
          <a:p>
            <a:pPr algn="l"/>
            <a:r>
              <a:rPr sz="1000" b="0" i="0">
                <a:solidFill>
                  <a:srgbClr val="FFFFFF"/>
                </a:solidFill>
              </a:rPr>
              <a:t>Beam shift + shaft enlargement — 4 floors blocked — design instruction required within 3 days</a:t>
            </a:r>
          </a:p>
        </p:txBody>
      </p:sp>
      <p:sp>
        <p:nvSpPr>
          <p:cNvPr id="10" name="Rectangle 9"/>
          <p:cNvSpPr/>
          <p:nvPr/>
        </p:nvSpPr>
        <p:spPr>
          <a:xfrm>
            <a:off x="1371600" y="2898648"/>
            <a:ext cx="9445752" cy="475488"/>
          </a:xfrm>
          <a:prstGeom prst="rect">
            <a:avLst/>
          </a:prstGeom>
          <a:solidFill>
            <a:srgbClr val="173B6B"/>
          </a:solidFill>
          <a:ln w="19050">
            <a:solidFill>
              <a:srgbClr val="E8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2971800"/>
            <a:ext cx="2011680" cy="347472"/>
          </a:xfrm>
          <a:prstGeom prst="rect">
            <a:avLst/>
          </a:prstGeom>
          <a:noFill/>
        </p:spPr>
        <p:txBody>
          <a:bodyPr wrap="square">
            <a:spAutoFit/>
          </a:bodyPr>
          <a:lstStyle/>
          <a:p>
            <a:pPr algn="l"/>
            <a:r>
              <a:rPr sz="1000" b="1" i="0">
                <a:solidFill>
                  <a:srgbClr val="E84C3C"/>
                </a:solidFill>
              </a:rPr>
              <a:t>ARC_056</a:t>
            </a:r>
          </a:p>
        </p:txBody>
      </p:sp>
      <p:sp>
        <p:nvSpPr>
          <p:cNvPr id="12" name="TextBox 11"/>
          <p:cNvSpPr txBox="1"/>
          <p:nvPr/>
        </p:nvSpPr>
        <p:spPr>
          <a:xfrm>
            <a:off x="3611880" y="2971800"/>
            <a:ext cx="7040880" cy="347472"/>
          </a:xfrm>
          <a:prstGeom prst="rect">
            <a:avLst/>
          </a:prstGeom>
          <a:noFill/>
        </p:spPr>
        <p:txBody>
          <a:bodyPr wrap="square">
            <a:spAutoFit/>
          </a:bodyPr>
          <a:lstStyle/>
          <a:p>
            <a:pPr algn="l"/>
            <a:r>
              <a:rPr sz="1000" b="0" i="0">
                <a:solidFill>
                  <a:srgbClr val="FFFFFF"/>
                </a:solidFill>
              </a:rPr>
              <a:t>Beam penetration formally rejected — re-submit with correct sleeve detail within 7 days</a:t>
            </a:r>
          </a:p>
        </p:txBody>
      </p:sp>
      <p:sp>
        <p:nvSpPr>
          <p:cNvPr id="13" name="Rectangle 12"/>
          <p:cNvSpPr/>
          <p:nvPr/>
        </p:nvSpPr>
        <p:spPr>
          <a:xfrm>
            <a:off x="1371600" y="3465576"/>
            <a:ext cx="9445752" cy="475488"/>
          </a:xfrm>
          <a:prstGeom prst="rect">
            <a:avLst/>
          </a:prstGeom>
          <a:solidFill>
            <a:srgbClr val="173B6B"/>
          </a:solidFill>
          <a:ln w="19050">
            <a:solidFill>
              <a:srgbClr val="E8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3538728"/>
            <a:ext cx="2011680" cy="347472"/>
          </a:xfrm>
          <a:prstGeom prst="rect">
            <a:avLst/>
          </a:prstGeom>
          <a:noFill/>
        </p:spPr>
        <p:txBody>
          <a:bodyPr wrap="square">
            <a:spAutoFit/>
          </a:bodyPr>
          <a:lstStyle/>
          <a:p>
            <a:pPr algn="l"/>
            <a:r>
              <a:rPr sz="1000" b="1" i="0">
                <a:solidFill>
                  <a:srgbClr val="E84C3C"/>
                </a:solidFill>
              </a:rPr>
              <a:t>ARC_058</a:t>
            </a:r>
          </a:p>
        </p:txBody>
      </p:sp>
      <p:sp>
        <p:nvSpPr>
          <p:cNvPr id="15" name="TextBox 14"/>
          <p:cNvSpPr txBox="1"/>
          <p:nvPr/>
        </p:nvSpPr>
        <p:spPr>
          <a:xfrm>
            <a:off x="3611880" y="3538728"/>
            <a:ext cx="7040880" cy="347472"/>
          </a:xfrm>
          <a:prstGeom prst="rect">
            <a:avLst/>
          </a:prstGeom>
          <a:noFill/>
        </p:spPr>
        <p:txBody>
          <a:bodyPr wrap="square">
            <a:spAutoFit/>
          </a:bodyPr>
          <a:lstStyle/>
          <a:p>
            <a:pPr algn="l"/>
            <a:r>
              <a:rPr sz="1000" b="0" i="0">
                <a:solidFill>
                  <a:srgbClr val="FFFFFF"/>
                </a:solidFill>
              </a:rPr>
              <a:t>Drop panel sleeves — 4-party document package — convene coordination meeting within 5 days</a:t>
            </a:r>
          </a:p>
        </p:txBody>
      </p:sp>
      <p:sp>
        <p:nvSpPr>
          <p:cNvPr id="16" name="TextBox 15"/>
          <p:cNvSpPr txBox="1"/>
          <p:nvPr/>
        </p:nvSpPr>
        <p:spPr>
          <a:xfrm>
            <a:off x="731520" y="4754880"/>
            <a:ext cx="10515600" cy="347472"/>
          </a:xfrm>
          <a:prstGeom prst="rect">
            <a:avLst/>
          </a:prstGeom>
          <a:noFill/>
        </p:spPr>
        <p:txBody>
          <a:bodyPr wrap="square">
            <a:spAutoFit/>
          </a:bodyPr>
          <a:lstStyle/>
          <a:p>
            <a:pPr algn="ctr"/>
            <a:r>
              <a:rPr sz="1100" b="0" i="0">
                <a:solidFill>
                  <a:srgbClr val="D5DBDB"/>
                </a:solidFill>
              </a:rPr>
              <a:t>Project P159  |  RFI Executive Summary  |  20 June 2026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